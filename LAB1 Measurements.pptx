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6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milla Hedvig Halvorsen Myklebust" initials="KHHM" lastIdx="1" clrIdx="0">
    <p:extLst>
      <p:ext uri="{19B8F6BF-5375-455C-9EA6-DF929625EA0E}">
        <p15:presenceInfo xmlns:p15="http://schemas.microsoft.com/office/powerpoint/2012/main" userId="S-1-5-21-2654736681-1321197463-3984530894-57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E8EF"/>
    <a:srgbClr val="6D243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ys stil 2 – utheving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779"/>
    <p:restoredTop sz="64752" autoAdjust="0"/>
  </p:normalViewPr>
  <p:slideViewPr>
    <p:cSldViewPr snapToGrid="0">
      <p:cViewPr varScale="1">
        <p:scale>
          <a:sx n="97" d="100"/>
          <a:sy n="97" d="100"/>
        </p:scale>
        <p:origin x="84" y="360"/>
      </p:cViewPr>
      <p:guideLst>
        <p:guide orient="horz" pos="2160"/>
        <p:guide pos="3840"/>
      </p:guideLst>
    </p:cSldViewPr>
  </p:slideViewPr>
  <p:notesTextViewPr>
    <p:cViewPr>
      <p:scale>
        <a:sx n="1" d="1"/>
        <a:sy n="1" d="1"/>
      </p:scale>
      <p:origin x="0" y="0"/>
    </p:cViewPr>
  </p:notesTextViewPr>
  <p:sorterViewPr>
    <p:cViewPr>
      <p:scale>
        <a:sx n="110" d="100"/>
        <a:sy n="11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r>
              <a:rPr lang="nb-NO"/>
              <a:t>03.07.2018</a:t>
            </a:r>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a:t>Klikk for å redigere tekststiler i malen</a:t>
            </a:r>
          </a:p>
          <a:p>
            <a:pPr lvl="1" rtl="0"/>
            <a:r>
              <a:rPr lang="en-GB"/>
              <a:t>Andre nivå</a:t>
            </a:r>
          </a:p>
          <a:p>
            <a:pPr lvl="2" rtl="0"/>
            <a:r>
              <a:rPr lang="en-GB"/>
              <a:t>Tredje nivå</a:t>
            </a:r>
          </a:p>
          <a:p>
            <a:pPr lvl="3" rtl="0"/>
            <a:r>
              <a:rPr lang="en-GB"/>
              <a:t>Fjerde nivå</a:t>
            </a:r>
          </a:p>
          <a:p>
            <a:pPr lvl="4" rtl="0"/>
            <a:r>
              <a:rPr lang="en-GB"/>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8B4BF77-11FD-8E4D-B223-FC6B75E0C356}" type="slidenum">
              <a:rPr lang="nb-NO" smtClean="0"/>
              <a:t>‹#›</a:t>
            </a:fld>
            <a:endParaRPr lang="nb-NO"/>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orside lys - stående bilde">
    <p:bg>
      <p:bgRef idx="1001">
        <a:schemeClr val="bg1"/>
      </p:bgRef>
    </p:bg>
    <p:spTree>
      <p:nvGrpSpPr>
        <p:cNvPr id="1" name=""/>
        <p:cNvGrpSpPr/>
        <p:nvPr/>
      </p:nvGrpSpPr>
      <p:grpSpPr>
        <a:xfrm>
          <a:off x="0" y="0"/>
          <a:ext cx="0" cy="0"/>
          <a:chOff x="0" y="0"/>
          <a:chExt cx="0" cy="0"/>
        </a:xfrm>
      </p:grpSpPr>
      <p:sp>
        <p:nvSpPr>
          <p:cNvPr id="2" name="Tittel 1"/>
          <p:cNvSpPr>
            <a:spLocks noGrp="1"/>
          </p:cNvSpPr>
          <p:nvPr>
            <p:ph type="ctrTitle"/>
          </p:nvPr>
        </p:nvSpPr>
        <p:spPr>
          <a:xfrm>
            <a:off x="1619511" y="2054942"/>
            <a:ext cx="5040000" cy="1258529"/>
          </a:xfrm>
        </p:spPr>
        <p:txBody>
          <a:bodyPr lIns="0" tIns="0" rIns="0" bIns="0" rtlCol="0" anchor="b">
            <a:normAutofit/>
          </a:bodyPr>
          <a:lstStyle>
            <a:lvl1pPr algn="l">
              <a:lnSpc>
                <a:spcPct val="100000"/>
              </a:lnSpc>
              <a:defRPr sz="2800" b="0">
                <a:solidFill>
                  <a:schemeClr val="tx2"/>
                </a:solidFill>
              </a:defRPr>
            </a:lvl1pPr>
          </a:lstStyle>
          <a:p>
            <a:pPr rtl="0"/>
            <a:r>
              <a:rPr lang="en-GB"/>
              <a:t>Klikk for å redigere tittelstil</a:t>
            </a:r>
          </a:p>
        </p:txBody>
      </p:sp>
      <p:sp>
        <p:nvSpPr>
          <p:cNvPr id="3" name="Undertittel 2"/>
          <p:cNvSpPr>
            <a:spLocks noGrp="1"/>
          </p:cNvSpPr>
          <p:nvPr>
            <p:ph type="subTitle" idx="1"/>
          </p:nvPr>
        </p:nvSpPr>
        <p:spPr>
          <a:xfrm>
            <a:off x="1619512" y="3718184"/>
            <a:ext cx="5040000" cy="1050462"/>
          </a:xfrm>
        </p:spPr>
        <p:txBody>
          <a:bodyPr lIns="0" tIns="0" rIns="0" bIns="0" rtlCol="0">
            <a:normAutofit/>
          </a:bodyPr>
          <a:lstStyle>
            <a:lvl1pPr marL="0" indent="0" algn="l">
              <a:buNone/>
              <a:defRPr sz="22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a:t>Klikk for å redigere undertittelstil i malen</a:t>
            </a:r>
          </a:p>
        </p:txBody>
      </p:sp>
      <p:pic>
        <p:nvPicPr>
          <p:cNvPr id="7" name="Bilde 6"/>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78139" y="553771"/>
            <a:ext cx="3113909" cy="810000"/>
          </a:xfrm>
          <a:prstGeom prst="rect">
            <a:avLst/>
          </a:prstGeom>
        </p:spPr>
      </p:pic>
      <p:sp>
        <p:nvSpPr>
          <p:cNvPr id="13" name="Plassholder for tekst 2"/>
          <p:cNvSpPr>
            <a:spLocks noGrp="1"/>
          </p:cNvSpPr>
          <p:nvPr>
            <p:ph type="body" idx="10"/>
          </p:nvPr>
        </p:nvSpPr>
        <p:spPr>
          <a:xfrm>
            <a:off x="1619512" y="5596146"/>
            <a:ext cx="5040000" cy="908050"/>
          </a:xfrm>
        </p:spPr>
        <p:txBody>
          <a:bodyPr lIns="0" tIns="0" rIns="0" bIns="0" rtlCol="0">
            <a:normAutofit/>
          </a:bodyPr>
          <a:lstStyle>
            <a:lvl1pPr marL="0" indent="0">
              <a:lnSpc>
                <a:spcPct val="100000"/>
              </a:lnSpc>
              <a:spcBef>
                <a:spcPts val="0"/>
              </a:spcBef>
              <a:buNone/>
              <a:defRPr sz="1500" b="0" i="0">
                <a:solidFill>
                  <a:schemeClr val="accent3"/>
                </a:solidFill>
                <a:latin typeface="Georgia" charset="0"/>
                <a:ea typeface="Georgia" charset="0"/>
                <a:cs typeface="Georgia"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Rediger tekststiler i malen</a:t>
            </a:r>
          </a:p>
        </p:txBody>
      </p:sp>
      <p:cxnSp>
        <p:nvCxnSpPr>
          <p:cNvPr id="5" name="Rett linje 4"/>
          <p:cNvCxnSpPr/>
          <p:nvPr userDrawn="1"/>
        </p:nvCxnSpPr>
        <p:spPr>
          <a:xfrm>
            <a:off x="1619512" y="5433342"/>
            <a:ext cx="421939"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Plassholder for bilde 8"/>
          <p:cNvSpPr>
            <a:spLocks noGrp="1"/>
          </p:cNvSpPr>
          <p:nvPr>
            <p:ph type="pic" sz="quarter" idx="11"/>
          </p:nvPr>
        </p:nvSpPr>
        <p:spPr>
          <a:xfrm>
            <a:off x="7152000" y="0"/>
            <a:ext cx="5040000" cy="6858000"/>
          </a:xfrm>
        </p:spPr>
        <p:txBody>
          <a:bodyPr rtlCol="0"/>
          <a:lstStyle>
            <a:lvl1pPr marL="0" indent="0">
              <a:buNone/>
              <a:defRPr/>
            </a:lvl1pPr>
          </a:lstStyle>
          <a:p>
            <a:pPr rtl="0"/>
            <a:r>
              <a:rPr lang="en-GB"/>
              <a:t>Klikk ikonet for å legge til et bilde</a:t>
            </a:r>
          </a:p>
        </p:txBody>
      </p:sp>
    </p:spTree>
    <p:extLst>
      <p:ext uri="{BB962C8B-B14F-4D97-AF65-F5344CB8AC3E}">
        <p14:creationId xmlns:p14="http://schemas.microsoft.com/office/powerpoint/2010/main" val="201622366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lys - to liggende bilder">
    <p:bg>
      <p:bgRef idx="1001">
        <a:schemeClr val="bg1"/>
      </p:bgRef>
    </p:bg>
    <p:spTree>
      <p:nvGrpSpPr>
        <p:cNvPr id="1" name=""/>
        <p:cNvGrpSpPr/>
        <p:nvPr/>
      </p:nvGrpSpPr>
      <p:grpSpPr>
        <a:xfrm>
          <a:off x="0" y="0"/>
          <a:ext cx="0" cy="0"/>
          <a:chOff x="0" y="0"/>
          <a:chExt cx="0" cy="0"/>
        </a:xfrm>
      </p:grpSpPr>
      <p:sp>
        <p:nvSpPr>
          <p:cNvPr id="2" name="Tittel 1"/>
          <p:cNvSpPr>
            <a:spLocks noGrp="1"/>
          </p:cNvSpPr>
          <p:nvPr>
            <p:ph type="ctrTitle"/>
          </p:nvPr>
        </p:nvSpPr>
        <p:spPr>
          <a:xfrm>
            <a:off x="1619511" y="2054942"/>
            <a:ext cx="5040000" cy="1258529"/>
          </a:xfrm>
        </p:spPr>
        <p:txBody>
          <a:bodyPr lIns="0" tIns="0" rIns="0" bIns="0" rtlCol="0" anchor="b">
            <a:normAutofit/>
          </a:bodyPr>
          <a:lstStyle>
            <a:lvl1pPr algn="l">
              <a:lnSpc>
                <a:spcPct val="100000"/>
              </a:lnSpc>
              <a:defRPr sz="2800" b="0">
                <a:solidFill>
                  <a:schemeClr val="tx2"/>
                </a:solidFill>
              </a:defRPr>
            </a:lvl1pPr>
          </a:lstStyle>
          <a:p>
            <a:pPr rtl="0"/>
            <a:r>
              <a:rPr lang="en-GB"/>
              <a:t>Klikk for å redigere tittelstil</a:t>
            </a:r>
          </a:p>
        </p:txBody>
      </p:sp>
      <p:sp>
        <p:nvSpPr>
          <p:cNvPr id="3" name="Undertittel 2"/>
          <p:cNvSpPr>
            <a:spLocks noGrp="1"/>
          </p:cNvSpPr>
          <p:nvPr>
            <p:ph type="subTitle" idx="1"/>
          </p:nvPr>
        </p:nvSpPr>
        <p:spPr>
          <a:xfrm>
            <a:off x="1619512" y="3718184"/>
            <a:ext cx="5040000" cy="1050462"/>
          </a:xfrm>
        </p:spPr>
        <p:txBody>
          <a:bodyPr lIns="0" tIns="0" rIns="0" bIns="0" rtlCol="0">
            <a:normAutofit/>
          </a:bodyPr>
          <a:lstStyle>
            <a:lvl1pPr marL="0" indent="0" algn="l">
              <a:buNone/>
              <a:defRPr sz="22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a:t>Klikk for å redigere undertittelstil i malen</a:t>
            </a:r>
          </a:p>
        </p:txBody>
      </p:sp>
      <p:pic>
        <p:nvPicPr>
          <p:cNvPr id="7" name="Bilde 6"/>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78139" y="553771"/>
            <a:ext cx="3113909" cy="810000"/>
          </a:xfrm>
          <a:prstGeom prst="rect">
            <a:avLst/>
          </a:prstGeom>
        </p:spPr>
      </p:pic>
      <p:sp>
        <p:nvSpPr>
          <p:cNvPr id="13" name="Plassholder for tekst 2"/>
          <p:cNvSpPr>
            <a:spLocks noGrp="1"/>
          </p:cNvSpPr>
          <p:nvPr>
            <p:ph type="body" idx="10"/>
          </p:nvPr>
        </p:nvSpPr>
        <p:spPr>
          <a:xfrm>
            <a:off x="1619512" y="5596146"/>
            <a:ext cx="5040000" cy="908050"/>
          </a:xfrm>
        </p:spPr>
        <p:txBody>
          <a:bodyPr lIns="0" tIns="0" rIns="0" bIns="0" rtlCol="0">
            <a:normAutofit/>
          </a:bodyPr>
          <a:lstStyle>
            <a:lvl1pPr marL="0" indent="0">
              <a:lnSpc>
                <a:spcPct val="100000"/>
              </a:lnSpc>
              <a:spcBef>
                <a:spcPts val="0"/>
              </a:spcBef>
              <a:buNone/>
              <a:defRPr sz="1500" b="0" i="0">
                <a:solidFill>
                  <a:schemeClr val="accent3"/>
                </a:solidFill>
                <a:latin typeface="Georgia" charset="0"/>
                <a:ea typeface="Georgia" charset="0"/>
                <a:cs typeface="Georgia"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Rediger tekststiler i malen</a:t>
            </a:r>
          </a:p>
        </p:txBody>
      </p:sp>
      <p:cxnSp>
        <p:nvCxnSpPr>
          <p:cNvPr id="5" name="Rett linje 4"/>
          <p:cNvCxnSpPr/>
          <p:nvPr userDrawn="1"/>
        </p:nvCxnSpPr>
        <p:spPr>
          <a:xfrm>
            <a:off x="1619512" y="5433342"/>
            <a:ext cx="421939"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Plassholder for bilde 8"/>
          <p:cNvSpPr>
            <a:spLocks noGrp="1"/>
          </p:cNvSpPr>
          <p:nvPr>
            <p:ph type="pic" sz="quarter" idx="11"/>
          </p:nvPr>
        </p:nvSpPr>
        <p:spPr>
          <a:xfrm>
            <a:off x="7152000" y="0"/>
            <a:ext cx="5040000" cy="3384000"/>
          </a:xfrm>
        </p:spPr>
        <p:txBody>
          <a:bodyPr rtlCol="0"/>
          <a:lstStyle>
            <a:lvl1pPr marL="0" indent="0">
              <a:buNone/>
              <a:defRPr/>
            </a:lvl1pPr>
          </a:lstStyle>
          <a:p>
            <a:pPr rtl="0"/>
            <a:r>
              <a:rPr lang="en-GB"/>
              <a:t>Klikk ikonet for å legge til et bilde</a:t>
            </a:r>
          </a:p>
        </p:txBody>
      </p:sp>
      <p:sp>
        <p:nvSpPr>
          <p:cNvPr id="8" name="Plassholder for bilde 8"/>
          <p:cNvSpPr>
            <a:spLocks noGrp="1"/>
          </p:cNvSpPr>
          <p:nvPr>
            <p:ph type="pic" sz="quarter" idx="12"/>
          </p:nvPr>
        </p:nvSpPr>
        <p:spPr>
          <a:xfrm>
            <a:off x="7152000" y="3474000"/>
            <a:ext cx="5040000" cy="3384000"/>
          </a:xfrm>
        </p:spPr>
        <p:txBody>
          <a:bodyPr rtlCol="0"/>
          <a:lstStyle>
            <a:lvl1pPr marL="0" indent="0">
              <a:buNone/>
              <a:defRPr/>
            </a:lvl1pPr>
          </a:lstStyle>
          <a:p>
            <a:pPr rtl="0"/>
            <a:r>
              <a:rPr lang="en-GB"/>
              <a:t>Klikk ikonet for å legge til et bilde</a:t>
            </a:r>
          </a:p>
        </p:txBody>
      </p:sp>
    </p:spTree>
    <p:extLst>
      <p:ext uri="{BB962C8B-B14F-4D97-AF65-F5344CB8AC3E}">
        <p14:creationId xmlns:p14="http://schemas.microsoft.com/office/powerpoint/2010/main" val="38290404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rside mørk - stående bilde">
    <p:bg>
      <p:bgRef idx="1001">
        <a:schemeClr val="bg2"/>
      </p:bgRef>
    </p:bg>
    <p:spTree>
      <p:nvGrpSpPr>
        <p:cNvPr id="1" name=""/>
        <p:cNvGrpSpPr/>
        <p:nvPr/>
      </p:nvGrpSpPr>
      <p:grpSpPr>
        <a:xfrm>
          <a:off x="0" y="0"/>
          <a:ext cx="0" cy="0"/>
          <a:chOff x="0" y="0"/>
          <a:chExt cx="0" cy="0"/>
        </a:xfrm>
      </p:grpSpPr>
      <p:sp>
        <p:nvSpPr>
          <p:cNvPr id="2" name="Tittel 1"/>
          <p:cNvSpPr>
            <a:spLocks noGrp="1"/>
          </p:cNvSpPr>
          <p:nvPr>
            <p:ph type="ctrTitle"/>
          </p:nvPr>
        </p:nvSpPr>
        <p:spPr>
          <a:xfrm>
            <a:off x="1619512" y="2054942"/>
            <a:ext cx="5040000" cy="1258529"/>
          </a:xfrm>
        </p:spPr>
        <p:txBody>
          <a:bodyPr lIns="0" tIns="0" rIns="0" bIns="0" rtlCol="0" anchor="b">
            <a:normAutofit/>
          </a:bodyPr>
          <a:lstStyle>
            <a:lvl1pPr algn="l">
              <a:lnSpc>
                <a:spcPct val="100000"/>
              </a:lnSpc>
              <a:defRPr sz="2800" b="0">
                <a:solidFill>
                  <a:schemeClr val="tx1"/>
                </a:solidFill>
              </a:defRPr>
            </a:lvl1pPr>
          </a:lstStyle>
          <a:p>
            <a:pPr rtl="0"/>
            <a:r>
              <a:rPr lang="en-GB"/>
              <a:t>Klikk for å redigere tittelstil</a:t>
            </a:r>
          </a:p>
        </p:txBody>
      </p:sp>
      <p:sp>
        <p:nvSpPr>
          <p:cNvPr id="3" name="Undertittel 2"/>
          <p:cNvSpPr>
            <a:spLocks noGrp="1"/>
          </p:cNvSpPr>
          <p:nvPr>
            <p:ph type="subTitle" idx="1"/>
          </p:nvPr>
        </p:nvSpPr>
        <p:spPr>
          <a:xfrm>
            <a:off x="1619512" y="3718184"/>
            <a:ext cx="5040000" cy="1051200"/>
          </a:xfrm>
        </p:spPr>
        <p:txBody>
          <a:bodyPr lIns="0" tIns="0" rIns="0" bIns="0" rtlCol="0">
            <a:normAutofit/>
          </a:bodyPr>
          <a:lstStyle>
            <a:lvl1pPr marL="0" indent="0" algn="l">
              <a:lnSpc>
                <a:spcPct val="100000"/>
              </a:lnSpc>
              <a:buNone/>
              <a:defRPr sz="22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a:t>Klikk for å redigere undertittelstil i malen</a:t>
            </a:r>
          </a:p>
        </p:txBody>
      </p:sp>
      <p:sp>
        <p:nvSpPr>
          <p:cNvPr id="13" name="Plassholder for tekst 2"/>
          <p:cNvSpPr>
            <a:spLocks noGrp="1"/>
          </p:cNvSpPr>
          <p:nvPr>
            <p:ph type="body" idx="10"/>
          </p:nvPr>
        </p:nvSpPr>
        <p:spPr>
          <a:xfrm>
            <a:off x="1619512" y="5596146"/>
            <a:ext cx="5040000" cy="908050"/>
          </a:xfrm>
        </p:spPr>
        <p:txBody>
          <a:bodyPr lIns="0" tIns="0" rIns="0" bIns="0" rtlCol="0">
            <a:normAutofit/>
          </a:bodyPr>
          <a:lstStyle>
            <a:lvl1pPr marL="0" indent="0">
              <a:lnSpc>
                <a:spcPct val="100000"/>
              </a:lnSpc>
              <a:spcBef>
                <a:spcPts val="0"/>
              </a:spcBef>
              <a:buNone/>
              <a:defRPr sz="1500" b="0" i="0">
                <a:solidFill>
                  <a:schemeClr val="tx1"/>
                </a:solidFill>
                <a:latin typeface="Georgia" charset="0"/>
                <a:ea typeface="Georgia" charset="0"/>
                <a:cs typeface="Georgia"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Rediger tekststiler i malen</a:t>
            </a:r>
          </a:p>
        </p:txBody>
      </p:sp>
      <p:cxnSp>
        <p:nvCxnSpPr>
          <p:cNvPr id="5" name="Rett linje 4"/>
          <p:cNvCxnSpPr/>
          <p:nvPr userDrawn="1"/>
        </p:nvCxnSpPr>
        <p:spPr>
          <a:xfrm>
            <a:off x="1619512" y="5433342"/>
            <a:ext cx="4219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Bilde 5"/>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78140" y="537312"/>
            <a:ext cx="3113908" cy="810000"/>
          </a:xfrm>
          <a:prstGeom prst="rect">
            <a:avLst/>
          </a:prstGeom>
        </p:spPr>
      </p:pic>
      <p:sp>
        <p:nvSpPr>
          <p:cNvPr id="11" name="Plassholder for bilde 8"/>
          <p:cNvSpPr>
            <a:spLocks noGrp="1"/>
          </p:cNvSpPr>
          <p:nvPr>
            <p:ph type="pic" sz="quarter" idx="11"/>
          </p:nvPr>
        </p:nvSpPr>
        <p:spPr>
          <a:xfrm>
            <a:off x="7152000" y="0"/>
            <a:ext cx="5040000" cy="6858000"/>
          </a:xfrm>
        </p:spPr>
        <p:txBody>
          <a:bodyPr rtlCol="0"/>
          <a:lstStyle>
            <a:lvl1pPr marL="0" indent="0">
              <a:buNone/>
              <a:defRPr/>
            </a:lvl1pPr>
          </a:lstStyle>
          <a:p>
            <a:pPr rtl="0"/>
            <a:r>
              <a:rPr lang="en-GB"/>
              <a:t>Klikk ikonet for å legge til et bilde</a:t>
            </a:r>
          </a:p>
        </p:txBody>
      </p:sp>
    </p:spTree>
    <p:extLst>
      <p:ext uri="{BB962C8B-B14F-4D97-AF65-F5344CB8AC3E}">
        <p14:creationId xmlns:p14="http://schemas.microsoft.com/office/powerpoint/2010/main" val="198064848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orside mørk - liggende bilder">
    <p:bg>
      <p:bgRef idx="1001">
        <a:schemeClr val="bg2"/>
      </p:bgRef>
    </p:bg>
    <p:spTree>
      <p:nvGrpSpPr>
        <p:cNvPr id="1" name=""/>
        <p:cNvGrpSpPr/>
        <p:nvPr/>
      </p:nvGrpSpPr>
      <p:grpSpPr>
        <a:xfrm>
          <a:off x="0" y="0"/>
          <a:ext cx="0" cy="0"/>
          <a:chOff x="0" y="0"/>
          <a:chExt cx="0" cy="0"/>
        </a:xfrm>
      </p:grpSpPr>
      <p:sp>
        <p:nvSpPr>
          <p:cNvPr id="2" name="Tittel 1"/>
          <p:cNvSpPr>
            <a:spLocks noGrp="1"/>
          </p:cNvSpPr>
          <p:nvPr>
            <p:ph type="ctrTitle"/>
          </p:nvPr>
        </p:nvSpPr>
        <p:spPr>
          <a:xfrm>
            <a:off x="1619512" y="2054942"/>
            <a:ext cx="5040000" cy="1258529"/>
          </a:xfrm>
        </p:spPr>
        <p:txBody>
          <a:bodyPr lIns="0" tIns="0" rIns="0" bIns="0" rtlCol="0" anchor="b">
            <a:normAutofit/>
          </a:bodyPr>
          <a:lstStyle>
            <a:lvl1pPr algn="l">
              <a:lnSpc>
                <a:spcPct val="100000"/>
              </a:lnSpc>
              <a:defRPr sz="2800" b="0">
                <a:solidFill>
                  <a:schemeClr val="tx1"/>
                </a:solidFill>
              </a:defRPr>
            </a:lvl1pPr>
          </a:lstStyle>
          <a:p>
            <a:pPr rtl="0"/>
            <a:r>
              <a:rPr lang="en-GB"/>
              <a:t>Klikk for å redigere tittelstil</a:t>
            </a:r>
          </a:p>
        </p:txBody>
      </p:sp>
      <p:sp>
        <p:nvSpPr>
          <p:cNvPr id="3" name="Undertittel 2"/>
          <p:cNvSpPr>
            <a:spLocks noGrp="1"/>
          </p:cNvSpPr>
          <p:nvPr>
            <p:ph type="subTitle" idx="1"/>
          </p:nvPr>
        </p:nvSpPr>
        <p:spPr>
          <a:xfrm>
            <a:off x="1619512" y="3718184"/>
            <a:ext cx="5040000" cy="1051200"/>
          </a:xfrm>
        </p:spPr>
        <p:txBody>
          <a:bodyPr lIns="0" tIns="0" rIns="0" bIns="0" rtlCol="0">
            <a:normAutofit/>
          </a:bodyPr>
          <a:lstStyle>
            <a:lvl1pPr marL="0" indent="0" algn="l">
              <a:lnSpc>
                <a:spcPct val="100000"/>
              </a:lnSpc>
              <a:buNone/>
              <a:defRPr sz="22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a:t>Klikk for å redigere undertittelstil i malen</a:t>
            </a:r>
          </a:p>
        </p:txBody>
      </p:sp>
      <p:sp>
        <p:nvSpPr>
          <p:cNvPr id="13" name="Plassholder for tekst 2"/>
          <p:cNvSpPr>
            <a:spLocks noGrp="1"/>
          </p:cNvSpPr>
          <p:nvPr>
            <p:ph type="body" idx="10"/>
          </p:nvPr>
        </p:nvSpPr>
        <p:spPr>
          <a:xfrm>
            <a:off x="1619512" y="5596146"/>
            <a:ext cx="5040000" cy="908050"/>
          </a:xfrm>
        </p:spPr>
        <p:txBody>
          <a:bodyPr lIns="0" tIns="0" rIns="0" bIns="0" rtlCol="0">
            <a:normAutofit/>
          </a:bodyPr>
          <a:lstStyle>
            <a:lvl1pPr marL="0" indent="0">
              <a:lnSpc>
                <a:spcPct val="100000"/>
              </a:lnSpc>
              <a:spcBef>
                <a:spcPts val="0"/>
              </a:spcBef>
              <a:buNone/>
              <a:defRPr sz="1500" b="0" i="0">
                <a:solidFill>
                  <a:schemeClr val="tx1"/>
                </a:solidFill>
                <a:latin typeface="Georgia" charset="0"/>
                <a:ea typeface="Georgia" charset="0"/>
                <a:cs typeface="Georgia"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a:t>Rediger tekststiler i malen</a:t>
            </a:r>
          </a:p>
        </p:txBody>
      </p:sp>
      <p:cxnSp>
        <p:nvCxnSpPr>
          <p:cNvPr id="5" name="Rett linje 4"/>
          <p:cNvCxnSpPr/>
          <p:nvPr userDrawn="1"/>
        </p:nvCxnSpPr>
        <p:spPr>
          <a:xfrm>
            <a:off x="1619512" y="5433342"/>
            <a:ext cx="4219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Bilde 5"/>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78140" y="537312"/>
            <a:ext cx="3113908" cy="810000"/>
          </a:xfrm>
          <a:prstGeom prst="rect">
            <a:avLst/>
          </a:prstGeom>
        </p:spPr>
      </p:pic>
      <p:sp>
        <p:nvSpPr>
          <p:cNvPr id="11" name="Plassholder for bilde 8"/>
          <p:cNvSpPr>
            <a:spLocks noGrp="1"/>
          </p:cNvSpPr>
          <p:nvPr>
            <p:ph type="pic" sz="quarter" idx="11"/>
          </p:nvPr>
        </p:nvSpPr>
        <p:spPr>
          <a:xfrm>
            <a:off x="7152000" y="0"/>
            <a:ext cx="5040000" cy="3384000"/>
          </a:xfrm>
        </p:spPr>
        <p:txBody>
          <a:bodyPr rtlCol="0"/>
          <a:lstStyle>
            <a:lvl1pPr marL="0" indent="0">
              <a:buNone/>
              <a:defRPr/>
            </a:lvl1pPr>
          </a:lstStyle>
          <a:p>
            <a:pPr rtl="0"/>
            <a:r>
              <a:rPr lang="en-GB"/>
              <a:t>Klikk ikonet for å legge til et bilde</a:t>
            </a:r>
          </a:p>
        </p:txBody>
      </p:sp>
      <p:sp>
        <p:nvSpPr>
          <p:cNvPr id="8" name="Plassholder for bilde 8"/>
          <p:cNvSpPr>
            <a:spLocks noGrp="1"/>
          </p:cNvSpPr>
          <p:nvPr>
            <p:ph type="pic" sz="quarter" idx="12"/>
          </p:nvPr>
        </p:nvSpPr>
        <p:spPr>
          <a:xfrm>
            <a:off x="7152000" y="3474000"/>
            <a:ext cx="5040000" cy="3384000"/>
          </a:xfrm>
        </p:spPr>
        <p:txBody>
          <a:bodyPr rtlCol="0"/>
          <a:lstStyle>
            <a:lvl1pPr marL="0" indent="0">
              <a:buNone/>
              <a:defRPr/>
            </a:lvl1pPr>
          </a:lstStyle>
          <a:p>
            <a:pPr rtl="0"/>
            <a:r>
              <a:rPr lang="en-GB"/>
              <a:t>Klikk ikonet for å legge til et bilde</a:t>
            </a:r>
          </a:p>
        </p:txBody>
      </p:sp>
    </p:spTree>
    <p:extLst>
      <p:ext uri="{BB962C8B-B14F-4D97-AF65-F5344CB8AC3E}">
        <p14:creationId xmlns:p14="http://schemas.microsoft.com/office/powerpoint/2010/main" val="139649404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En spalte med bakgrunn">
    <p:spTree>
      <p:nvGrpSpPr>
        <p:cNvPr id="1" name=""/>
        <p:cNvGrpSpPr/>
        <p:nvPr/>
      </p:nvGrpSpPr>
      <p:grpSpPr>
        <a:xfrm>
          <a:off x="0" y="0"/>
          <a:ext cx="0" cy="0"/>
          <a:chOff x="0" y="0"/>
          <a:chExt cx="0" cy="0"/>
        </a:xfrm>
      </p:grpSpPr>
      <p:grpSp>
        <p:nvGrpSpPr>
          <p:cNvPr id="12" name="Gruppe 11"/>
          <p:cNvGrpSpPr>
            <a:grpSpLocks noChangeAspect="1"/>
          </p:cNvGrpSpPr>
          <p:nvPr userDrawn="1"/>
        </p:nvGrpSpPr>
        <p:grpSpPr>
          <a:xfrm>
            <a:off x="279820" y="6504062"/>
            <a:ext cx="250360" cy="218504"/>
            <a:chOff x="5122863" y="2579688"/>
            <a:chExt cx="1946276" cy="1698625"/>
          </a:xfrm>
          <a:solidFill>
            <a:schemeClr val="bg2"/>
          </a:solidFill>
        </p:grpSpPr>
        <p:sp>
          <p:nvSpPr>
            <p:cNvPr id="13" name="Freeform 5"/>
            <p:cNvSpPr>
              <a:spLocks/>
            </p:cNvSpPr>
            <p:nvPr/>
          </p:nvSpPr>
          <p:spPr bwMode="auto">
            <a:xfrm>
              <a:off x="5122863" y="2579688"/>
              <a:ext cx="554038" cy="747713"/>
            </a:xfrm>
            <a:custGeom>
              <a:avLst/>
              <a:gdLst>
                <a:gd name="T0" fmla="*/ 164 w 349"/>
                <a:gd name="T1" fmla="*/ 0 h 471"/>
                <a:gd name="T2" fmla="*/ 0 w 349"/>
                <a:gd name="T3" fmla="*/ 0 h 471"/>
                <a:gd name="T4" fmla="*/ 271 w 349"/>
                <a:gd name="T5" fmla="*/ 471 h 471"/>
                <a:gd name="T6" fmla="*/ 349 w 349"/>
                <a:gd name="T7" fmla="*/ 328 h 471"/>
                <a:gd name="T8" fmla="*/ 164 w 349"/>
                <a:gd name="T9" fmla="*/ 0 h 471"/>
              </a:gdLst>
              <a:ahLst/>
              <a:cxnLst>
                <a:cxn ang="0">
                  <a:pos x="T0" y="T1"/>
                </a:cxn>
                <a:cxn ang="0">
                  <a:pos x="T2" y="T3"/>
                </a:cxn>
                <a:cxn ang="0">
                  <a:pos x="T4" y="T5"/>
                </a:cxn>
                <a:cxn ang="0">
                  <a:pos x="T6" y="T7"/>
                </a:cxn>
                <a:cxn ang="0">
                  <a:pos x="T8" y="T9"/>
                </a:cxn>
              </a:cxnLst>
              <a:rect l="0" t="0" r="r" b="b"/>
              <a:pathLst>
                <a:path w="349" h="471">
                  <a:moveTo>
                    <a:pt x="164" y="0"/>
                  </a:moveTo>
                  <a:lnTo>
                    <a:pt x="0" y="0"/>
                  </a:lnTo>
                  <a:lnTo>
                    <a:pt x="271" y="471"/>
                  </a:lnTo>
                  <a:lnTo>
                    <a:pt x="349" y="328"/>
                  </a:lnTo>
                  <a:lnTo>
                    <a:pt x="164"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sp>
          <p:nvSpPr>
            <p:cNvPr id="14" name="Freeform 6"/>
            <p:cNvSpPr>
              <a:spLocks/>
            </p:cNvSpPr>
            <p:nvPr/>
          </p:nvSpPr>
          <p:spPr bwMode="auto">
            <a:xfrm>
              <a:off x="5756276" y="2579688"/>
              <a:ext cx="1312863" cy="1698625"/>
            </a:xfrm>
            <a:custGeom>
              <a:avLst/>
              <a:gdLst>
                <a:gd name="T0" fmla="*/ 406 w 827"/>
                <a:gd name="T1" fmla="*/ 0 h 1070"/>
                <a:gd name="T2" fmla="*/ 86 w 827"/>
                <a:gd name="T3" fmla="*/ 564 h 1070"/>
                <a:gd name="T4" fmla="*/ 0 w 827"/>
                <a:gd name="T5" fmla="*/ 699 h 1070"/>
                <a:gd name="T6" fmla="*/ 214 w 827"/>
                <a:gd name="T7" fmla="*/ 1070 h 1070"/>
                <a:gd name="T8" fmla="*/ 827 w 827"/>
                <a:gd name="T9" fmla="*/ 0 h 1070"/>
                <a:gd name="T10" fmla="*/ 406 w 827"/>
                <a:gd name="T11" fmla="*/ 0 h 1070"/>
              </a:gdLst>
              <a:ahLst/>
              <a:cxnLst>
                <a:cxn ang="0">
                  <a:pos x="T0" y="T1"/>
                </a:cxn>
                <a:cxn ang="0">
                  <a:pos x="T2" y="T3"/>
                </a:cxn>
                <a:cxn ang="0">
                  <a:pos x="T4" y="T5"/>
                </a:cxn>
                <a:cxn ang="0">
                  <a:pos x="T6" y="T7"/>
                </a:cxn>
                <a:cxn ang="0">
                  <a:pos x="T8" y="T9"/>
                </a:cxn>
                <a:cxn ang="0">
                  <a:pos x="T10" y="T11"/>
                </a:cxn>
              </a:cxnLst>
              <a:rect l="0" t="0" r="r" b="b"/>
              <a:pathLst>
                <a:path w="827" h="1070">
                  <a:moveTo>
                    <a:pt x="406" y="0"/>
                  </a:moveTo>
                  <a:lnTo>
                    <a:pt x="86" y="564"/>
                  </a:lnTo>
                  <a:lnTo>
                    <a:pt x="0" y="699"/>
                  </a:lnTo>
                  <a:lnTo>
                    <a:pt x="214" y="1070"/>
                  </a:lnTo>
                  <a:lnTo>
                    <a:pt x="827" y="0"/>
                  </a:lnTo>
                  <a:lnTo>
                    <a:pt x="40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grpSp>
      <p:sp>
        <p:nvSpPr>
          <p:cNvPr id="4" name="Rektangel 3"/>
          <p:cNvSpPr/>
          <p:nvPr userDrawn="1"/>
        </p:nvSpPr>
        <p:spPr>
          <a:xfrm>
            <a:off x="812602" y="1363946"/>
            <a:ext cx="10926000" cy="505800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GB"/>
              <a:t>  </a:t>
            </a:r>
          </a:p>
        </p:txBody>
      </p:sp>
      <p:cxnSp>
        <p:nvCxnSpPr>
          <p:cNvPr id="6" name="Rett linje 5"/>
          <p:cNvCxnSpPr/>
          <p:nvPr userDrawn="1"/>
        </p:nvCxnSpPr>
        <p:spPr>
          <a:xfrm>
            <a:off x="809427" y="1358552"/>
            <a:ext cx="109260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 name="Tittel 1"/>
          <p:cNvSpPr>
            <a:spLocks noGrp="1"/>
          </p:cNvSpPr>
          <p:nvPr>
            <p:ph type="title"/>
          </p:nvPr>
        </p:nvSpPr>
        <p:spPr>
          <a:xfrm>
            <a:off x="809976" y="-2081"/>
            <a:ext cx="10926000" cy="1350000"/>
          </a:xfrm>
        </p:spPr>
        <p:txBody>
          <a:bodyPr rtlCol="0"/>
          <a:lstStyle>
            <a:lvl1pPr algn="l">
              <a:defRPr/>
            </a:lvl1pPr>
          </a:lstStyle>
          <a:p>
            <a:pPr rtl="0"/>
            <a:r>
              <a:rPr lang="en-GB"/>
              <a:t>Klikk for å redigere tittelstil</a:t>
            </a:r>
          </a:p>
        </p:txBody>
      </p:sp>
      <p:sp>
        <p:nvSpPr>
          <p:cNvPr id="3" name="Plassholder for innhold 2"/>
          <p:cNvSpPr>
            <a:spLocks noGrp="1"/>
          </p:cNvSpPr>
          <p:nvPr>
            <p:ph idx="1"/>
          </p:nvPr>
        </p:nvSpPr>
        <p:spPr>
          <a:xfrm>
            <a:off x="809427" y="1361080"/>
            <a:ext cx="10926000" cy="5058000"/>
          </a:xfrm>
          <a:noFill/>
          <a:ln>
            <a:noFill/>
          </a:ln>
        </p:spPr>
        <p:txBody>
          <a:bodyPr lIns="180000" tIns="180000" rIns="180000" bIns="180000" rtlCol="0">
            <a:normAutofit/>
          </a:bodyPr>
          <a:lstStyle>
            <a:lvl1pPr marL="342900" indent="-342900">
              <a:lnSpc>
                <a:spcPct val="100000"/>
              </a:lnSpc>
              <a:buFont typeface=".AppleSystemUIFont" charset="-120"/>
              <a:buChar char="›"/>
              <a:defRPr sz="2000"/>
            </a:lvl1pPr>
            <a:lvl2pPr marL="685800" indent="-228600">
              <a:lnSpc>
                <a:spcPct val="100000"/>
              </a:lnSpc>
              <a:buFont typeface=".AppleSystemUIFont" charset="-120"/>
              <a:buChar char="›"/>
              <a:defRPr sz="2000">
                <a:latin typeface="+mn-lt"/>
              </a:defRPr>
            </a:lvl2pPr>
            <a:lvl3pPr marL="1143000" indent="-228600">
              <a:lnSpc>
                <a:spcPct val="100000"/>
              </a:lnSpc>
              <a:buFont typeface=".AppleSystemUIFont" charset="-120"/>
              <a:buChar char="›"/>
              <a:defRPr sz="2000">
                <a:latin typeface="+mn-lt"/>
              </a:defRPr>
            </a:lvl3pPr>
            <a:lvl4pPr marL="1600200" indent="-228600">
              <a:lnSpc>
                <a:spcPct val="100000"/>
              </a:lnSpc>
              <a:buFont typeface=".AppleSystemUIFont" charset="-120"/>
              <a:buChar char="›"/>
              <a:defRPr sz="2000">
                <a:latin typeface="+mn-lt"/>
              </a:defRPr>
            </a:lvl4pPr>
            <a:lvl5pPr marL="2057400" indent="-228600">
              <a:lnSpc>
                <a:spcPct val="100000"/>
              </a:lnSpc>
              <a:buFont typeface=".AppleSystemUIFont" charset="-120"/>
              <a:buChar char="›"/>
              <a:defRPr sz="2000">
                <a:latin typeface="+mn-lt"/>
              </a:defRPr>
            </a:lvl5pPr>
          </a:lstStyle>
          <a:p>
            <a:pPr lvl="0" rtl="0"/>
            <a:r>
              <a:rPr lang="en-GB"/>
              <a:t>Rediger tekststiler i malen</a:t>
            </a:r>
          </a:p>
          <a:p>
            <a:pPr lvl="1" rtl="0"/>
            <a:r>
              <a:rPr lang="en-GB"/>
              <a:t>Andre nivå</a:t>
            </a:r>
          </a:p>
          <a:p>
            <a:pPr lvl="2" rtl="0"/>
            <a:r>
              <a:rPr lang="en-GB"/>
              <a:t>Tredje nivå</a:t>
            </a:r>
          </a:p>
          <a:p>
            <a:pPr lvl="3" rtl="0"/>
            <a:r>
              <a:rPr lang="en-GB"/>
              <a:t>Fjerde nivå</a:t>
            </a:r>
          </a:p>
          <a:p>
            <a:pPr lvl="4" rtl="0"/>
            <a:r>
              <a:rPr lang="en-GB"/>
              <a:t>Femte nivå</a:t>
            </a:r>
          </a:p>
        </p:txBody>
      </p:sp>
      <p:sp>
        <p:nvSpPr>
          <p:cNvPr id="22" name="Plassholder for bunntekst 21"/>
          <p:cNvSpPr>
            <a:spLocks noGrp="1"/>
          </p:cNvSpPr>
          <p:nvPr>
            <p:ph type="ftr" sz="quarter" idx="10"/>
          </p:nvPr>
        </p:nvSpPr>
        <p:spPr/>
        <p:txBody>
          <a:bodyPr rtlCol="0"/>
          <a:lstStyle/>
          <a:p>
            <a:pPr rtl="0"/>
            <a:r>
              <a:rPr lang="nb-NO"/>
              <a:t>ADA512, Autumn 2026</a:t>
            </a:r>
          </a:p>
        </p:txBody>
      </p:sp>
      <p:sp>
        <p:nvSpPr>
          <p:cNvPr id="23" name="Plassholder for lysbildenummer 22"/>
          <p:cNvSpPr>
            <a:spLocks noGrp="1"/>
          </p:cNvSpPr>
          <p:nvPr>
            <p:ph type="sldNum" sz="quarter" idx="11"/>
          </p:nvPr>
        </p:nvSpPr>
        <p:spPr/>
        <p:txBody>
          <a:bodyPr rtlCol="0"/>
          <a:lstStyle/>
          <a:p>
            <a:pPr rtl="0"/>
            <a:fld id="{D0BEE4E4-E047-6A49-BCB9-4D06E7BA237B}" type="slidenum">
              <a:rPr lang="nb-NO" smtClean="0"/>
              <a:pPr/>
              <a:t>‹#›</a:t>
            </a:fld>
            <a:endParaRPr lang="nb-NO"/>
          </a:p>
        </p:txBody>
      </p:sp>
    </p:spTree>
    <p:extLst>
      <p:ext uri="{BB962C8B-B14F-4D97-AF65-F5344CB8AC3E}">
        <p14:creationId xmlns:p14="http://schemas.microsoft.com/office/powerpoint/2010/main" val="348523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o spalter med bakgrunn">
    <p:spTree>
      <p:nvGrpSpPr>
        <p:cNvPr id="1" name=""/>
        <p:cNvGrpSpPr/>
        <p:nvPr/>
      </p:nvGrpSpPr>
      <p:grpSpPr>
        <a:xfrm>
          <a:off x="0" y="0"/>
          <a:ext cx="0" cy="0"/>
          <a:chOff x="0" y="0"/>
          <a:chExt cx="0" cy="0"/>
        </a:xfrm>
      </p:grpSpPr>
      <p:grpSp>
        <p:nvGrpSpPr>
          <p:cNvPr id="12" name="Gruppe 11"/>
          <p:cNvGrpSpPr>
            <a:grpSpLocks noChangeAspect="1"/>
          </p:cNvGrpSpPr>
          <p:nvPr userDrawn="1"/>
        </p:nvGrpSpPr>
        <p:grpSpPr>
          <a:xfrm>
            <a:off x="279820" y="6504062"/>
            <a:ext cx="250360" cy="218504"/>
            <a:chOff x="5122863" y="2579688"/>
            <a:chExt cx="1946276" cy="1698625"/>
          </a:xfrm>
          <a:solidFill>
            <a:schemeClr val="bg2"/>
          </a:solidFill>
        </p:grpSpPr>
        <p:sp>
          <p:nvSpPr>
            <p:cNvPr id="13" name="Freeform 5"/>
            <p:cNvSpPr>
              <a:spLocks/>
            </p:cNvSpPr>
            <p:nvPr/>
          </p:nvSpPr>
          <p:spPr bwMode="auto">
            <a:xfrm>
              <a:off x="5122863" y="2579688"/>
              <a:ext cx="554038" cy="747713"/>
            </a:xfrm>
            <a:custGeom>
              <a:avLst/>
              <a:gdLst>
                <a:gd name="T0" fmla="*/ 164 w 349"/>
                <a:gd name="T1" fmla="*/ 0 h 471"/>
                <a:gd name="T2" fmla="*/ 0 w 349"/>
                <a:gd name="T3" fmla="*/ 0 h 471"/>
                <a:gd name="T4" fmla="*/ 271 w 349"/>
                <a:gd name="T5" fmla="*/ 471 h 471"/>
                <a:gd name="T6" fmla="*/ 349 w 349"/>
                <a:gd name="T7" fmla="*/ 328 h 471"/>
                <a:gd name="T8" fmla="*/ 164 w 349"/>
                <a:gd name="T9" fmla="*/ 0 h 471"/>
              </a:gdLst>
              <a:ahLst/>
              <a:cxnLst>
                <a:cxn ang="0">
                  <a:pos x="T0" y="T1"/>
                </a:cxn>
                <a:cxn ang="0">
                  <a:pos x="T2" y="T3"/>
                </a:cxn>
                <a:cxn ang="0">
                  <a:pos x="T4" y="T5"/>
                </a:cxn>
                <a:cxn ang="0">
                  <a:pos x="T6" y="T7"/>
                </a:cxn>
                <a:cxn ang="0">
                  <a:pos x="T8" y="T9"/>
                </a:cxn>
              </a:cxnLst>
              <a:rect l="0" t="0" r="r" b="b"/>
              <a:pathLst>
                <a:path w="349" h="471">
                  <a:moveTo>
                    <a:pt x="164" y="0"/>
                  </a:moveTo>
                  <a:lnTo>
                    <a:pt x="0" y="0"/>
                  </a:lnTo>
                  <a:lnTo>
                    <a:pt x="271" y="471"/>
                  </a:lnTo>
                  <a:lnTo>
                    <a:pt x="349" y="328"/>
                  </a:lnTo>
                  <a:lnTo>
                    <a:pt x="164"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sp>
          <p:nvSpPr>
            <p:cNvPr id="14" name="Freeform 6"/>
            <p:cNvSpPr>
              <a:spLocks/>
            </p:cNvSpPr>
            <p:nvPr/>
          </p:nvSpPr>
          <p:spPr bwMode="auto">
            <a:xfrm>
              <a:off x="5756276" y="2579688"/>
              <a:ext cx="1312863" cy="1698625"/>
            </a:xfrm>
            <a:custGeom>
              <a:avLst/>
              <a:gdLst>
                <a:gd name="T0" fmla="*/ 406 w 827"/>
                <a:gd name="T1" fmla="*/ 0 h 1070"/>
                <a:gd name="T2" fmla="*/ 86 w 827"/>
                <a:gd name="T3" fmla="*/ 564 h 1070"/>
                <a:gd name="T4" fmla="*/ 0 w 827"/>
                <a:gd name="T5" fmla="*/ 699 h 1070"/>
                <a:gd name="T6" fmla="*/ 214 w 827"/>
                <a:gd name="T7" fmla="*/ 1070 h 1070"/>
                <a:gd name="T8" fmla="*/ 827 w 827"/>
                <a:gd name="T9" fmla="*/ 0 h 1070"/>
                <a:gd name="T10" fmla="*/ 406 w 827"/>
                <a:gd name="T11" fmla="*/ 0 h 1070"/>
              </a:gdLst>
              <a:ahLst/>
              <a:cxnLst>
                <a:cxn ang="0">
                  <a:pos x="T0" y="T1"/>
                </a:cxn>
                <a:cxn ang="0">
                  <a:pos x="T2" y="T3"/>
                </a:cxn>
                <a:cxn ang="0">
                  <a:pos x="T4" y="T5"/>
                </a:cxn>
                <a:cxn ang="0">
                  <a:pos x="T6" y="T7"/>
                </a:cxn>
                <a:cxn ang="0">
                  <a:pos x="T8" y="T9"/>
                </a:cxn>
                <a:cxn ang="0">
                  <a:pos x="T10" y="T11"/>
                </a:cxn>
              </a:cxnLst>
              <a:rect l="0" t="0" r="r" b="b"/>
              <a:pathLst>
                <a:path w="827" h="1070">
                  <a:moveTo>
                    <a:pt x="406" y="0"/>
                  </a:moveTo>
                  <a:lnTo>
                    <a:pt x="86" y="564"/>
                  </a:lnTo>
                  <a:lnTo>
                    <a:pt x="0" y="699"/>
                  </a:lnTo>
                  <a:lnTo>
                    <a:pt x="214" y="1070"/>
                  </a:lnTo>
                  <a:lnTo>
                    <a:pt x="827" y="0"/>
                  </a:lnTo>
                  <a:lnTo>
                    <a:pt x="40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grpSp>
      <p:sp>
        <p:nvSpPr>
          <p:cNvPr id="4" name="Rektangel 3"/>
          <p:cNvSpPr/>
          <p:nvPr userDrawn="1"/>
        </p:nvSpPr>
        <p:spPr>
          <a:xfrm>
            <a:off x="810594" y="1352959"/>
            <a:ext cx="5256000" cy="505800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GB"/>
              <a:t>  </a:t>
            </a:r>
          </a:p>
        </p:txBody>
      </p:sp>
      <p:sp>
        <p:nvSpPr>
          <p:cNvPr id="11" name="Rektangel 10"/>
          <p:cNvSpPr/>
          <p:nvPr userDrawn="1"/>
        </p:nvSpPr>
        <p:spPr>
          <a:xfrm>
            <a:off x="6480905" y="1351536"/>
            <a:ext cx="5256000" cy="505800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r>
              <a:rPr lang="en-GB"/>
              <a:t>  </a:t>
            </a:r>
          </a:p>
        </p:txBody>
      </p:sp>
      <p:cxnSp>
        <p:nvCxnSpPr>
          <p:cNvPr id="6" name="Rett linje 5"/>
          <p:cNvCxnSpPr/>
          <p:nvPr userDrawn="1"/>
        </p:nvCxnSpPr>
        <p:spPr>
          <a:xfrm>
            <a:off x="809427" y="1362845"/>
            <a:ext cx="52560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 name="Tittel 1"/>
          <p:cNvSpPr>
            <a:spLocks noGrp="1"/>
          </p:cNvSpPr>
          <p:nvPr>
            <p:ph type="title"/>
          </p:nvPr>
        </p:nvSpPr>
        <p:spPr>
          <a:xfrm>
            <a:off x="809976" y="-2081"/>
            <a:ext cx="10926000" cy="1350000"/>
          </a:xfrm>
        </p:spPr>
        <p:txBody>
          <a:bodyPr rtlCol="0">
            <a:normAutofit/>
          </a:bodyPr>
          <a:lstStyle>
            <a:lvl1pPr algn="l">
              <a:lnSpc>
                <a:spcPct val="100000"/>
              </a:lnSpc>
              <a:defRPr sz="2800"/>
            </a:lvl1pPr>
          </a:lstStyle>
          <a:p>
            <a:pPr rtl="0"/>
            <a:r>
              <a:rPr lang="en-GB"/>
              <a:t>Klikk for å redigere tittelstil</a:t>
            </a:r>
          </a:p>
        </p:txBody>
      </p:sp>
      <p:sp>
        <p:nvSpPr>
          <p:cNvPr id="3" name="Plassholder for innhold 2"/>
          <p:cNvSpPr>
            <a:spLocks noGrp="1"/>
          </p:cNvSpPr>
          <p:nvPr>
            <p:ph idx="1"/>
          </p:nvPr>
        </p:nvSpPr>
        <p:spPr>
          <a:xfrm>
            <a:off x="802127" y="1364110"/>
            <a:ext cx="5256000" cy="5058000"/>
          </a:xfrm>
          <a:noFill/>
          <a:ln>
            <a:noFill/>
          </a:ln>
        </p:spPr>
        <p:txBody>
          <a:bodyPr lIns="180000" tIns="180000" rIns="180000" bIns="180000" rtlCol="0">
            <a:normAutofit/>
          </a:bodyPr>
          <a:lstStyle>
            <a:lvl1pPr>
              <a:lnSpc>
                <a:spcPct val="100000"/>
              </a:lnSpc>
              <a:defRPr sz="2000"/>
            </a:lvl1pPr>
            <a:lvl2pPr>
              <a:lnSpc>
                <a:spcPct val="100000"/>
              </a:lnSpc>
              <a:defRPr sz="2000">
                <a:latin typeface="+mn-lt"/>
              </a:defRPr>
            </a:lvl2pPr>
            <a:lvl3pPr>
              <a:lnSpc>
                <a:spcPct val="100000"/>
              </a:lnSpc>
              <a:defRPr sz="2000">
                <a:latin typeface="+mn-lt"/>
              </a:defRPr>
            </a:lvl3pPr>
            <a:lvl4pPr>
              <a:lnSpc>
                <a:spcPct val="100000"/>
              </a:lnSpc>
              <a:defRPr sz="2000">
                <a:latin typeface="+mn-lt"/>
              </a:defRPr>
            </a:lvl4pPr>
            <a:lvl5pPr>
              <a:lnSpc>
                <a:spcPct val="100000"/>
              </a:lnSpc>
              <a:defRPr sz="2000">
                <a:latin typeface="+mn-lt"/>
              </a:defRPr>
            </a:lvl5pPr>
          </a:lstStyle>
          <a:p>
            <a:pPr lvl="0" rtl="0"/>
            <a:r>
              <a:rPr lang="en-GB"/>
              <a:t>Rediger tekststiler i malen</a:t>
            </a:r>
          </a:p>
          <a:p>
            <a:pPr lvl="1" rtl="0"/>
            <a:r>
              <a:rPr lang="en-GB"/>
              <a:t>Andre nivå</a:t>
            </a:r>
          </a:p>
          <a:p>
            <a:pPr lvl="2" rtl="0"/>
            <a:r>
              <a:rPr lang="en-GB"/>
              <a:t>Tredje nivå</a:t>
            </a:r>
          </a:p>
          <a:p>
            <a:pPr lvl="3" rtl="0"/>
            <a:r>
              <a:rPr lang="en-GB"/>
              <a:t>Fjerde nivå</a:t>
            </a:r>
          </a:p>
          <a:p>
            <a:pPr lvl="4" rtl="0"/>
            <a:r>
              <a:rPr lang="en-GB"/>
              <a:t>Femte nivå</a:t>
            </a:r>
          </a:p>
        </p:txBody>
      </p:sp>
      <p:sp>
        <p:nvSpPr>
          <p:cNvPr id="15" name="Plassholder for innhold 2"/>
          <p:cNvSpPr>
            <a:spLocks noGrp="1"/>
          </p:cNvSpPr>
          <p:nvPr>
            <p:ph idx="12"/>
          </p:nvPr>
        </p:nvSpPr>
        <p:spPr>
          <a:xfrm>
            <a:off x="6491935" y="1347919"/>
            <a:ext cx="5256000" cy="5058000"/>
          </a:xfrm>
          <a:noFill/>
          <a:ln>
            <a:noFill/>
          </a:ln>
        </p:spPr>
        <p:txBody>
          <a:bodyPr lIns="180000" tIns="180000" rIns="180000" bIns="180000" rtlCol="0">
            <a:normAutofit/>
          </a:bodyPr>
          <a:lstStyle>
            <a:lvl1pPr>
              <a:defRPr sz="2000"/>
            </a:lvl1pPr>
            <a:lvl2pPr>
              <a:defRPr sz="2000">
                <a:latin typeface="+mn-lt"/>
              </a:defRPr>
            </a:lvl2pPr>
            <a:lvl3pPr>
              <a:defRPr sz="2000">
                <a:latin typeface="+mn-lt"/>
              </a:defRPr>
            </a:lvl3pPr>
            <a:lvl4pPr>
              <a:defRPr sz="2000">
                <a:latin typeface="+mn-lt"/>
              </a:defRPr>
            </a:lvl4pPr>
            <a:lvl5pPr>
              <a:defRPr sz="2000">
                <a:latin typeface="+mn-lt"/>
              </a:defRPr>
            </a:lvl5pPr>
          </a:lstStyle>
          <a:p>
            <a:pPr lvl="0" rtl="0"/>
            <a:r>
              <a:rPr lang="en-GB"/>
              <a:t>Rediger tekststiler i malen</a:t>
            </a:r>
          </a:p>
          <a:p>
            <a:pPr lvl="1" rtl="0"/>
            <a:r>
              <a:rPr lang="en-GB"/>
              <a:t>Andre nivå</a:t>
            </a:r>
          </a:p>
          <a:p>
            <a:pPr lvl="2" rtl="0"/>
            <a:r>
              <a:rPr lang="en-GB"/>
              <a:t>Tredje nivå</a:t>
            </a:r>
          </a:p>
          <a:p>
            <a:pPr lvl="3" rtl="0"/>
            <a:r>
              <a:rPr lang="en-GB"/>
              <a:t>Fjerde nivå</a:t>
            </a:r>
          </a:p>
          <a:p>
            <a:pPr lvl="4" rtl="0"/>
            <a:r>
              <a:rPr lang="en-GB"/>
              <a:t>Femte nivå</a:t>
            </a:r>
          </a:p>
        </p:txBody>
      </p:sp>
      <p:cxnSp>
        <p:nvCxnSpPr>
          <p:cNvPr id="17" name="Rett linje 16"/>
          <p:cNvCxnSpPr/>
          <p:nvPr userDrawn="1"/>
        </p:nvCxnSpPr>
        <p:spPr>
          <a:xfrm>
            <a:off x="6472438" y="1361941"/>
            <a:ext cx="52560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 name="Plassholder for bunntekst 4"/>
          <p:cNvSpPr>
            <a:spLocks noGrp="1"/>
          </p:cNvSpPr>
          <p:nvPr>
            <p:ph type="ftr" sz="quarter" idx="13"/>
          </p:nvPr>
        </p:nvSpPr>
        <p:spPr/>
        <p:txBody>
          <a:bodyPr rtlCol="0"/>
          <a:lstStyle/>
          <a:p>
            <a:pPr rtl="0"/>
            <a:r>
              <a:rPr lang="nb-NO"/>
              <a:t>ADA512, Autumn 2026</a:t>
            </a:r>
          </a:p>
        </p:txBody>
      </p:sp>
      <p:sp>
        <p:nvSpPr>
          <p:cNvPr id="7" name="Plassholder for lysbildenummer 6"/>
          <p:cNvSpPr>
            <a:spLocks noGrp="1"/>
          </p:cNvSpPr>
          <p:nvPr>
            <p:ph type="sldNum" sz="quarter" idx="14"/>
          </p:nvPr>
        </p:nvSpPr>
        <p:spPr/>
        <p:txBody>
          <a:bodyPr rtlCol="0"/>
          <a:lstStyle/>
          <a:p>
            <a:pPr rtl="0"/>
            <a:fld id="{D0BEE4E4-E047-6A49-BCB9-4D06E7BA237B}" type="slidenum">
              <a:rPr lang="nb-NO" smtClean="0"/>
              <a:pPr/>
              <a:t>‹#›</a:t>
            </a:fld>
            <a:endParaRPr lang="nb-NO"/>
          </a:p>
        </p:txBody>
      </p:sp>
    </p:spTree>
    <p:extLst>
      <p:ext uri="{BB962C8B-B14F-4D97-AF65-F5344CB8AC3E}">
        <p14:creationId xmlns:p14="http://schemas.microsoft.com/office/powerpoint/2010/main" val="2092050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killeside lys - stående bilde">
    <p:bg>
      <p:bgRef idx="1001">
        <a:schemeClr val="bg1"/>
      </p:bgRef>
    </p:bg>
    <p:spTree>
      <p:nvGrpSpPr>
        <p:cNvPr id="1" name=""/>
        <p:cNvGrpSpPr/>
        <p:nvPr/>
      </p:nvGrpSpPr>
      <p:grpSpPr>
        <a:xfrm>
          <a:off x="0" y="0"/>
          <a:ext cx="0" cy="0"/>
          <a:chOff x="0" y="0"/>
          <a:chExt cx="0" cy="0"/>
        </a:xfrm>
      </p:grpSpPr>
      <p:sp>
        <p:nvSpPr>
          <p:cNvPr id="5" name="Plassholder for bilde 8"/>
          <p:cNvSpPr>
            <a:spLocks noGrp="1"/>
          </p:cNvSpPr>
          <p:nvPr>
            <p:ph type="pic" sz="quarter" idx="12"/>
          </p:nvPr>
        </p:nvSpPr>
        <p:spPr>
          <a:xfrm>
            <a:off x="6252000" y="5495"/>
            <a:ext cx="5940000" cy="6852505"/>
          </a:xfrm>
        </p:spPr>
        <p:txBody>
          <a:bodyPr rtlCol="0"/>
          <a:lstStyle>
            <a:lvl1pPr marL="0" indent="0">
              <a:buNone/>
              <a:defRPr/>
            </a:lvl1pPr>
          </a:lstStyle>
          <a:p>
            <a:pPr rtl="0"/>
            <a:r>
              <a:rPr lang="en-GB"/>
              <a:t>Klikk ikonet for å legge til et bilde</a:t>
            </a:r>
          </a:p>
        </p:txBody>
      </p:sp>
      <p:sp>
        <p:nvSpPr>
          <p:cNvPr id="7" name="Tittel 1"/>
          <p:cNvSpPr>
            <a:spLocks noGrp="1"/>
          </p:cNvSpPr>
          <p:nvPr>
            <p:ph type="ctrTitle"/>
          </p:nvPr>
        </p:nvSpPr>
        <p:spPr>
          <a:xfrm>
            <a:off x="809426" y="1879389"/>
            <a:ext cx="4914000" cy="1258529"/>
          </a:xfrm>
        </p:spPr>
        <p:txBody>
          <a:bodyPr lIns="0" tIns="0" rIns="0" bIns="0" rtlCol="0" anchor="b">
            <a:normAutofit/>
          </a:bodyPr>
          <a:lstStyle>
            <a:lvl1pPr algn="l">
              <a:lnSpc>
                <a:spcPct val="100000"/>
              </a:lnSpc>
              <a:defRPr sz="2800" b="0">
                <a:solidFill>
                  <a:schemeClr val="tx2"/>
                </a:solidFill>
              </a:defRPr>
            </a:lvl1pPr>
          </a:lstStyle>
          <a:p>
            <a:pPr rtl="0"/>
            <a:r>
              <a:rPr lang="en-GB"/>
              <a:t>Klikk for å redigere tittelstil</a:t>
            </a:r>
          </a:p>
        </p:txBody>
      </p:sp>
      <p:sp>
        <p:nvSpPr>
          <p:cNvPr id="8" name="Undertittel 2"/>
          <p:cNvSpPr>
            <a:spLocks noGrp="1"/>
          </p:cNvSpPr>
          <p:nvPr>
            <p:ph type="subTitle" idx="1"/>
          </p:nvPr>
        </p:nvSpPr>
        <p:spPr>
          <a:xfrm>
            <a:off x="809426" y="3703967"/>
            <a:ext cx="4860000" cy="1051200"/>
          </a:xfrm>
        </p:spPr>
        <p:txBody>
          <a:bodyPr lIns="0" tIns="0" rIns="0" bIns="0" rtlCol="0">
            <a:normAutofit/>
          </a:bodyPr>
          <a:lstStyle>
            <a:lvl1pPr marL="0" indent="0" algn="l">
              <a:lnSpc>
                <a:spcPct val="100000"/>
              </a:lnSpc>
              <a:buNone/>
              <a:defRPr sz="22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a:t>Klikk for å redigere undertittelstil i malen</a:t>
            </a:r>
          </a:p>
        </p:txBody>
      </p:sp>
      <p:cxnSp>
        <p:nvCxnSpPr>
          <p:cNvPr id="9" name="Rett linje 8"/>
          <p:cNvCxnSpPr/>
          <p:nvPr userDrawn="1"/>
        </p:nvCxnSpPr>
        <p:spPr>
          <a:xfrm>
            <a:off x="809427" y="3434389"/>
            <a:ext cx="42193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482348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killeside mørk - stående bilde">
    <p:bg>
      <p:bgRef idx="1001">
        <a:schemeClr val="bg2"/>
      </p:bgRef>
    </p:bg>
    <p:spTree>
      <p:nvGrpSpPr>
        <p:cNvPr id="1" name=""/>
        <p:cNvGrpSpPr/>
        <p:nvPr/>
      </p:nvGrpSpPr>
      <p:grpSpPr>
        <a:xfrm>
          <a:off x="0" y="0"/>
          <a:ext cx="0" cy="0"/>
          <a:chOff x="0" y="0"/>
          <a:chExt cx="0" cy="0"/>
        </a:xfrm>
      </p:grpSpPr>
      <p:sp>
        <p:nvSpPr>
          <p:cNvPr id="5" name="Plassholder for bilde 8"/>
          <p:cNvSpPr>
            <a:spLocks noGrp="1"/>
          </p:cNvSpPr>
          <p:nvPr>
            <p:ph type="pic" sz="quarter" idx="12"/>
          </p:nvPr>
        </p:nvSpPr>
        <p:spPr>
          <a:xfrm>
            <a:off x="6252000" y="5495"/>
            <a:ext cx="5940000" cy="6852505"/>
          </a:xfrm>
        </p:spPr>
        <p:txBody>
          <a:bodyPr rtlCol="0"/>
          <a:lstStyle>
            <a:lvl1pPr marL="0" indent="0">
              <a:buNone/>
              <a:defRPr/>
            </a:lvl1pPr>
          </a:lstStyle>
          <a:p>
            <a:pPr rtl="0"/>
            <a:r>
              <a:rPr lang="en-GB"/>
              <a:t>Klikk ikonet for å legge til et bilde</a:t>
            </a:r>
          </a:p>
        </p:txBody>
      </p:sp>
      <p:sp>
        <p:nvSpPr>
          <p:cNvPr id="7" name="Tittel 1"/>
          <p:cNvSpPr>
            <a:spLocks noGrp="1"/>
          </p:cNvSpPr>
          <p:nvPr>
            <p:ph type="ctrTitle"/>
          </p:nvPr>
        </p:nvSpPr>
        <p:spPr>
          <a:xfrm>
            <a:off x="809426" y="1879389"/>
            <a:ext cx="4914000" cy="1258529"/>
          </a:xfrm>
        </p:spPr>
        <p:txBody>
          <a:bodyPr lIns="0" tIns="0" rIns="0" bIns="0" rtlCol="0" anchor="b">
            <a:normAutofit/>
          </a:bodyPr>
          <a:lstStyle>
            <a:lvl1pPr algn="l">
              <a:lnSpc>
                <a:spcPct val="100000"/>
              </a:lnSpc>
              <a:defRPr sz="2800" b="0">
                <a:solidFill>
                  <a:schemeClr val="tx1"/>
                </a:solidFill>
              </a:defRPr>
            </a:lvl1pPr>
          </a:lstStyle>
          <a:p>
            <a:pPr rtl="0"/>
            <a:r>
              <a:rPr lang="en-GB"/>
              <a:t>Klikk for å redigere tittelstil</a:t>
            </a:r>
          </a:p>
        </p:txBody>
      </p:sp>
      <p:sp>
        <p:nvSpPr>
          <p:cNvPr id="8" name="Undertittel 2"/>
          <p:cNvSpPr>
            <a:spLocks noGrp="1"/>
          </p:cNvSpPr>
          <p:nvPr>
            <p:ph type="subTitle" idx="1"/>
          </p:nvPr>
        </p:nvSpPr>
        <p:spPr>
          <a:xfrm>
            <a:off x="809426" y="3703967"/>
            <a:ext cx="4860000" cy="1051200"/>
          </a:xfrm>
        </p:spPr>
        <p:txBody>
          <a:bodyPr lIns="0" tIns="0" rIns="0" bIns="0" rtlCol="0">
            <a:normAutofit/>
          </a:bodyPr>
          <a:lstStyle>
            <a:lvl1pPr marL="0" indent="0" algn="l">
              <a:lnSpc>
                <a:spcPct val="100000"/>
              </a:lnSpc>
              <a:buNone/>
              <a:defRPr sz="22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a:t>Klikk for å redigere undertittelstil i malen</a:t>
            </a:r>
          </a:p>
        </p:txBody>
      </p:sp>
      <p:cxnSp>
        <p:nvCxnSpPr>
          <p:cNvPr id="9" name="Rett linje 8"/>
          <p:cNvCxnSpPr/>
          <p:nvPr userDrawn="1"/>
        </p:nvCxnSpPr>
        <p:spPr>
          <a:xfrm>
            <a:off x="809427" y="3434389"/>
            <a:ext cx="42193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208564"/>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killeside lys - to liggende bilder">
    <p:bg>
      <p:bgRef idx="1001">
        <a:schemeClr val="bg1"/>
      </p:bgRef>
    </p:bg>
    <p:spTree>
      <p:nvGrpSpPr>
        <p:cNvPr id="1" name=""/>
        <p:cNvGrpSpPr/>
        <p:nvPr/>
      </p:nvGrpSpPr>
      <p:grpSpPr>
        <a:xfrm>
          <a:off x="0" y="0"/>
          <a:ext cx="0" cy="0"/>
          <a:chOff x="0" y="0"/>
          <a:chExt cx="0" cy="0"/>
        </a:xfrm>
      </p:grpSpPr>
      <p:sp>
        <p:nvSpPr>
          <p:cNvPr id="2" name="Tittel 1"/>
          <p:cNvSpPr>
            <a:spLocks noGrp="1"/>
          </p:cNvSpPr>
          <p:nvPr>
            <p:ph type="ctrTitle"/>
          </p:nvPr>
        </p:nvSpPr>
        <p:spPr>
          <a:xfrm>
            <a:off x="809426" y="1879389"/>
            <a:ext cx="5760000" cy="1258529"/>
          </a:xfrm>
        </p:spPr>
        <p:txBody>
          <a:bodyPr lIns="0" tIns="0" rIns="0" bIns="0" rtlCol="0" anchor="b">
            <a:normAutofit/>
          </a:bodyPr>
          <a:lstStyle>
            <a:lvl1pPr algn="l">
              <a:lnSpc>
                <a:spcPct val="100000"/>
              </a:lnSpc>
              <a:defRPr sz="2800" b="0">
                <a:solidFill>
                  <a:schemeClr val="tx2"/>
                </a:solidFill>
              </a:defRPr>
            </a:lvl1pPr>
          </a:lstStyle>
          <a:p>
            <a:pPr rtl="0"/>
            <a:r>
              <a:rPr lang="en-GB"/>
              <a:t>Klikk for å redigere tittelstil</a:t>
            </a:r>
          </a:p>
        </p:txBody>
      </p:sp>
      <p:sp>
        <p:nvSpPr>
          <p:cNvPr id="3" name="Undertittel 2"/>
          <p:cNvSpPr>
            <a:spLocks noGrp="1"/>
          </p:cNvSpPr>
          <p:nvPr>
            <p:ph type="subTitle" idx="1"/>
          </p:nvPr>
        </p:nvSpPr>
        <p:spPr>
          <a:xfrm>
            <a:off x="809426" y="3703967"/>
            <a:ext cx="5760000" cy="1051200"/>
          </a:xfrm>
        </p:spPr>
        <p:txBody>
          <a:bodyPr lIns="0" tIns="0" rIns="0" bIns="0" rtlCol="0">
            <a:normAutofit/>
          </a:bodyPr>
          <a:lstStyle>
            <a:lvl1pPr marL="0" indent="0" algn="l">
              <a:lnSpc>
                <a:spcPct val="100000"/>
              </a:lnSpc>
              <a:buNone/>
              <a:defRPr sz="22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a:t>Klikk for å redigere undertittelstil i malen</a:t>
            </a:r>
          </a:p>
        </p:txBody>
      </p:sp>
      <p:sp>
        <p:nvSpPr>
          <p:cNvPr id="5" name="Plassholder for bilde 8"/>
          <p:cNvSpPr>
            <a:spLocks noGrp="1"/>
          </p:cNvSpPr>
          <p:nvPr>
            <p:ph type="pic" sz="quarter" idx="12"/>
          </p:nvPr>
        </p:nvSpPr>
        <p:spPr>
          <a:xfrm>
            <a:off x="7152000" y="5495"/>
            <a:ext cx="5040000" cy="3384000"/>
          </a:xfrm>
        </p:spPr>
        <p:txBody>
          <a:bodyPr rtlCol="0"/>
          <a:lstStyle>
            <a:lvl1pPr marL="0" indent="0">
              <a:buNone/>
              <a:defRPr/>
            </a:lvl1pPr>
          </a:lstStyle>
          <a:p>
            <a:pPr rtl="0"/>
            <a:r>
              <a:rPr lang="en-GB"/>
              <a:t>Klikk ikonet for å legge til et bilde</a:t>
            </a:r>
          </a:p>
        </p:txBody>
      </p:sp>
      <p:cxnSp>
        <p:nvCxnSpPr>
          <p:cNvPr id="11" name="Rett linje 10"/>
          <p:cNvCxnSpPr/>
          <p:nvPr userDrawn="1"/>
        </p:nvCxnSpPr>
        <p:spPr>
          <a:xfrm>
            <a:off x="809427" y="3434389"/>
            <a:ext cx="42193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Plassholder for bilde 8"/>
          <p:cNvSpPr>
            <a:spLocks noGrp="1"/>
          </p:cNvSpPr>
          <p:nvPr>
            <p:ph type="pic" sz="quarter" idx="13"/>
          </p:nvPr>
        </p:nvSpPr>
        <p:spPr>
          <a:xfrm>
            <a:off x="7152000" y="3468783"/>
            <a:ext cx="5040000" cy="3384000"/>
          </a:xfrm>
        </p:spPr>
        <p:txBody>
          <a:bodyPr rtlCol="0"/>
          <a:lstStyle>
            <a:lvl1pPr marL="0" indent="0">
              <a:buNone/>
              <a:defRPr/>
            </a:lvl1pPr>
          </a:lstStyle>
          <a:p>
            <a:pPr rtl="0"/>
            <a:r>
              <a:rPr lang="en-GB"/>
              <a:t>Klikk ikonet for å legge til et bilde</a:t>
            </a:r>
          </a:p>
        </p:txBody>
      </p:sp>
    </p:spTree>
    <p:extLst>
      <p:ext uri="{BB962C8B-B14F-4D97-AF65-F5344CB8AC3E}">
        <p14:creationId xmlns:p14="http://schemas.microsoft.com/office/powerpoint/2010/main" val="121110165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killeside mørk - to liggende bilder">
    <p:bg>
      <p:bgRef idx="1001">
        <a:schemeClr val="bg2"/>
      </p:bgRef>
    </p:bg>
    <p:spTree>
      <p:nvGrpSpPr>
        <p:cNvPr id="1" name=""/>
        <p:cNvGrpSpPr/>
        <p:nvPr/>
      </p:nvGrpSpPr>
      <p:grpSpPr>
        <a:xfrm>
          <a:off x="0" y="0"/>
          <a:ext cx="0" cy="0"/>
          <a:chOff x="0" y="0"/>
          <a:chExt cx="0" cy="0"/>
        </a:xfrm>
      </p:grpSpPr>
      <p:sp>
        <p:nvSpPr>
          <p:cNvPr id="2" name="Tittel 1"/>
          <p:cNvSpPr>
            <a:spLocks noGrp="1"/>
          </p:cNvSpPr>
          <p:nvPr>
            <p:ph type="ctrTitle"/>
          </p:nvPr>
        </p:nvSpPr>
        <p:spPr>
          <a:xfrm>
            <a:off x="809426" y="1879389"/>
            <a:ext cx="5760000" cy="1258529"/>
          </a:xfrm>
        </p:spPr>
        <p:txBody>
          <a:bodyPr lIns="0" tIns="0" rIns="0" bIns="0" rtlCol="0" anchor="b">
            <a:normAutofit/>
          </a:bodyPr>
          <a:lstStyle>
            <a:lvl1pPr algn="l">
              <a:lnSpc>
                <a:spcPct val="100000"/>
              </a:lnSpc>
              <a:defRPr sz="2800" b="0">
                <a:solidFill>
                  <a:schemeClr val="tx1"/>
                </a:solidFill>
              </a:defRPr>
            </a:lvl1pPr>
          </a:lstStyle>
          <a:p>
            <a:pPr rtl="0"/>
            <a:r>
              <a:rPr lang="en-GB"/>
              <a:t>Klikk for å redigere tittelstil</a:t>
            </a:r>
          </a:p>
        </p:txBody>
      </p:sp>
      <p:sp>
        <p:nvSpPr>
          <p:cNvPr id="3" name="Undertittel 2"/>
          <p:cNvSpPr>
            <a:spLocks noGrp="1"/>
          </p:cNvSpPr>
          <p:nvPr>
            <p:ph type="subTitle" idx="1"/>
          </p:nvPr>
        </p:nvSpPr>
        <p:spPr>
          <a:xfrm>
            <a:off x="809426" y="3703967"/>
            <a:ext cx="5760000" cy="1051200"/>
          </a:xfrm>
        </p:spPr>
        <p:txBody>
          <a:bodyPr lIns="0" tIns="0" rIns="0" bIns="0" rtlCol="0">
            <a:normAutofit/>
          </a:bodyPr>
          <a:lstStyle>
            <a:lvl1pPr marL="0" indent="0" algn="l">
              <a:lnSpc>
                <a:spcPct val="100000"/>
              </a:lnSpc>
              <a:buNone/>
              <a:defRPr sz="22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a:t>Klikk for å redigere undertittelstil i malen</a:t>
            </a:r>
          </a:p>
        </p:txBody>
      </p:sp>
      <p:sp>
        <p:nvSpPr>
          <p:cNvPr id="5" name="Plassholder for bilde 8"/>
          <p:cNvSpPr>
            <a:spLocks noGrp="1"/>
          </p:cNvSpPr>
          <p:nvPr>
            <p:ph type="pic" sz="quarter" idx="12"/>
          </p:nvPr>
        </p:nvSpPr>
        <p:spPr>
          <a:xfrm>
            <a:off x="7152000" y="5495"/>
            <a:ext cx="5040000" cy="3384000"/>
          </a:xfrm>
        </p:spPr>
        <p:txBody>
          <a:bodyPr rtlCol="0"/>
          <a:lstStyle>
            <a:lvl1pPr marL="0" indent="0">
              <a:buNone/>
              <a:defRPr/>
            </a:lvl1pPr>
          </a:lstStyle>
          <a:p>
            <a:pPr rtl="0"/>
            <a:r>
              <a:rPr lang="en-GB"/>
              <a:t>Klikk ikonet for å legge til et bilde</a:t>
            </a:r>
          </a:p>
        </p:txBody>
      </p:sp>
      <p:cxnSp>
        <p:nvCxnSpPr>
          <p:cNvPr id="11" name="Rett linje 10"/>
          <p:cNvCxnSpPr/>
          <p:nvPr userDrawn="1"/>
        </p:nvCxnSpPr>
        <p:spPr>
          <a:xfrm>
            <a:off x="809427" y="3434389"/>
            <a:ext cx="42193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Plassholder for bilde 8"/>
          <p:cNvSpPr>
            <a:spLocks noGrp="1"/>
          </p:cNvSpPr>
          <p:nvPr>
            <p:ph type="pic" sz="quarter" idx="13"/>
          </p:nvPr>
        </p:nvSpPr>
        <p:spPr>
          <a:xfrm>
            <a:off x="7152000" y="3468783"/>
            <a:ext cx="5040000" cy="3384000"/>
          </a:xfrm>
        </p:spPr>
        <p:txBody>
          <a:bodyPr rtlCol="0"/>
          <a:lstStyle>
            <a:lvl1pPr marL="0" indent="0">
              <a:buNone/>
              <a:defRPr/>
            </a:lvl1pPr>
          </a:lstStyle>
          <a:p>
            <a:pPr rtl="0"/>
            <a:r>
              <a:rPr lang="en-GB"/>
              <a:t>Klikk ikonet for å legge til et bilde</a:t>
            </a:r>
          </a:p>
        </p:txBody>
      </p:sp>
    </p:spTree>
    <p:extLst>
      <p:ext uri="{BB962C8B-B14F-4D97-AF65-F5344CB8AC3E}">
        <p14:creationId xmlns:p14="http://schemas.microsoft.com/office/powerpoint/2010/main" val="1552147236"/>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En spalte uten bakgrunn">
    <p:spTree>
      <p:nvGrpSpPr>
        <p:cNvPr id="1" name=""/>
        <p:cNvGrpSpPr/>
        <p:nvPr/>
      </p:nvGrpSpPr>
      <p:grpSpPr>
        <a:xfrm>
          <a:off x="0" y="0"/>
          <a:ext cx="0" cy="0"/>
          <a:chOff x="0" y="0"/>
          <a:chExt cx="0" cy="0"/>
        </a:xfrm>
      </p:grpSpPr>
      <p:grpSp>
        <p:nvGrpSpPr>
          <p:cNvPr id="12" name="Gruppe 11"/>
          <p:cNvGrpSpPr>
            <a:grpSpLocks noChangeAspect="1"/>
          </p:cNvGrpSpPr>
          <p:nvPr userDrawn="1"/>
        </p:nvGrpSpPr>
        <p:grpSpPr>
          <a:xfrm>
            <a:off x="279820" y="6504062"/>
            <a:ext cx="250360" cy="218504"/>
            <a:chOff x="5122863" y="2579688"/>
            <a:chExt cx="1946276" cy="1698625"/>
          </a:xfrm>
          <a:solidFill>
            <a:schemeClr val="bg2"/>
          </a:solidFill>
        </p:grpSpPr>
        <p:sp>
          <p:nvSpPr>
            <p:cNvPr id="13" name="Freeform 5"/>
            <p:cNvSpPr>
              <a:spLocks/>
            </p:cNvSpPr>
            <p:nvPr/>
          </p:nvSpPr>
          <p:spPr bwMode="auto">
            <a:xfrm>
              <a:off x="5122863" y="2579688"/>
              <a:ext cx="554038" cy="747713"/>
            </a:xfrm>
            <a:custGeom>
              <a:avLst/>
              <a:gdLst>
                <a:gd name="T0" fmla="*/ 164 w 349"/>
                <a:gd name="T1" fmla="*/ 0 h 471"/>
                <a:gd name="T2" fmla="*/ 0 w 349"/>
                <a:gd name="T3" fmla="*/ 0 h 471"/>
                <a:gd name="T4" fmla="*/ 271 w 349"/>
                <a:gd name="T5" fmla="*/ 471 h 471"/>
                <a:gd name="T6" fmla="*/ 349 w 349"/>
                <a:gd name="T7" fmla="*/ 328 h 471"/>
                <a:gd name="T8" fmla="*/ 164 w 349"/>
                <a:gd name="T9" fmla="*/ 0 h 471"/>
              </a:gdLst>
              <a:ahLst/>
              <a:cxnLst>
                <a:cxn ang="0">
                  <a:pos x="T0" y="T1"/>
                </a:cxn>
                <a:cxn ang="0">
                  <a:pos x="T2" y="T3"/>
                </a:cxn>
                <a:cxn ang="0">
                  <a:pos x="T4" y="T5"/>
                </a:cxn>
                <a:cxn ang="0">
                  <a:pos x="T6" y="T7"/>
                </a:cxn>
                <a:cxn ang="0">
                  <a:pos x="T8" y="T9"/>
                </a:cxn>
              </a:cxnLst>
              <a:rect l="0" t="0" r="r" b="b"/>
              <a:pathLst>
                <a:path w="349" h="471">
                  <a:moveTo>
                    <a:pt x="164" y="0"/>
                  </a:moveTo>
                  <a:lnTo>
                    <a:pt x="0" y="0"/>
                  </a:lnTo>
                  <a:lnTo>
                    <a:pt x="271" y="471"/>
                  </a:lnTo>
                  <a:lnTo>
                    <a:pt x="349" y="328"/>
                  </a:lnTo>
                  <a:lnTo>
                    <a:pt x="164"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sp>
          <p:nvSpPr>
            <p:cNvPr id="14" name="Freeform 6"/>
            <p:cNvSpPr>
              <a:spLocks/>
            </p:cNvSpPr>
            <p:nvPr/>
          </p:nvSpPr>
          <p:spPr bwMode="auto">
            <a:xfrm>
              <a:off x="5756276" y="2579688"/>
              <a:ext cx="1312863" cy="1698625"/>
            </a:xfrm>
            <a:custGeom>
              <a:avLst/>
              <a:gdLst>
                <a:gd name="T0" fmla="*/ 406 w 827"/>
                <a:gd name="T1" fmla="*/ 0 h 1070"/>
                <a:gd name="T2" fmla="*/ 86 w 827"/>
                <a:gd name="T3" fmla="*/ 564 h 1070"/>
                <a:gd name="T4" fmla="*/ 0 w 827"/>
                <a:gd name="T5" fmla="*/ 699 h 1070"/>
                <a:gd name="T6" fmla="*/ 214 w 827"/>
                <a:gd name="T7" fmla="*/ 1070 h 1070"/>
                <a:gd name="T8" fmla="*/ 827 w 827"/>
                <a:gd name="T9" fmla="*/ 0 h 1070"/>
                <a:gd name="T10" fmla="*/ 406 w 827"/>
                <a:gd name="T11" fmla="*/ 0 h 1070"/>
              </a:gdLst>
              <a:ahLst/>
              <a:cxnLst>
                <a:cxn ang="0">
                  <a:pos x="T0" y="T1"/>
                </a:cxn>
                <a:cxn ang="0">
                  <a:pos x="T2" y="T3"/>
                </a:cxn>
                <a:cxn ang="0">
                  <a:pos x="T4" y="T5"/>
                </a:cxn>
                <a:cxn ang="0">
                  <a:pos x="T6" y="T7"/>
                </a:cxn>
                <a:cxn ang="0">
                  <a:pos x="T8" y="T9"/>
                </a:cxn>
                <a:cxn ang="0">
                  <a:pos x="T10" y="T11"/>
                </a:cxn>
              </a:cxnLst>
              <a:rect l="0" t="0" r="r" b="b"/>
              <a:pathLst>
                <a:path w="827" h="1070">
                  <a:moveTo>
                    <a:pt x="406" y="0"/>
                  </a:moveTo>
                  <a:lnTo>
                    <a:pt x="86" y="564"/>
                  </a:lnTo>
                  <a:lnTo>
                    <a:pt x="0" y="699"/>
                  </a:lnTo>
                  <a:lnTo>
                    <a:pt x="214" y="1070"/>
                  </a:lnTo>
                  <a:lnTo>
                    <a:pt x="827" y="0"/>
                  </a:lnTo>
                  <a:lnTo>
                    <a:pt x="40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grpSp>
      <p:sp>
        <p:nvSpPr>
          <p:cNvPr id="2" name="Tittel 1"/>
          <p:cNvSpPr>
            <a:spLocks noGrp="1"/>
          </p:cNvSpPr>
          <p:nvPr>
            <p:ph type="title"/>
          </p:nvPr>
        </p:nvSpPr>
        <p:spPr>
          <a:xfrm>
            <a:off x="809976" y="-2081"/>
            <a:ext cx="10926000" cy="1350000"/>
          </a:xfrm>
        </p:spPr>
        <p:txBody>
          <a:bodyPr rtlCol="0"/>
          <a:lstStyle>
            <a:lvl1pPr algn="l">
              <a:defRPr/>
            </a:lvl1pPr>
          </a:lstStyle>
          <a:p>
            <a:pPr rtl="0"/>
            <a:r>
              <a:rPr lang="en-GB"/>
              <a:t>Klikk for å redigere tittelstil</a:t>
            </a:r>
          </a:p>
        </p:txBody>
      </p:sp>
      <p:sp>
        <p:nvSpPr>
          <p:cNvPr id="3" name="Plassholder for innhold 2"/>
          <p:cNvSpPr>
            <a:spLocks noGrp="1"/>
          </p:cNvSpPr>
          <p:nvPr>
            <p:ph idx="1"/>
          </p:nvPr>
        </p:nvSpPr>
        <p:spPr>
          <a:xfrm>
            <a:off x="809976" y="1354730"/>
            <a:ext cx="10926000" cy="5058000"/>
          </a:xfrm>
          <a:noFill/>
          <a:ln>
            <a:noFill/>
          </a:ln>
        </p:spPr>
        <p:txBody>
          <a:bodyPr lIns="0" tIns="0" rIns="0" bIns="0" rtlCol="0">
            <a:normAutofit/>
          </a:bodyPr>
          <a:lstStyle>
            <a:lvl1pPr>
              <a:lnSpc>
                <a:spcPct val="100000"/>
              </a:lnSpc>
              <a:defRPr sz="2000"/>
            </a:lvl1pPr>
            <a:lvl2pPr>
              <a:lnSpc>
                <a:spcPct val="100000"/>
              </a:lnSpc>
              <a:defRPr sz="2000">
                <a:latin typeface="+mn-lt"/>
              </a:defRPr>
            </a:lvl2pPr>
            <a:lvl3pPr>
              <a:lnSpc>
                <a:spcPct val="100000"/>
              </a:lnSpc>
              <a:defRPr sz="2000">
                <a:latin typeface="+mn-lt"/>
              </a:defRPr>
            </a:lvl3pPr>
            <a:lvl4pPr>
              <a:lnSpc>
                <a:spcPct val="100000"/>
              </a:lnSpc>
              <a:defRPr sz="2000">
                <a:latin typeface="+mn-lt"/>
              </a:defRPr>
            </a:lvl4pPr>
            <a:lvl5pPr>
              <a:lnSpc>
                <a:spcPct val="100000"/>
              </a:lnSpc>
              <a:defRPr sz="2000">
                <a:latin typeface="+mn-lt"/>
              </a:defRPr>
            </a:lvl5pPr>
          </a:lstStyle>
          <a:p>
            <a:pPr lvl="0" rtl="0"/>
            <a:r>
              <a:rPr lang="en-GB"/>
              <a:t>Rediger tekststiler i malen</a:t>
            </a:r>
          </a:p>
          <a:p>
            <a:pPr lvl="1" rtl="0"/>
            <a:r>
              <a:rPr lang="en-GB"/>
              <a:t>Andre nivå</a:t>
            </a:r>
          </a:p>
          <a:p>
            <a:pPr lvl="2" rtl="0"/>
            <a:r>
              <a:rPr lang="en-GB"/>
              <a:t>Tredje nivå</a:t>
            </a:r>
          </a:p>
          <a:p>
            <a:pPr lvl="3" rtl="0"/>
            <a:r>
              <a:rPr lang="en-GB"/>
              <a:t>Fjerde nivå</a:t>
            </a:r>
          </a:p>
          <a:p>
            <a:pPr lvl="4" rtl="0"/>
            <a:r>
              <a:rPr lang="en-GB"/>
              <a:t>Femte nivå</a:t>
            </a:r>
          </a:p>
        </p:txBody>
      </p:sp>
      <p:sp>
        <p:nvSpPr>
          <p:cNvPr id="4" name="Plassholder for bunntekst 3"/>
          <p:cNvSpPr>
            <a:spLocks noGrp="1"/>
          </p:cNvSpPr>
          <p:nvPr>
            <p:ph type="ftr" sz="quarter" idx="10"/>
          </p:nvPr>
        </p:nvSpPr>
        <p:spPr/>
        <p:txBody>
          <a:bodyPr rtlCol="0"/>
          <a:lstStyle/>
          <a:p>
            <a:pPr rtl="0"/>
            <a:r>
              <a:rPr lang="nb-NO"/>
              <a:t>ADA512, Autumn 2026</a:t>
            </a:r>
          </a:p>
        </p:txBody>
      </p:sp>
      <p:sp>
        <p:nvSpPr>
          <p:cNvPr id="6" name="Plassholder for lysbildenummer 5"/>
          <p:cNvSpPr>
            <a:spLocks noGrp="1"/>
          </p:cNvSpPr>
          <p:nvPr>
            <p:ph type="sldNum" sz="quarter" idx="11"/>
          </p:nvPr>
        </p:nvSpPr>
        <p:spPr/>
        <p:txBody>
          <a:bodyPr rtlCol="0"/>
          <a:lstStyle/>
          <a:p>
            <a:pPr rtl="0"/>
            <a:fld id="{D0BEE4E4-E047-6A49-BCB9-4D06E7BA237B}" type="slidenum">
              <a:rPr lang="nb-NO" smtClean="0"/>
              <a:pPr/>
              <a:t>‹#›</a:t>
            </a:fld>
            <a:endParaRPr lang="nb-NO"/>
          </a:p>
        </p:txBody>
      </p:sp>
    </p:spTree>
    <p:extLst>
      <p:ext uri="{BB962C8B-B14F-4D97-AF65-F5344CB8AC3E}">
        <p14:creationId xmlns:p14="http://schemas.microsoft.com/office/powerpoint/2010/main" val="482388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o spalter uten bakgrunn">
    <p:spTree>
      <p:nvGrpSpPr>
        <p:cNvPr id="1" name=""/>
        <p:cNvGrpSpPr/>
        <p:nvPr/>
      </p:nvGrpSpPr>
      <p:grpSpPr>
        <a:xfrm>
          <a:off x="0" y="0"/>
          <a:ext cx="0" cy="0"/>
          <a:chOff x="0" y="0"/>
          <a:chExt cx="0" cy="0"/>
        </a:xfrm>
      </p:grpSpPr>
      <p:grpSp>
        <p:nvGrpSpPr>
          <p:cNvPr id="12" name="Gruppe 11"/>
          <p:cNvGrpSpPr>
            <a:grpSpLocks noChangeAspect="1"/>
          </p:cNvGrpSpPr>
          <p:nvPr userDrawn="1"/>
        </p:nvGrpSpPr>
        <p:grpSpPr>
          <a:xfrm>
            <a:off x="279820" y="6504062"/>
            <a:ext cx="250360" cy="218504"/>
            <a:chOff x="5122863" y="2579688"/>
            <a:chExt cx="1946276" cy="1698625"/>
          </a:xfrm>
          <a:solidFill>
            <a:schemeClr val="bg2"/>
          </a:solidFill>
        </p:grpSpPr>
        <p:sp>
          <p:nvSpPr>
            <p:cNvPr id="13" name="Freeform 5"/>
            <p:cNvSpPr>
              <a:spLocks/>
            </p:cNvSpPr>
            <p:nvPr/>
          </p:nvSpPr>
          <p:spPr bwMode="auto">
            <a:xfrm>
              <a:off x="5122863" y="2579688"/>
              <a:ext cx="554038" cy="747713"/>
            </a:xfrm>
            <a:custGeom>
              <a:avLst/>
              <a:gdLst>
                <a:gd name="T0" fmla="*/ 164 w 349"/>
                <a:gd name="T1" fmla="*/ 0 h 471"/>
                <a:gd name="T2" fmla="*/ 0 w 349"/>
                <a:gd name="T3" fmla="*/ 0 h 471"/>
                <a:gd name="T4" fmla="*/ 271 w 349"/>
                <a:gd name="T5" fmla="*/ 471 h 471"/>
                <a:gd name="T6" fmla="*/ 349 w 349"/>
                <a:gd name="T7" fmla="*/ 328 h 471"/>
                <a:gd name="T8" fmla="*/ 164 w 349"/>
                <a:gd name="T9" fmla="*/ 0 h 471"/>
              </a:gdLst>
              <a:ahLst/>
              <a:cxnLst>
                <a:cxn ang="0">
                  <a:pos x="T0" y="T1"/>
                </a:cxn>
                <a:cxn ang="0">
                  <a:pos x="T2" y="T3"/>
                </a:cxn>
                <a:cxn ang="0">
                  <a:pos x="T4" y="T5"/>
                </a:cxn>
                <a:cxn ang="0">
                  <a:pos x="T6" y="T7"/>
                </a:cxn>
                <a:cxn ang="0">
                  <a:pos x="T8" y="T9"/>
                </a:cxn>
              </a:cxnLst>
              <a:rect l="0" t="0" r="r" b="b"/>
              <a:pathLst>
                <a:path w="349" h="471">
                  <a:moveTo>
                    <a:pt x="164" y="0"/>
                  </a:moveTo>
                  <a:lnTo>
                    <a:pt x="0" y="0"/>
                  </a:lnTo>
                  <a:lnTo>
                    <a:pt x="271" y="471"/>
                  </a:lnTo>
                  <a:lnTo>
                    <a:pt x="349" y="328"/>
                  </a:lnTo>
                  <a:lnTo>
                    <a:pt x="164"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sp>
          <p:nvSpPr>
            <p:cNvPr id="14" name="Freeform 6"/>
            <p:cNvSpPr>
              <a:spLocks/>
            </p:cNvSpPr>
            <p:nvPr/>
          </p:nvSpPr>
          <p:spPr bwMode="auto">
            <a:xfrm>
              <a:off x="5756276" y="2579688"/>
              <a:ext cx="1312863" cy="1698625"/>
            </a:xfrm>
            <a:custGeom>
              <a:avLst/>
              <a:gdLst>
                <a:gd name="T0" fmla="*/ 406 w 827"/>
                <a:gd name="T1" fmla="*/ 0 h 1070"/>
                <a:gd name="T2" fmla="*/ 86 w 827"/>
                <a:gd name="T3" fmla="*/ 564 h 1070"/>
                <a:gd name="T4" fmla="*/ 0 w 827"/>
                <a:gd name="T5" fmla="*/ 699 h 1070"/>
                <a:gd name="T6" fmla="*/ 214 w 827"/>
                <a:gd name="T7" fmla="*/ 1070 h 1070"/>
                <a:gd name="T8" fmla="*/ 827 w 827"/>
                <a:gd name="T9" fmla="*/ 0 h 1070"/>
                <a:gd name="T10" fmla="*/ 406 w 827"/>
                <a:gd name="T11" fmla="*/ 0 h 1070"/>
              </a:gdLst>
              <a:ahLst/>
              <a:cxnLst>
                <a:cxn ang="0">
                  <a:pos x="T0" y="T1"/>
                </a:cxn>
                <a:cxn ang="0">
                  <a:pos x="T2" y="T3"/>
                </a:cxn>
                <a:cxn ang="0">
                  <a:pos x="T4" y="T5"/>
                </a:cxn>
                <a:cxn ang="0">
                  <a:pos x="T6" y="T7"/>
                </a:cxn>
                <a:cxn ang="0">
                  <a:pos x="T8" y="T9"/>
                </a:cxn>
                <a:cxn ang="0">
                  <a:pos x="T10" y="T11"/>
                </a:cxn>
              </a:cxnLst>
              <a:rect l="0" t="0" r="r" b="b"/>
              <a:pathLst>
                <a:path w="827" h="1070">
                  <a:moveTo>
                    <a:pt x="406" y="0"/>
                  </a:moveTo>
                  <a:lnTo>
                    <a:pt x="86" y="564"/>
                  </a:lnTo>
                  <a:lnTo>
                    <a:pt x="0" y="699"/>
                  </a:lnTo>
                  <a:lnTo>
                    <a:pt x="214" y="1070"/>
                  </a:lnTo>
                  <a:lnTo>
                    <a:pt x="827" y="0"/>
                  </a:lnTo>
                  <a:lnTo>
                    <a:pt x="40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grpSp>
      <p:sp>
        <p:nvSpPr>
          <p:cNvPr id="20" name="Plassholder for bunntekst 19"/>
          <p:cNvSpPr>
            <a:spLocks noGrp="1"/>
          </p:cNvSpPr>
          <p:nvPr>
            <p:ph type="ftr" sz="quarter" idx="10"/>
          </p:nvPr>
        </p:nvSpPr>
        <p:spPr/>
        <p:txBody>
          <a:bodyPr rtlCol="0"/>
          <a:lstStyle/>
          <a:p>
            <a:pPr rtl="0"/>
            <a:r>
              <a:rPr lang="nb-NO"/>
              <a:t>ADA512, Autumn 2026</a:t>
            </a:r>
          </a:p>
        </p:txBody>
      </p:sp>
      <p:sp>
        <p:nvSpPr>
          <p:cNvPr id="21" name="Plassholder for lysbildenummer 20"/>
          <p:cNvSpPr>
            <a:spLocks noGrp="1"/>
          </p:cNvSpPr>
          <p:nvPr>
            <p:ph type="sldNum" sz="quarter" idx="11"/>
          </p:nvPr>
        </p:nvSpPr>
        <p:spPr/>
        <p:txBody>
          <a:bodyPr rtlCol="0"/>
          <a:lstStyle/>
          <a:p>
            <a:pPr rtl="0"/>
            <a:fld id="{D0BEE4E4-E047-6A49-BCB9-4D06E7BA237B}" type="slidenum">
              <a:rPr lang="nb-NO" smtClean="0"/>
              <a:pPr/>
              <a:t>‹#›</a:t>
            </a:fld>
            <a:endParaRPr lang="nb-NO"/>
          </a:p>
        </p:txBody>
      </p:sp>
      <p:sp>
        <p:nvSpPr>
          <p:cNvPr id="2" name="Tittel 1"/>
          <p:cNvSpPr>
            <a:spLocks noGrp="1"/>
          </p:cNvSpPr>
          <p:nvPr>
            <p:ph type="title"/>
          </p:nvPr>
        </p:nvSpPr>
        <p:spPr>
          <a:xfrm>
            <a:off x="809976" y="-2081"/>
            <a:ext cx="10926000" cy="1350000"/>
          </a:xfrm>
        </p:spPr>
        <p:txBody>
          <a:bodyPr rtlCol="0"/>
          <a:lstStyle>
            <a:lvl1pPr algn="l">
              <a:defRPr/>
            </a:lvl1pPr>
          </a:lstStyle>
          <a:p>
            <a:pPr rtl="0"/>
            <a:r>
              <a:rPr lang="en-GB"/>
              <a:t>Klikk for å redigere tittelstil</a:t>
            </a:r>
          </a:p>
        </p:txBody>
      </p:sp>
      <p:sp>
        <p:nvSpPr>
          <p:cNvPr id="3" name="Plassholder for innhold 2"/>
          <p:cNvSpPr>
            <a:spLocks noGrp="1"/>
          </p:cNvSpPr>
          <p:nvPr>
            <p:ph idx="1"/>
          </p:nvPr>
        </p:nvSpPr>
        <p:spPr>
          <a:xfrm>
            <a:off x="809047" y="1352020"/>
            <a:ext cx="5256000" cy="5058000"/>
          </a:xfrm>
          <a:noFill/>
          <a:ln>
            <a:noFill/>
          </a:ln>
        </p:spPr>
        <p:txBody>
          <a:bodyPr lIns="180000" tIns="180000" rIns="180000" bIns="180000" rtlCol="0">
            <a:normAutofit/>
          </a:bodyPr>
          <a:lstStyle>
            <a:lvl1pPr>
              <a:lnSpc>
                <a:spcPct val="100000"/>
              </a:lnSpc>
              <a:defRPr sz="2000"/>
            </a:lvl1pPr>
            <a:lvl2pPr>
              <a:lnSpc>
                <a:spcPct val="100000"/>
              </a:lnSpc>
              <a:defRPr sz="2000">
                <a:latin typeface="+mn-lt"/>
              </a:defRPr>
            </a:lvl2pPr>
            <a:lvl3pPr>
              <a:lnSpc>
                <a:spcPct val="100000"/>
              </a:lnSpc>
              <a:defRPr sz="2000">
                <a:latin typeface="+mn-lt"/>
              </a:defRPr>
            </a:lvl3pPr>
            <a:lvl4pPr>
              <a:lnSpc>
                <a:spcPct val="100000"/>
              </a:lnSpc>
              <a:defRPr sz="2000">
                <a:latin typeface="+mn-lt"/>
              </a:defRPr>
            </a:lvl4pPr>
            <a:lvl5pPr>
              <a:lnSpc>
                <a:spcPct val="100000"/>
              </a:lnSpc>
              <a:defRPr sz="2000">
                <a:latin typeface="+mn-lt"/>
              </a:defRPr>
            </a:lvl5pPr>
          </a:lstStyle>
          <a:p>
            <a:pPr lvl="0" rtl="0"/>
            <a:r>
              <a:rPr lang="en-GB"/>
              <a:t>Rediger tekststiler i malen</a:t>
            </a:r>
          </a:p>
          <a:p>
            <a:pPr lvl="1" rtl="0"/>
            <a:r>
              <a:rPr lang="en-GB"/>
              <a:t>Andre nivå</a:t>
            </a:r>
          </a:p>
          <a:p>
            <a:pPr lvl="2" rtl="0"/>
            <a:r>
              <a:rPr lang="en-GB"/>
              <a:t>Tredje nivå</a:t>
            </a:r>
          </a:p>
          <a:p>
            <a:pPr lvl="3" rtl="0"/>
            <a:r>
              <a:rPr lang="en-GB"/>
              <a:t>Fjerde nivå</a:t>
            </a:r>
          </a:p>
          <a:p>
            <a:pPr lvl="4" rtl="0"/>
            <a:r>
              <a:rPr lang="en-GB"/>
              <a:t>Femte nivå</a:t>
            </a:r>
          </a:p>
        </p:txBody>
      </p:sp>
      <p:sp>
        <p:nvSpPr>
          <p:cNvPr id="15" name="Plassholder for innhold 2"/>
          <p:cNvSpPr>
            <a:spLocks noGrp="1"/>
          </p:cNvSpPr>
          <p:nvPr>
            <p:ph idx="12"/>
          </p:nvPr>
        </p:nvSpPr>
        <p:spPr>
          <a:xfrm>
            <a:off x="6479976" y="1347919"/>
            <a:ext cx="5256000" cy="5058000"/>
          </a:xfrm>
          <a:noFill/>
          <a:ln>
            <a:noFill/>
          </a:ln>
        </p:spPr>
        <p:txBody>
          <a:bodyPr lIns="180000" tIns="180000" rIns="180000" bIns="180000" rtlCol="0">
            <a:normAutofit/>
          </a:bodyPr>
          <a:lstStyle>
            <a:lvl1pPr>
              <a:lnSpc>
                <a:spcPct val="100000"/>
              </a:lnSpc>
              <a:defRPr sz="2000"/>
            </a:lvl1pPr>
            <a:lvl2pPr>
              <a:lnSpc>
                <a:spcPct val="100000"/>
              </a:lnSpc>
              <a:defRPr sz="2000">
                <a:latin typeface="+mn-lt"/>
              </a:defRPr>
            </a:lvl2pPr>
            <a:lvl3pPr>
              <a:lnSpc>
                <a:spcPct val="100000"/>
              </a:lnSpc>
              <a:defRPr sz="2000">
                <a:latin typeface="+mn-lt"/>
              </a:defRPr>
            </a:lvl3pPr>
            <a:lvl4pPr>
              <a:lnSpc>
                <a:spcPct val="100000"/>
              </a:lnSpc>
              <a:defRPr sz="2000">
                <a:latin typeface="+mn-lt"/>
              </a:defRPr>
            </a:lvl4pPr>
            <a:lvl5pPr>
              <a:lnSpc>
                <a:spcPct val="100000"/>
              </a:lnSpc>
              <a:defRPr sz="2000">
                <a:latin typeface="+mn-lt"/>
              </a:defRPr>
            </a:lvl5pPr>
          </a:lstStyle>
          <a:p>
            <a:pPr lvl="0" rtl="0"/>
            <a:r>
              <a:rPr lang="en-GB"/>
              <a:t>Rediger tekststiler i malen</a:t>
            </a:r>
          </a:p>
          <a:p>
            <a:pPr lvl="1" rtl="0"/>
            <a:r>
              <a:rPr lang="en-GB"/>
              <a:t>Andre nivå</a:t>
            </a:r>
          </a:p>
          <a:p>
            <a:pPr lvl="2" rtl="0"/>
            <a:r>
              <a:rPr lang="en-GB"/>
              <a:t>Tredje nivå</a:t>
            </a:r>
          </a:p>
          <a:p>
            <a:pPr lvl="3" rtl="0"/>
            <a:r>
              <a:rPr lang="en-GB"/>
              <a:t>Fjerde nivå</a:t>
            </a:r>
          </a:p>
          <a:p>
            <a:pPr lvl="4" rtl="0"/>
            <a:r>
              <a:rPr lang="en-GB"/>
              <a:t>Femte nivå</a:t>
            </a:r>
          </a:p>
        </p:txBody>
      </p:sp>
    </p:spTree>
    <p:extLst>
      <p:ext uri="{BB962C8B-B14F-4D97-AF65-F5344CB8AC3E}">
        <p14:creationId xmlns:p14="http://schemas.microsoft.com/office/powerpoint/2010/main" val="8961912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Tree>
    <p:extLst>
      <p:ext uri="{BB962C8B-B14F-4D97-AF65-F5344CB8AC3E}">
        <p14:creationId xmlns:p14="http://schemas.microsoft.com/office/powerpoint/2010/main" val="9827582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ldeside">
    <p:bg>
      <p:bgRef idx="1001">
        <a:schemeClr val="bg1"/>
      </p:bgRef>
    </p:bg>
    <p:spTree>
      <p:nvGrpSpPr>
        <p:cNvPr id="1" name=""/>
        <p:cNvGrpSpPr/>
        <p:nvPr/>
      </p:nvGrpSpPr>
      <p:grpSpPr>
        <a:xfrm>
          <a:off x="0" y="0"/>
          <a:ext cx="0" cy="0"/>
          <a:chOff x="0" y="0"/>
          <a:chExt cx="0" cy="0"/>
        </a:xfrm>
      </p:grpSpPr>
      <p:sp>
        <p:nvSpPr>
          <p:cNvPr id="7" name="Plassholder for bilde 6"/>
          <p:cNvSpPr>
            <a:spLocks noGrp="1"/>
          </p:cNvSpPr>
          <p:nvPr>
            <p:ph type="pic" sz="quarter" idx="10"/>
          </p:nvPr>
        </p:nvSpPr>
        <p:spPr>
          <a:xfrm>
            <a:off x="0" y="0"/>
            <a:ext cx="12192000" cy="6858000"/>
          </a:xfrm>
        </p:spPr>
        <p:txBody>
          <a:bodyPr rtlCol="0"/>
          <a:lstStyle>
            <a:lvl1pPr marL="0" indent="0">
              <a:buNone/>
              <a:defRPr/>
            </a:lvl1pPr>
          </a:lstStyle>
          <a:p>
            <a:pPr rtl="0"/>
            <a:r>
              <a:rPr lang="en-GB"/>
              <a:t>Klikk ikonet for å legge til et bilde</a:t>
            </a:r>
          </a:p>
        </p:txBody>
      </p:sp>
    </p:spTree>
    <p:extLst>
      <p:ext uri="{BB962C8B-B14F-4D97-AF65-F5344CB8AC3E}">
        <p14:creationId xmlns:p14="http://schemas.microsoft.com/office/powerpoint/2010/main" val="133967362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vslutningsside lys">
    <p:bg>
      <p:bgRef idx="1001">
        <a:schemeClr val="bg1"/>
      </p:bgRef>
    </p:bg>
    <p:spTree>
      <p:nvGrpSpPr>
        <p:cNvPr id="1" name=""/>
        <p:cNvGrpSpPr/>
        <p:nvPr/>
      </p:nvGrpSpPr>
      <p:grpSpPr>
        <a:xfrm>
          <a:off x="0" y="0"/>
          <a:ext cx="0" cy="0"/>
          <a:chOff x="0" y="0"/>
          <a:chExt cx="0" cy="0"/>
        </a:xfrm>
      </p:grpSpPr>
      <p:sp>
        <p:nvSpPr>
          <p:cNvPr id="8" name="Tittel 1"/>
          <p:cNvSpPr>
            <a:spLocks noGrp="1"/>
          </p:cNvSpPr>
          <p:nvPr>
            <p:ph type="ctrTitle"/>
          </p:nvPr>
        </p:nvSpPr>
        <p:spPr>
          <a:xfrm>
            <a:off x="2856000" y="5755342"/>
            <a:ext cx="6480000" cy="360000"/>
          </a:xfrm>
        </p:spPr>
        <p:txBody>
          <a:bodyPr lIns="0" tIns="0" rIns="0" bIns="0" rtlCol="0" anchor="b">
            <a:normAutofit/>
          </a:bodyPr>
          <a:lstStyle>
            <a:lvl1pPr algn="ctr">
              <a:lnSpc>
                <a:spcPct val="100000"/>
              </a:lnSpc>
              <a:defRPr sz="2800" b="0">
                <a:solidFill>
                  <a:schemeClr val="tx2"/>
                </a:solidFill>
              </a:defRPr>
            </a:lvl1pPr>
          </a:lstStyle>
          <a:p>
            <a:pPr rtl="0"/>
            <a:r>
              <a:rPr lang="en-GB"/>
              <a:t>Klikk for å redigere tittelstil</a:t>
            </a:r>
          </a:p>
        </p:txBody>
      </p:sp>
      <p:grpSp>
        <p:nvGrpSpPr>
          <p:cNvPr id="3" name="Gruppe 2"/>
          <p:cNvGrpSpPr>
            <a:grpSpLocks noChangeAspect="1"/>
          </p:cNvGrpSpPr>
          <p:nvPr userDrawn="1"/>
        </p:nvGrpSpPr>
        <p:grpSpPr>
          <a:xfrm>
            <a:off x="3774141" y="1039515"/>
            <a:ext cx="4643718" cy="4052830"/>
            <a:chOff x="5122863" y="2579688"/>
            <a:chExt cx="1946276" cy="1698625"/>
          </a:xfrm>
          <a:solidFill>
            <a:schemeClr val="accent1"/>
          </a:solidFill>
        </p:grpSpPr>
        <p:sp>
          <p:nvSpPr>
            <p:cNvPr id="4" name="Freeform 5"/>
            <p:cNvSpPr>
              <a:spLocks/>
            </p:cNvSpPr>
            <p:nvPr/>
          </p:nvSpPr>
          <p:spPr bwMode="auto">
            <a:xfrm>
              <a:off x="5122863" y="2579688"/>
              <a:ext cx="554038" cy="747713"/>
            </a:xfrm>
            <a:custGeom>
              <a:avLst/>
              <a:gdLst>
                <a:gd name="T0" fmla="*/ 164 w 349"/>
                <a:gd name="T1" fmla="*/ 0 h 471"/>
                <a:gd name="T2" fmla="*/ 0 w 349"/>
                <a:gd name="T3" fmla="*/ 0 h 471"/>
                <a:gd name="T4" fmla="*/ 271 w 349"/>
                <a:gd name="T5" fmla="*/ 471 h 471"/>
                <a:gd name="T6" fmla="*/ 349 w 349"/>
                <a:gd name="T7" fmla="*/ 328 h 471"/>
                <a:gd name="T8" fmla="*/ 164 w 349"/>
                <a:gd name="T9" fmla="*/ 0 h 471"/>
              </a:gdLst>
              <a:ahLst/>
              <a:cxnLst>
                <a:cxn ang="0">
                  <a:pos x="T0" y="T1"/>
                </a:cxn>
                <a:cxn ang="0">
                  <a:pos x="T2" y="T3"/>
                </a:cxn>
                <a:cxn ang="0">
                  <a:pos x="T4" y="T5"/>
                </a:cxn>
                <a:cxn ang="0">
                  <a:pos x="T6" y="T7"/>
                </a:cxn>
                <a:cxn ang="0">
                  <a:pos x="T8" y="T9"/>
                </a:cxn>
              </a:cxnLst>
              <a:rect l="0" t="0" r="r" b="b"/>
              <a:pathLst>
                <a:path w="349" h="471">
                  <a:moveTo>
                    <a:pt x="164" y="0"/>
                  </a:moveTo>
                  <a:lnTo>
                    <a:pt x="0" y="0"/>
                  </a:lnTo>
                  <a:lnTo>
                    <a:pt x="271" y="471"/>
                  </a:lnTo>
                  <a:lnTo>
                    <a:pt x="349" y="328"/>
                  </a:lnTo>
                  <a:lnTo>
                    <a:pt x="164"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sp>
          <p:nvSpPr>
            <p:cNvPr id="5" name="Freeform 6"/>
            <p:cNvSpPr>
              <a:spLocks/>
            </p:cNvSpPr>
            <p:nvPr/>
          </p:nvSpPr>
          <p:spPr bwMode="auto">
            <a:xfrm>
              <a:off x="5756276" y="2579688"/>
              <a:ext cx="1312863" cy="1698625"/>
            </a:xfrm>
            <a:custGeom>
              <a:avLst/>
              <a:gdLst>
                <a:gd name="T0" fmla="*/ 406 w 827"/>
                <a:gd name="T1" fmla="*/ 0 h 1070"/>
                <a:gd name="T2" fmla="*/ 86 w 827"/>
                <a:gd name="T3" fmla="*/ 564 h 1070"/>
                <a:gd name="T4" fmla="*/ 0 w 827"/>
                <a:gd name="T5" fmla="*/ 699 h 1070"/>
                <a:gd name="T6" fmla="*/ 214 w 827"/>
                <a:gd name="T7" fmla="*/ 1070 h 1070"/>
                <a:gd name="T8" fmla="*/ 827 w 827"/>
                <a:gd name="T9" fmla="*/ 0 h 1070"/>
                <a:gd name="T10" fmla="*/ 406 w 827"/>
                <a:gd name="T11" fmla="*/ 0 h 1070"/>
              </a:gdLst>
              <a:ahLst/>
              <a:cxnLst>
                <a:cxn ang="0">
                  <a:pos x="T0" y="T1"/>
                </a:cxn>
                <a:cxn ang="0">
                  <a:pos x="T2" y="T3"/>
                </a:cxn>
                <a:cxn ang="0">
                  <a:pos x="T4" y="T5"/>
                </a:cxn>
                <a:cxn ang="0">
                  <a:pos x="T6" y="T7"/>
                </a:cxn>
                <a:cxn ang="0">
                  <a:pos x="T8" y="T9"/>
                </a:cxn>
                <a:cxn ang="0">
                  <a:pos x="T10" y="T11"/>
                </a:cxn>
              </a:cxnLst>
              <a:rect l="0" t="0" r="r" b="b"/>
              <a:pathLst>
                <a:path w="827" h="1070">
                  <a:moveTo>
                    <a:pt x="406" y="0"/>
                  </a:moveTo>
                  <a:lnTo>
                    <a:pt x="86" y="564"/>
                  </a:lnTo>
                  <a:lnTo>
                    <a:pt x="0" y="699"/>
                  </a:lnTo>
                  <a:lnTo>
                    <a:pt x="214" y="1070"/>
                  </a:lnTo>
                  <a:lnTo>
                    <a:pt x="827" y="0"/>
                  </a:lnTo>
                  <a:lnTo>
                    <a:pt x="40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grpSp>
    </p:spTree>
    <p:extLst>
      <p:ext uri="{BB962C8B-B14F-4D97-AF65-F5344CB8AC3E}">
        <p14:creationId xmlns:p14="http://schemas.microsoft.com/office/powerpoint/2010/main" val="74426575"/>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vslutningsside mørk">
    <p:bg>
      <p:bgRef idx="1001">
        <a:schemeClr val="bg2"/>
      </p:bgRef>
    </p:bg>
    <p:spTree>
      <p:nvGrpSpPr>
        <p:cNvPr id="1" name=""/>
        <p:cNvGrpSpPr/>
        <p:nvPr/>
      </p:nvGrpSpPr>
      <p:grpSpPr>
        <a:xfrm>
          <a:off x="0" y="0"/>
          <a:ext cx="0" cy="0"/>
          <a:chOff x="0" y="0"/>
          <a:chExt cx="0" cy="0"/>
        </a:xfrm>
      </p:grpSpPr>
      <p:sp>
        <p:nvSpPr>
          <p:cNvPr id="8" name="Tittel 1"/>
          <p:cNvSpPr>
            <a:spLocks noGrp="1"/>
          </p:cNvSpPr>
          <p:nvPr>
            <p:ph type="ctrTitle"/>
          </p:nvPr>
        </p:nvSpPr>
        <p:spPr>
          <a:xfrm>
            <a:off x="2856000" y="5755342"/>
            <a:ext cx="6480000" cy="360000"/>
          </a:xfrm>
        </p:spPr>
        <p:txBody>
          <a:bodyPr lIns="0" tIns="0" rIns="0" bIns="0" rtlCol="0" anchor="b">
            <a:normAutofit/>
          </a:bodyPr>
          <a:lstStyle>
            <a:lvl1pPr algn="ctr">
              <a:lnSpc>
                <a:spcPct val="100000"/>
              </a:lnSpc>
              <a:defRPr sz="2800" b="0">
                <a:solidFill>
                  <a:schemeClr val="tx1"/>
                </a:solidFill>
              </a:defRPr>
            </a:lvl1pPr>
          </a:lstStyle>
          <a:p>
            <a:pPr rtl="0"/>
            <a:r>
              <a:rPr lang="en-GB"/>
              <a:t>Klikk for å redigere tittelstil</a:t>
            </a:r>
          </a:p>
        </p:txBody>
      </p:sp>
      <p:grpSp>
        <p:nvGrpSpPr>
          <p:cNvPr id="3" name="Gruppe 2"/>
          <p:cNvGrpSpPr>
            <a:grpSpLocks noChangeAspect="1"/>
          </p:cNvGrpSpPr>
          <p:nvPr userDrawn="1"/>
        </p:nvGrpSpPr>
        <p:grpSpPr>
          <a:xfrm>
            <a:off x="3774141" y="1039515"/>
            <a:ext cx="4643718" cy="4052830"/>
            <a:chOff x="5122863" y="2579688"/>
            <a:chExt cx="1946276" cy="1698625"/>
          </a:xfrm>
          <a:solidFill>
            <a:schemeClr val="accent1"/>
          </a:solidFill>
        </p:grpSpPr>
        <p:sp>
          <p:nvSpPr>
            <p:cNvPr id="4" name="Freeform 5"/>
            <p:cNvSpPr>
              <a:spLocks/>
            </p:cNvSpPr>
            <p:nvPr/>
          </p:nvSpPr>
          <p:spPr bwMode="auto">
            <a:xfrm>
              <a:off x="5122863" y="2579688"/>
              <a:ext cx="554038" cy="747713"/>
            </a:xfrm>
            <a:custGeom>
              <a:avLst/>
              <a:gdLst>
                <a:gd name="T0" fmla="*/ 164 w 349"/>
                <a:gd name="T1" fmla="*/ 0 h 471"/>
                <a:gd name="T2" fmla="*/ 0 w 349"/>
                <a:gd name="T3" fmla="*/ 0 h 471"/>
                <a:gd name="T4" fmla="*/ 271 w 349"/>
                <a:gd name="T5" fmla="*/ 471 h 471"/>
                <a:gd name="T6" fmla="*/ 349 w 349"/>
                <a:gd name="T7" fmla="*/ 328 h 471"/>
                <a:gd name="T8" fmla="*/ 164 w 349"/>
                <a:gd name="T9" fmla="*/ 0 h 471"/>
              </a:gdLst>
              <a:ahLst/>
              <a:cxnLst>
                <a:cxn ang="0">
                  <a:pos x="T0" y="T1"/>
                </a:cxn>
                <a:cxn ang="0">
                  <a:pos x="T2" y="T3"/>
                </a:cxn>
                <a:cxn ang="0">
                  <a:pos x="T4" y="T5"/>
                </a:cxn>
                <a:cxn ang="0">
                  <a:pos x="T6" y="T7"/>
                </a:cxn>
                <a:cxn ang="0">
                  <a:pos x="T8" y="T9"/>
                </a:cxn>
              </a:cxnLst>
              <a:rect l="0" t="0" r="r" b="b"/>
              <a:pathLst>
                <a:path w="349" h="471">
                  <a:moveTo>
                    <a:pt x="164" y="0"/>
                  </a:moveTo>
                  <a:lnTo>
                    <a:pt x="0" y="0"/>
                  </a:lnTo>
                  <a:lnTo>
                    <a:pt x="271" y="471"/>
                  </a:lnTo>
                  <a:lnTo>
                    <a:pt x="349" y="328"/>
                  </a:lnTo>
                  <a:lnTo>
                    <a:pt x="164"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sp>
          <p:nvSpPr>
            <p:cNvPr id="5" name="Freeform 6"/>
            <p:cNvSpPr>
              <a:spLocks/>
            </p:cNvSpPr>
            <p:nvPr/>
          </p:nvSpPr>
          <p:spPr bwMode="auto">
            <a:xfrm>
              <a:off x="5756276" y="2579688"/>
              <a:ext cx="1312863" cy="1698625"/>
            </a:xfrm>
            <a:custGeom>
              <a:avLst/>
              <a:gdLst>
                <a:gd name="T0" fmla="*/ 406 w 827"/>
                <a:gd name="T1" fmla="*/ 0 h 1070"/>
                <a:gd name="T2" fmla="*/ 86 w 827"/>
                <a:gd name="T3" fmla="*/ 564 h 1070"/>
                <a:gd name="T4" fmla="*/ 0 w 827"/>
                <a:gd name="T5" fmla="*/ 699 h 1070"/>
                <a:gd name="T6" fmla="*/ 214 w 827"/>
                <a:gd name="T7" fmla="*/ 1070 h 1070"/>
                <a:gd name="T8" fmla="*/ 827 w 827"/>
                <a:gd name="T9" fmla="*/ 0 h 1070"/>
                <a:gd name="T10" fmla="*/ 406 w 827"/>
                <a:gd name="T11" fmla="*/ 0 h 1070"/>
              </a:gdLst>
              <a:ahLst/>
              <a:cxnLst>
                <a:cxn ang="0">
                  <a:pos x="T0" y="T1"/>
                </a:cxn>
                <a:cxn ang="0">
                  <a:pos x="T2" y="T3"/>
                </a:cxn>
                <a:cxn ang="0">
                  <a:pos x="T4" y="T5"/>
                </a:cxn>
                <a:cxn ang="0">
                  <a:pos x="T6" y="T7"/>
                </a:cxn>
                <a:cxn ang="0">
                  <a:pos x="T8" y="T9"/>
                </a:cxn>
                <a:cxn ang="0">
                  <a:pos x="T10" y="T11"/>
                </a:cxn>
              </a:cxnLst>
              <a:rect l="0" t="0" r="r" b="b"/>
              <a:pathLst>
                <a:path w="827" h="1070">
                  <a:moveTo>
                    <a:pt x="406" y="0"/>
                  </a:moveTo>
                  <a:lnTo>
                    <a:pt x="86" y="564"/>
                  </a:lnTo>
                  <a:lnTo>
                    <a:pt x="0" y="699"/>
                  </a:lnTo>
                  <a:lnTo>
                    <a:pt x="214" y="1070"/>
                  </a:lnTo>
                  <a:lnTo>
                    <a:pt x="827" y="0"/>
                  </a:lnTo>
                  <a:lnTo>
                    <a:pt x="40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grpSp>
    </p:spTree>
    <p:extLst>
      <p:ext uri="{BB962C8B-B14F-4D97-AF65-F5344CB8AC3E}">
        <p14:creationId xmlns:p14="http://schemas.microsoft.com/office/powerpoint/2010/main" val="1822056089"/>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gendefinert oppsett">
    <p:spTree>
      <p:nvGrpSpPr>
        <p:cNvPr id="1" name=""/>
        <p:cNvGrpSpPr/>
        <p:nvPr/>
      </p:nvGrpSpPr>
      <p:grpSpPr>
        <a:xfrm>
          <a:off x="0" y="0"/>
          <a:ext cx="0" cy="0"/>
          <a:chOff x="0" y="0"/>
          <a:chExt cx="0" cy="0"/>
        </a:xfrm>
      </p:grpSpPr>
      <p:sp>
        <p:nvSpPr>
          <p:cNvPr id="2" name="Tittel 1"/>
          <p:cNvSpPr>
            <a:spLocks noGrp="1"/>
          </p:cNvSpPr>
          <p:nvPr>
            <p:ph type="title"/>
          </p:nvPr>
        </p:nvSpPr>
        <p:spPr/>
        <p:txBody>
          <a:bodyPr rtlCol="0"/>
          <a:lstStyle/>
          <a:p>
            <a:pPr rtl="0"/>
            <a:r>
              <a:rPr lang="en-GB"/>
              <a:t>Klikk for å redigere tittelstil</a:t>
            </a:r>
          </a:p>
        </p:txBody>
      </p:sp>
      <p:sp>
        <p:nvSpPr>
          <p:cNvPr id="3" name="Plassholder for bunntekst 2"/>
          <p:cNvSpPr>
            <a:spLocks noGrp="1"/>
          </p:cNvSpPr>
          <p:nvPr>
            <p:ph type="ftr" sz="quarter" idx="10"/>
          </p:nvPr>
        </p:nvSpPr>
        <p:spPr/>
        <p:txBody>
          <a:bodyPr rtlCol="0"/>
          <a:lstStyle/>
          <a:p>
            <a:pPr rtl="0"/>
            <a:r>
              <a:rPr lang="nb-NO"/>
              <a:t>ADA512, Autumn 2026</a:t>
            </a:r>
          </a:p>
        </p:txBody>
      </p:sp>
      <p:sp>
        <p:nvSpPr>
          <p:cNvPr id="4" name="Plassholder for lysbildenummer 3"/>
          <p:cNvSpPr>
            <a:spLocks noGrp="1"/>
          </p:cNvSpPr>
          <p:nvPr>
            <p:ph type="sldNum" sz="quarter" idx="11"/>
          </p:nvPr>
        </p:nvSpPr>
        <p:spPr/>
        <p:txBody>
          <a:bodyPr rtlCol="0"/>
          <a:lstStyle/>
          <a:p>
            <a:pPr rtl="0"/>
            <a:fld id="{D0BEE4E4-E047-6A49-BCB9-4D06E7BA237B}" type="slidenum">
              <a:rPr lang="nb-NO" smtClean="0"/>
              <a:pPr/>
              <a:t>‹#›</a:t>
            </a:fld>
            <a:endParaRPr lang="nb-NO"/>
          </a:p>
        </p:txBody>
      </p:sp>
      <p:sp>
        <p:nvSpPr>
          <p:cNvPr id="6" name="Freeform 6"/>
          <p:cNvSpPr>
            <a:spLocks/>
          </p:cNvSpPr>
          <p:nvPr userDrawn="1"/>
        </p:nvSpPr>
        <p:spPr bwMode="auto">
          <a:xfrm>
            <a:off x="-1128044" y="-162370"/>
            <a:ext cx="25244277" cy="14670453"/>
          </a:xfrm>
          <a:custGeom>
            <a:avLst/>
            <a:gdLst>
              <a:gd name="T0" fmla="*/ 406 w 827"/>
              <a:gd name="T1" fmla="*/ 0 h 1070"/>
              <a:gd name="T2" fmla="*/ 86 w 827"/>
              <a:gd name="T3" fmla="*/ 564 h 1070"/>
              <a:gd name="T4" fmla="*/ 0 w 827"/>
              <a:gd name="T5" fmla="*/ 699 h 1070"/>
              <a:gd name="T6" fmla="*/ 214 w 827"/>
              <a:gd name="T7" fmla="*/ 1070 h 1070"/>
              <a:gd name="T8" fmla="*/ 827 w 827"/>
              <a:gd name="T9" fmla="*/ 0 h 1070"/>
              <a:gd name="T10" fmla="*/ 406 w 827"/>
              <a:gd name="T11" fmla="*/ 0 h 1070"/>
            </a:gdLst>
            <a:ahLst/>
            <a:cxnLst>
              <a:cxn ang="0">
                <a:pos x="T0" y="T1"/>
              </a:cxn>
              <a:cxn ang="0">
                <a:pos x="T2" y="T3"/>
              </a:cxn>
              <a:cxn ang="0">
                <a:pos x="T4" y="T5"/>
              </a:cxn>
              <a:cxn ang="0">
                <a:pos x="T6" y="T7"/>
              </a:cxn>
              <a:cxn ang="0">
                <a:pos x="T8" y="T9"/>
              </a:cxn>
              <a:cxn ang="0">
                <a:pos x="T10" y="T11"/>
              </a:cxn>
            </a:cxnLst>
            <a:rect l="0" t="0" r="r" b="b"/>
            <a:pathLst>
              <a:path w="827" h="1070">
                <a:moveTo>
                  <a:pt x="406" y="0"/>
                </a:moveTo>
                <a:lnTo>
                  <a:pt x="86" y="564"/>
                </a:lnTo>
                <a:lnTo>
                  <a:pt x="0" y="699"/>
                </a:lnTo>
                <a:lnTo>
                  <a:pt x="214" y="1070"/>
                </a:lnTo>
                <a:lnTo>
                  <a:pt x="827" y="0"/>
                </a:lnTo>
                <a:lnTo>
                  <a:pt x="406" y="0"/>
                </a:lnTo>
                <a:close/>
              </a:path>
            </a:pathLst>
          </a:custGeom>
          <a:solidFill>
            <a:schemeClr val="bg1">
              <a:lumMod val="9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b-NO"/>
          </a:p>
        </p:txBody>
      </p:sp>
      <p:sp>
        <p:nvSpPr>
          <p:cNvPr id="5" name="Freeform 5"/>
          <p:cNvSpPr>
            <a:spLocks/>
          </p:cNvSpPr>
          <p:nvPr userDrawn="1"/>
        </p:nvSpPr>
        <p:spPr bwMode="auto">
          <a:xfrm>
            <a:off x="-9259591" y="1168747"/>
            <a:ext cx="18274501" cy="13652887"/>
          </a:xfrm>
          <a:custGeom>
            <a:avLst/>
            <a:gdLst>
              <a:gd name="T0" fmla="*/ 164 w 349"/>
              <a:gd name="T1" fmla="*/ 0 h 471"/>
              <a:gd name="T2" fmla="*/ 0 w 349"/>
              <a:gd name="T3" fmla="*/ 0 h 471"/>
              <a:gd name="T4" fmla="*/ 271 w 349"/>
              <a:gd name="T5" fmla="*/ 471 h 471"/>
              <a:gd name="T6" fmla="*/ 349 w 349"/>
              <a:gd name="T7" fmla="*/ 328 h 471"/>
              <a:gd name="T8" fmla="*/ 164 w 349"/>
              <a:gd name="T9" fmla="*/ 0 h 471"/>
            </a:gdLst>
            <a:ahLst/>
            <a:cxnLst>
              <a:cxn ang="0">
                <a:pos x="T0" y="T1"/>
              </a:cxn>
              <a:cxn ang="0">
                <a:pos x="T2" y="T3"/>
              </a:cxn>
              <a:cxn ang="0">
                <a:pos x="T4" y="T5"/>
              </a:cxn>
              <a:cxn ang="0">
                <a:pos x="T6" y="T7"/>
              </a:cxn>
              <a:cxn ang="0">
                <a:pos x="T8" y="T9"/>
              </a:cxn>
            </a:cxnLst>
            <a:rect l="0" t="0" r="r" b="b"/>
            <a:pathLst>
              <a:path w="349" h="471">
                <a:moveTo>
                  <a:pt x="164" y="0"/>
                </a:moveTo>
                <a:lnTo>
                  <a:pt x="0" y="0"/>
                </a:lnTo>
                <a:lnTo>
                  <a:pt x="271" y="471"/>
                </a:lnTo>
                <a:lnTo>
                  <a:pt x="349" y="328"/>
                </a:lnTo>
                <a:lnTo>
                  <a:pt x="164" y="0"/>
                </a:lnTo>
                <a:close/>
              </a:path>
            </a:pathLst>
          </a:custGeom>
          <a:solidFill>
            <a:schemeClr val="bg1">
              <a:lumMod val="85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nn-NO"/>
          </a:p>
        </p:txBody>
      </p:sp>
    </p:spTree>
    <p:extLst>
      <p:ext uri="{BB962C8B-B14F-4D97-AF65-F5344CB8AC3E}">
        <p14:creationId xmlns:p14="http://schemas.microsoft.com/office/powerpoint/2010/main" val="1652563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03414" y="-1"/>
            <a:ext cx="10926000" cy="1350000"/>
          </a:xfrm>
          <a:prstGeom prst="rect">
            <a:avLst/>
          </a:prstGeom>
        </p:spPr>
        <p:txBody>
          <a:bodyPr vert="horz" lIns="0" tIns="0" rIns="0" bIns="0" rtlCol="0" anchor="ctr">
            <a:normAutofit/>
          </a:bodyPr>
          <a:lstStyle/>
          <a:p>
            <a:pPr rtl="0"/>
            <a:r>
              <a:rPr lang="en-GB"/>
              <a:t>Click to edit title style</a:t>
            </a:r>
          </a:p>
        </p:txBody>
      </p:sp>
      <p:sp>
        <p:nvSpPr>
          <p:cNvPr id="3" name="Plassholder for tekst 2"/>
          <p:cNvSpPr>
            <a:spLocks noGrp="1"/>
          </p:cNvSpPr>
          <p:nvPr>
            <p:ph type="body" idx="1"/>
          </p:nvPr>
        </p:nvSpPr>
        <p:spPr>
          <a:xfrm>
            <a:off x="811859" y="1349999"/>
            <a:ext cx="10927084" cy="5056055"/>
          </a:xfrm>
          <a:prstGeom prst="rect">
            <a:avLst/>
          </a:prstGeom>
        </p:spPr>
        <p:txBody>
          <a:bodyPr vert="horz" lIns="0" tIns="0" rIns="0" bIns="0" rtlCol="0">
            <a:normAutofit/>
          </a:bodyPr>
          <a:lstStyle/>
          <a:p>
            <a:pPr lvl="0" rtl="0"/>
            <a:r>
              <a:rPr lang="en-GB"/>
              <a:t>Click to edit the text styles in the template</a:t>
            </a:r>
          </a:p>
          <a:p>
            <a:pPr lvl="1" rtl="0"/>
            <a:r>
              <a:rPr lang="en-GB"/>
              <a:t>Second level</a:t>
            </a:r>
          </a:p>
          <a:p>
            <a:pPr lvl="2" rtl="0"/>
            <a:r>
              <a:rPr lang="en-GB"/>
              <a:t>Third level</a:t>
            </a:r>
          </a:p>
          <a:p>
            <a:pPr lvl="3" rtl="0"/>
            <a:r>
              <a:rPr lang="en-GB"/>
              <a:t>Fourth level</a:t>
            </a:r>
          </a:p>
          <a:p>
            <a:pPr lvl="4" rtl="0"/>
            <a:r>
              <a:rPr lang="en-GB"/>
              <a:t>Fifth level</a:t>
            </a:r>
          </a:p>
        </p:txBody>
      </p:sp>
      <p:sp>
        <p:nvSpPr>
          <p:cNvPr id="16" name="Plassholder for bunntekst 4"/>
          <p:cNvSpPr>
            <a:spLocks noGrp="1"/>
          </p:cNvSpPr>
          <p:nvPr>
            <p:ph type="ftr" sz="quarter" idx="3"/>
          </p:nvPr>
        </p:nvSpPr>
        <p:spPr>
          <a:xfrm>
            <a:off x="811950" y="6408000"/>
            <a:ext cx="5252673" cy="450000"/>
          </a:xfrm>
          <a:prstGeom prst="rect">
            <a:avLst/>
          </a:prstGeom>
        </p:spPr>
        <p:txBody>
          <a:bodyPr lIns="0" tIns="0" rIns="0" bIns="0" rtlCol="0" anchor="ctr" anchorCtr="0"/>
          <a:lstStyle>
            <a:lvl1pPr algn="l">
              <a:defRPr sz="1000">
                <a:solidFill>
                  <a:schemeClr val="bg1">
                    <a:lumMod val="50000"/>
                  </a:schemeClr>
                </a:solidFill>
                <a:latin typeface="+mj-lt"/>
              </a:defRPr>
            </a:lvl1pPr>
          </a:lstStyle>
          <a:p>
            <a:pPr rtl="0"/>
            <a:r>
              <a:rPr lang="nb-NO"/>
              <a:t>ADA512, Autumn 2026</a:t>
            </a:r>
          </a:p>
        </p:txBody>
      </p:sp>
      <p:sp>
        <p:nvSpPr>
          <p:cNvPr id="17" name="Plassholder for lysbildenummer 5"/>
          <p:cNvSpPr>
            <a:spLocks noGrp="1"/>
          </p:cNvSpPr>
          <p:nvPr>
            <p:ph type="sldNum" sz="quarter" idx="4"/>
          </p:nvPr>
        </p:nvSpPr>
        <p:spPr>
          <a:xfrm>
            <a:off x="11738087" y="6406054"/>
            <a:ext cx="450000" cy="450000"/>
          </a:xfrm>
          <a:prstGeom prst="rect">
            <a:avLst/>
          </a:prstGeom>
        </p:spPr>
        <p:txBody>
          <a:bodyPr lIns="0" tIns="0" rIns="0" bIns="0" rtlCol="0" anchor="ctr" anchorCtr="0"/>
          <a:lstStyle>
            <a:lvl1pPr algn="ctr">
              <a:defRPr sz="1000" b="0">
                <a:solidFill>
                  <a:schemeClr val="bg1">
                    <a:lumMod val="50000"/>
                  </a:schemeClr>
                </a:solidFill>
                <a:latin typeface="+mn-lt"/>
              </a:defRPr>
            </a:lvl1pPr>
          </a:lstStyle>
          <a:p>
            <a:pPr rtl="0"/>
            <a:fld id="{D0BEE4E4-E047-6A49-BCB9-4D06E7BA237B}" type="slidenum">
              <a:rPr lang="nb-NO" smtClean="0"/>
              <a:pPr/>
              <a:t>‹#›</a:t>
            </a:fld>
            <a:endParaRPr lang="nb-NO"/>
          </a:p>
        </p:txBody>
      </p:sp>
    </p:spTree>
    <p:extLst>
      <p:ext uri="{BB962C8B-B14F-4D97-AF65-F5344CB8AC3E}">
        <p14:creationId xmlns:p14="http://schemas.microsoft.com/office/powerpoint/2010/main" val="1377259176"/>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63" r:id="rId3"/>
    <p:sldLayoutId id="2147483674" r:id="rId4"/>
    <p:sldLayoutId id="2147483650" r:id="rId5"/>
    <p:sldLayoutId id="2147483664" r:id="rId6"/>
    <p:sldLayoutId id="2147483671" r:id="rId7"/>
    <p:sldLayoutId id="2147483667" r:id="rId8"/>
    <p:sldLayoutId id="2147483672" r:id="rId9"/>
    <p:sldLayoutId id="2147483670" r:id="rId10"/>
    <p:sldLayoutId id="2147483665" r:id="rId11"/>
    <p:sldLayoutId id="2147483666" r:id="rId12"/>
    <p:sldLayoutId id="2147483655" r:id="rId13"/>
    <p:sldLayoutId id="2147483661" r:id="rId14"/>
    <p:sldLayoutId id="2147483668" r:id="rId15"/>
    <p:sldLayoutId id="2147483675" r:id="rId16"/>
    <p:sldLayoutId id="2147483676" r:id="rId17"/>
  </p:sldLayoutIdLst>
  <p:hf hdr="0" dt="0"/>
  <p:txStyles>
    <p:titleStyle>
      <a:lvl1pPr algn="l" defTabSz="914400" rtl="0" eaLnBrk="1" latinLnBrk="0" hangingPunct="1">
        <a:lnSpc>
          <a:spcPct val="100000"/>
        </a:lnSpc>
        <a:spcBef>
          <a:spcPct val="0"/>
        </a:spcBef>
        <a:buNone/>
        <a:defRPr sz="2800" b="0" kern="1200">
          <a:solidFill>
            <a:schemeClr val="tx2"/>
          </a:solidFill>
          <a:latin typeface="+mj-lt"/>
          <a:ea typeface="+mj-ea"/>
          <a:cs typeface="+mj-cs"/>
        </a:defRPr>
      </a:lvl1pPr>
    </p:titleStyle>
    <p:bodyStyle>
      <a:lvl1pPr marL="342900" indent="-342900" algn="l" defTabSz="914400" rtl="0" eaLnBrk="1" latinLnBrk="0" hangingPunct="1">
        <a:lnSpc>
          <a:spcPct val="100000"/>
        </a:lnSpc>
        <a:spcBef>
          <a:spcPts val="1000"/>
        </a:spcBef>
        <a:buClr>
          <a:schemeClr val="accent1"/>
        </a:buClr>
        <a:buFont typeface=".AppleSystemUIFont" charset="-120"/>
        <a:buChar char="›"/>
        <a:defRPr sz="20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Clr>
          <a:schemeClr val="accent1"/>
        </a:buClr>
        <a:buFont typeface=".AppleSystemUIFont" charset="-120"/>
        <a:buChar char="›"/>
        <a:defRPr sz="2000" kern="1200">
          <a:solidFill>
            <a:schemeClr val="tx2"/>
          </a:solidFill>
          <a:latin typeface="+mj-lt"/>
          <a:ea typeface="Georgia" charset="0"/>
          <a:cs typeface="Georgia" charset="0"/>
        </a:defRPr>
      </a:lvl2pPr>
      <a:lvl3pPr marL="1143000" indent="-228600" algn="l" defTabSz="914400" rtl="0" eaLnBrk="1" latinLnBrk="0" hangingPunct="1">
        <a:lnSpc>
          <a:spcPct val="100000"/>
        </a:lnSpc>
        <a:spcBef>
          <a:spcPts val="500"/>
        </a:spcBef>
        <a:buClr>
          <a:schemeClr val="accent1"/>
        </a:buClr>
        <a:buFont typeface=".AppleSystemUIFont" charset="-120"/>
        <a:buChar char="›"/>
        <a:defRPr sz="2000" kern="1200">
          <a:solidFill>
            <a:schemeClr val="tx2"/>
          </a:solidFill>
          <a:latin typeface="+mj-lt"/>
          <a:ea typeface="Georgia" charset="0"/>
          <a:cs typeface="Georgia" charset="0"/>
        </a:defRPr>
      </a:lvl3pPr>
      <a:lvl4pPr marL="1600200" indent="-228600" algn="l" defTabSz="914400" rtl="0" eaLnBrk="1" latinLnBrk="0" hangingPunct="1">
        <a:lnSpc>
          <a:spcPct val="100000"/>
        </a:lnSpc>
        <a:spcBef>
          <a:spcPts val="500"/>
        </a:spcBef>
        <a:buClr>
          <a:schemeClr val="accent1"/>
        </a:buClr>
        <a:buFont typeface=".AppleSystemUIFont" charset="-120"/>
        <a:buChar char="›"/>
        <a:defRPr sz="2000" kern="1200">
          <a:solidFill>
            <a:schemeClr val="tx2"/>
          </a:solidFill>
          <a:latin typeface="+mj-lt"/>
          <a:ea typeface="Georgia" charset="0"/>
          <a:cs typeface="Georgia" charset="0"/>
        </a:defRPr>
      </a:lvl4pPr>
      <a:lvl5pPr marL="2057400" indent="-228600" algn="l" defTabSz="914400" rtl="0" eaLnBrk="1" latinLnBrk="0" hangingPunct="1">
        <a:lnSpc>
          <a:spcPct val="100000"/>
        </a:lnSpc>
        <a:spcBef>
          <a:spcPts val="500"/>
        </a:spcBef>
        <a:buClr>
          <a:schemeClr val="accent1"/>
        </a:buClr>
        <a:buFont typeface=".AppleSystemUIFont" charset="-120"/>
        <a:buChar char="›"/>
        <a:defRPr sz="2000" kern="1200">
          <a:solidFill>
            <a:schemeClr val="tx2"/>
          </a:solidFill>
          <a:latin typeface="+mj-lt"/>
          <a:ea typeface="Georgia" charset="0"/>
          <a:cs typeface="Georgi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5600" y="1905000"/>
            <a:ext cx="8890000" cy="1524000"/>
          </a:xfrm>
        </p:spPr>
        <p:txBody>
          <a:bodyPr>
            <a:noAutofit/>
          </a:bodyPr>
          <a:lstStyle/>
          <a:p>
            <a:r>
              <a:rPr sz="3200">
                <a:solidFill>
                  <a:srgbClr val="FFFFFF"/>
                </a:solidFill>
              </a:rPr>
              <a:t>ADA512</a:t>
            </a:r>
          </a:p>
          <a:p>
            <a:r>
              <a:rPr sz="3200">
                <a:solidFill>
                  <a:srgbClr val="FFFFFF"/>
                </a:solidFill>
              </a:rPr>
              <a:t>Cyber-physical systems &amp; IoT</a:t>
            </a:r>
          </a:p>
        </p:txBody>
      </p:sp>
      <p:sp>
        <p:nvSpPr>
          <p:cNvPr id="3" name="Subtitle 2"/>
          <p:cNvSpPr>
            <a:spLocks noGrp="1"/>
          </p:cNvSpPr>
          <p:nvPr>
            <p:ph type="subTitle" idx="1"/>
          </p:nvPr>
        </p:nvSpPr>
        <p:spPr/>
        <p:txBody>
          <a:bodyPr/>
          <a:lstStyle/>
          <a:p>
            <a:r>
              <a:rPr sz="2000">
                <a:solidFill>
                  <a:srgbClr val="FFFFFF"/>
                </a:solidFill>
              </a:rPr>
              <a:t>Lab 1 – Measure</a:t>
            </a:r>
          </a:p>
          <a:p>
            <a:r>
              <a:rPr sz="2000">
                <a:solidFill>
                  <a:srgbClr val="FFFFFF"/>
                </a:solidFill>
              </a:rPr>
              <a:t>Temperature measurement and object identification</a:t>
            </a:r>
          </a:p>
        </p:txBody>
      </p:sp>
      <p:sp>
        <p:nvSpPr>
          <p:cNvPr id="4" name="Text Placeholder 3"/>
          <p:cNvSpPr>
            <a:spLocks noGrp="1"/>
          </p:cNvSpPr>
          <p:nvPr>
            <p:ph type="body" idx="10"/>
          </p:nvPr>
        </p:nvSpPr>
        <p:spPr/>
        <p:txBody>
          <a:bodyPr/>
          <a:lstStyle/>
          <a:p>
            <a:r>
              <a:rPr sz="1600">
                <a:solidFill>
                  <a:srgbClr val="FFFFFF"/>
                </a:solidFill>
              </a:rPr>
              <a:t>Autumn 2026, Bergen &amp; Førde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Learning outcome</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On completion of the exercise the student:</a:t>
            </a:r>
          </a:p>
          <a:p>
            <a:r>
              <a:rPr sz="2000" b="1">
                <a:solidFill>
                  <a:srgbClr val="004357"/>
                </a:solidFill>
              </a:rPr>
              <a:t>understands the measuring chain:</a:t>
            </a:r>
          </a:p>
          <a:p>
            <a:pPr lvl="1"/>
            <a:r>
              <a:rPr sz="1800">
                <a:solidFill>
                  <a:srgbClr val="004357"/>
                </a:solidFill>
              </a:rPr>
              <a:t>the NTC thermistor, the voltage divider and analogue-to-digital conversion as parts of a single chain,</a:t>
            </a:r>
          </a:p>
          <a:p>
            <a:pPr lvl="1"/>
            <a:r>
              <a:rPr sz="1800">
                <a:solidFill>
                  <a:srgbClr val="004357"/>
                </a:solidFill>
              </a:rPr>
              <a:t>resolution, accuracy and noise as three distinct properties of that chain,</a:t>
            </a:r>
          </a:p>
          <a:p>
            <a:pPr lvl="1"/>
            <a:r>
              <a:rPr sz="1800">
                <a:solidFill>
                  <a:srgbClr val="004357"/>
                </a:solidFill>
              </a:rPr>
              <a:t>relative calibration and the limited range of conclusions that it supports;</a:t>
            </a:r>
          </a:p>
          <a:p>
            <a:r>
              <a:rPr sz="2000" b="1">
                <a:solidFill>
                  <a:srgbClr val="004357"/>
                </a:solidFill>
              </a:rPr>
              <a:t>understands and applies object identification:</a:t>
            </a:r>
          </a:p>
          <a:p>
            <a:pPr lvl="1"/>
            <a:r>
              <a:rPr sz="1800">
                <a:solidFill>
                  <a:srgbClr val="004357"/>
                </a:solidFill>
              </a:rPr>
              <a:t>a first-order thermal object described by K</a:t>
            </a:r>
            <a:r>
              <a:rPr sz="1800" baseline="-25000">
                <a:solidFill>
                  <a:srgbClr val="004357"/>
                </a:solidFill>
              </a:rPr>
              <a:t>P</a:t>
            </a:r>
            <a:r>
              <a:rPr sz="1800">
                <a:solidFill>
                  <a:srgbClr val="004357"/>
                </a:solidFill>
              </a:rPr>
              <a:t>, T</a:t>
            </a:r>
            <a:r>
              <a:rPr sz="1800" baseline="-25000">
                <a:solidFill>
                  <a:srgbClr val="004357"/>
                </a:solidFill>
              </a:rPr>
              <a:t>P</a:t>
            </a:r>
            <a:r>
              <a:rPr sz="1800">
                <a:solidFill>
                  <a:srgbClr val="004357"/>
                </a:solidFill>
              </a:rPr>
              <a:t> and L,</a:t>
            </a:r>
          </a:p>
          <a:p>
            <a:pPr lvl="1"/>
            <a:r>
              <a:rPr sz="1800">
                <a:solidFill>
                  <a:srgbClr val="004357"/>
                </a:solidFill>
              </a:rPr>
              <a:t>the energy balance as the link between geometry and dynamics,</a:t>
            </a:r>
          </a:p>
          <a:p>
            <a:pPr lvl="1"/>
            <a:r>
              <a:rPr sz="1800">
                <a:solidFill>
                  <a:srgbClr val="004357"/>
                </a:solidFill>
              </a:rPr>
              <a:t>the sequence of calculation, comparison, correction of assumed coefficients, second comparison and verification,</a:t>
            </a:r>
          </a:p>
          <a:p>
            <a:pPr lvl="1"/>
            <a:r>
              <a:rPr sz="1800">
                <a:solidFill>
                  <a:srgbClr val="004357"/>
                </a:solidFill>
              </a:rPr>
              <a:t>how to reduce the difference between calculation and measurement;</a:t>
            </a:r>
          </a:p>
          <a:p>
            <a:r>
              <a:rPr sz="2000" b="1">
                <a:solidFill>
                  <a:srgbClr val="004357"/>
                </a:solidFill>
              </a:rPr>
              <a:t>develops and analyses embedded software:</a:t>
            </a:r>
          </a:p>
          <a:p>
            <a:pPr lvl="1"/>
            <a:r>
              <a:rPr sz="1800">
                <a:solidFill>
                  <a:srgbClr val="004357"/>
                </a:solidFill>
              </a:rPr>
              <a:t>a fixed-period loop and the timing error it introduces,</a:t>
            </a:r>
          </a:p>
          <a:p>
            <a:pPr lvl="1"/>
            <a:r>
              <a:rPr sz="1800">
                <a:solidFill>
                  <a:srgbClr val="004357"/>
                </a:solidFill>
              </a:rPr>
              <a:t>averaging versus filtering, and the difference between them in the context of data acquisition.</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02}" type="slidenum">
              <a:rPr sz="1200">
                <a:solidFill>
                  <a:srgbClr val="8A9397"/>
                </a:solidFill>
              </a:rPr>
              <a:t>2</a:t>
            </a:fld>
            <a:endParaRPr sz="1200">
              <a:solidFill>
                <a:srgbClr val="8A9397"/>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Aim</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aim of the lab is to program and identify a thermal object, and then to establish the range in which its first-order model remains valid.</a:t>
            </a:r>
          </a:p>
          <a:p>
            <a:r>
              <a:rPr sz="2000">
                <a:solidFill>
                  <a:srgbClr val="004357"/>
                </a:solidFill>
              </a:rPr>
              <a:t>The work proceeds in a fixed order:</a:t>
            </a:r>
          </a:p>
          <a:p>
            <a:pPr lvl="1"/>
            <a:r>
              <a:rPr sz="1800">
                <a:solidFill>
                  <a:srgbClr val="004357"/>
                </a:solidFill>
              </a:rPr>
              <a:t>1. the parameters of the model are derived from geometry and material data,</a:t>
            </a:r>
          </a:p>
          <a:p>
            <a:pPr lvl="1"/>
            <a:r>
              <a:rPr sz="1800">
                <a:solidFill>
                  <a:srgbClr val="004357"/>
                </a:solidFill>
              </a:rPr>
              <a:t>2. the experiment is carried out,</a:t>
            </a:r>
          </a:p>
          <a:p>
            <a:pPr lvl="1"/>
            <a:r>
              <a:rPr sz="1800">
                <a:solidFill>
                  <a:srgbClr val="004357"/>
                </a:solidFill>
              </a:rPr>
              <a:t>3. the coefficients that were initially assumed are computed from the measurement,</a:t>
            </a:r>
          </a:p>
          <a:p>
            <a:pPr lvl="1"/>
            <a:r>
              <a:rPr sz="1800">
                <a:solidFill>
                  <a:srgbClr val="004357"/>
                </a:solidFill>
              </a:rPr>
              <a:t>4. the corrected model is checked against a part of the record that did not enter the correction.</a:t>
            </a:r>
          </a:p>
          <a:p>
            <a:r>
              <a:rPr sz="2000">
                <a:solidFill>
                  <a:srgbClr val="004357"/>
                </a:solidFill>
              </a:rPr>
              <a:t>The report must follow this order: first the calculation of the parameters, then the comparison and correction, and finally the result together with the range of validity.</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03}" type="slidenum">
              <a:rPr sz="1200">
                <a:solidFill>
                  <a:srgbClr val="8A9397"/>
                </a:solidFill>
              </a:rPr>
              <a:t>3</a:t>
            </a:fld>
            <a:endParaRPr sz="1200">
              <a:solidFill>
                <a:srgbClr val="8A9397"/>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Equipment</a:t>
            </a:r>
          </a:p>
        </p:txBody>
      </p:sp>
      <p:sp>
        <p:nvSpPr>
          <p:cNvPr id="3" name="Content Placeholder 2"/>
          <p:cNvSpPr>
            <a:spLocks noGrp="1"/>
          </p:cNvSpPr>
          <p:nvPr>
            <p:ph idx="1"/>
          </p:nvPr>
        </p:nvSpPr>
        <p:spPr>
          <a:xfrm>
            <a:off x="809427" y="1452520"/>
            <a:ext cx="10926000" cy="4966560"/>
          </a:xfrm>
        </p:spPr>
        <p:txBody>
          <a:bodyPr wrap="square">
            <a:noAutofit/>
          </a:bodyPr>
          <a:lstStyle/>
          <a:p>
            <a:r>
              <a:rPr sz="2000" b="1">
                <a:solidFill>
                  <a:srgbClr val="004357"/>
                </a:solidFill>
              </a:rPr>
              <a:t>Issued to each group</a:t>
            </a:r>
          </a:p>
          <a:p>
            <a:pPr lvl="1"/>
            <a:r>
              <a:rPr sz="1800">
                <a:solidFill>
                  <a:srgbClr val="004357"/>
                </a:solidFill>
              </a:rPr>
              <a:t>the station: an aluminium profile with the heating resistor, the fan and three NTC sensors,</a:t>
            </a:r>
          </a:p>
          <a:p>
            <a:pPr lvl="1"/>
            <a:r>
              <a:rPr sz="1800">
                <a:solidFill>
                  <a:srgbClr val="004357"/>
                </a:solidFill>
              </a:rPr>
              <a:t>the control board, carrying the power stages and all the terminals,</a:t>
            </a:r>
          </a:p>
          <a:p>
            <a:pPr lvl="1"/>
            <a:r>
              <a:rPr sz="1800">
                <a:solidFill>
                  <a:srgbClr val="004357"/>
                </a:solidFill>
              </a:rPr>
              <a:t>Arduino UNO R4 WiFi,</a:t>
            </a:r>
          </a:p>
          <a:p>
            <a:pPr lvl="1"/>
            <a:r>
              <a:rPr sz="1800">
                <a:solidFill>
                  <a:srgbClr val="004357"/>
                </a:solidFill>
              </a:rPr>
              <a:t>a USB-C cable,</a:t>
            </a:r>
          </a:p>
          <a:p>
            <a:pPr lvl="1"/>
            <a:r>
              <a:rPr sz="1800">
                <a:solidFill>
                  <a:srgbClr val="004357"/>
                </a:solidFill>
              </a:rPr>
              <a:t>a 12 V plug-in power supply.</a:t>
            </a:r>
          </a:p>
          <a:p>
            <a:r>
              <a:rPr sz="2000">
                <a:solidFill>
                  <a:srgbClr val="004357"/>
                </a:solidFill>
              </a:rPr>
              <a:t>The fan belongs to the set but is not used in this lab; it is needed in Lab 2.</a:t>
            </a:r>
          </a:p>
          <a:p>
            <a:r>
              <a:rPr sz="2000" b="1">
                <a:solidFill>
                  <a:srgbClr val="004357"/>
                </a:solidFill>
              </a:rPr>
              <a:t>Required, not issued</a:t>
            </a:r>
          </a:p>
          <a:p>
            <a:pPr lvl="1"/>
            <a:r>
              <a:rPr sz="1800">
                <a:solidFill>
                  <a:srgbClr val="004357"/>
                </a:solidFill>
              </a:rPr>
              <a:t>a computer with the Arduino IDE installed,</a:t>
            </a:r>
          </a:p>
          <a:p>
            <a:pPr lvl="1"/>
            <a:r>
              <a:rPr sz="1800">
                <a:solidFill>
                  <a:srgbClr val="004357"/>
                </a:solidFill>
              </a:rPr>
              <a:t>a program that captures the serial stream: the serial monitor of the IDE, SerialPlot (available free of charge), or a custom script.</a:t>
            </a:r>
          </a:p>
          <a:p>
            <a:r>
              <a:rPr sz="2000">
                <a:solidFill>
                  <a:srgbClr val="004357"/>
                </a:solidFill>
              </a:rPr>
              <a:t>No separate measuring instrument is required. Every quantity either comes from the station data table or is measured directly on the station.</a:t>
            </a:r>
          </a:p>
          <a:p>
            <a:r>
              <a:rPr sz="2000">
                <a:solidFill>
                  <a:srgbClr val="004357"/>
                </a:solidFill>
              </a:rPr>
              <a:t>The set is signed out and may be taken outside the laboratory. Working conditions: no draught, and the profile must not be in contact with any other object.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04}" type="slidenum">
              <a:rPr sz="1200">
                <a:solidFill>
                  <a:srgbClr val="8A9397"/>
                </a:solidFill>
              </a:rPr>
              <a:t>4</a:t>
            </a:fld>
            <a:endParaRPr sz="1200">
              <a:solidFill>
                <a:srgbClr val="8A9397"/>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Safety</a:t>
            </a:r>
          </a:p>
        </p:txBody>
      </p:sp>
      <p:sp>
        <p:nvSpPr>
          <p:cNvPr id="3" name="Content Placeholder 2"/>
          <p:cNvSpPr>
            <a:spLocks noGrp="1"/>
          </p:cNvSpPr>
          <p:nvPr>
            <p:ph idx="1"/>
          </p:nvPr>
        </p:nvSpPr>
        <p:spPr>
          <a:xfrm>
            <a:off x="809427" y="1452520"/>
            <a:ext cx="10926000" cy="4966560"/>
          </a:xfrm>
        </p:spPr>
        <p:txBody>
          <a:bodyPr wrap="square">
            <a:noAutofit/>
          </a:bodyPr>
          <a:lstStyle/>
          <a:p>
            <a:r>
              <a:rPr sz="2000" b="1">
                <a:solidFill>
                  <a:srgbClr val="004357"/>
                </a:solidFill>
              </a:rPr>
              <a:t>The station operates at low voltage only.</a:t>
            </a:r>
            <a:r>
              <a:rPr sz="2000">
                <a:solidFill>
                  <a:srgbClr val="004357"/>
                </a:solidFill>
              </a:rPr>
              <a:t> Power is supplied as 12 V from a plug-in supply and 5 V from the USB port. No element is at mains potential.</a:t>
            </a:r>
          </a:p>
          <a:p>
            <a:r>
              <a:rPr sz="2000" b="1">
                <a:solidFill>
                  <a:srgbClr val="004357"/>
                </a:solidFill>
              </a:rPr>
              <a:t>The station limits its own temperature.</a:t>
            </a:r>
            <a:r>
              <a:rPr sz="2000">
                <a:solidFill>
                  <a:srgbClr val="004357"/>
                </a:solidFill>
              </a:rPr>
              <a:t> At full heating power the profile stabilises below 50 °C. A program that stops with the heater on therefore cannot cause overheating, and no thermal cut-out is fitted.</a:t>
            </a:r>
          </a:p>
          <a:p>
            <a:r>
              <a:rPr sz="2000" b="1">
                <a:solidFill>
                  <a:srgbClr val="004357"/>
                </a:solidFill>
              </a:rPr>
              <a:t>The body of the heating resistor reaches a higher temperature than the profile.</a:t>
            </a:r>
            <a:r>
              <a:rPr sz="2000">
                <a:solidFill>
                  <a:srgbClr val="004357"/>
                </a:solidFill>
              </a:rPr>
              <a:t> It must not be touched while the supply is connected, and no flammable material may rest against it.</a:t>
            </a:r>
          </a:p>
          <a:p>
            <a:r>
              <a:rPr sz="2000" b="1">
                <a:solidFill>
                  <a:srgbClr val="004357"/>
                </a:solidFill>
              </a:rPr>
              <a:t>Disconnecting the USB cable does not de-energise the heater circuit.</a:t>
            </a:r>
            <a:r>
              <a:rPr sz="2000">
                <a:solidFill>
                  <a:srgbClr val="004357"/>
                </a:solidFill>
              </a:rPr>
              <a:t> The 12 V remains across the terminals of the resistor regardless of the USB port; removing USB only stops the transistor from being driven. Safe rewiring requires the 12 V supply to be unplugged.</a:t>
            </a:r>
          </a:p>
          <a:p>
            <a:r>
              <a:rPr sz="2000">
                <a:solidFill>
                  <a:srgbClr val="004357"/>
                </a:solidFill>
              </a:rPr>
              <a:t>A set with damaged insulation, a loose heating resistor or a connector that becomes warm may not be used. It must be reported and exchanged.</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05}" type="slidenum">
              <a:rPr sz="1200">
                <a:solidFill>
                  <a:srgbClr val="8A9397"/>
                </a:solidFill>
              </a:rPr>
              <a:t>5</a:t>
            </a:fld>
            <a:endParaRPr sz="1200">
              <a:solidFill>
                <a:srgbClr val="8A9397"/>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The station – data given</a:t>
            </a:r>
          </a:p>
        </p:txBody>
      </p:sp>
      <p:sp>
        <p:nvSpPr>
          <p:cNvPr id="3" name="Content Placeholder 2"/>
          <p:cNvSpPr>
            <a:spLocks noGrp="1"/>
          </p:cNvSpPr>
          <p:nvPr>
            <p:ph idx="1"/>
          </p:nvPr>
        </p:nvSpPr>
        <p:spPr>
          <a:xfrm>
            <a:off x="809427" y="4893711"/>
            <a:ext cx="10926000" cy="1525369"/>
          </a:xfrm>
        </p:spPr>
        <p:txBody>
          <a:bodyPr wrap="square">
            <a:noAutofit/>
          </a:bodyPr>
          <a:lstStyle/>
          <a:p>
            <a:r>
              <a:rPr sz="2000">
                <a:solidFill>
                  <a:srgbClr val="004357"/>
                </a:solidFill>
              </a:rPr>
              <a:t>The heat transfer coefficient h is not given. It must be taken from a plausible range and declared in the report together with its source.</a:t>
            </a:r>
          </a:p>
        </p:txBody>
      </p:sp>
      <p:graphicFrame>
        <p:nvGraphicFramePr>
          <p:cNvPr id="4" name="Table 3"/>
          <p:cNvGraphicFramePr>
            <a:graphicFrameLocks noGrp="1"/>
          </p:cNvGraphicFramePr>
          <p:nvPr>
            <p:extLst>
              <p:ext uri="{D42A27DB-BD31-4B8C-83A1-F6EECF244321}">
                <p14:modId xmlns:p14="http://schemas.microsoft.com/office/powerpoint/2010/main" val="2341997892"/>
              </p:ext>
            </p:extLst>
          </p:nvPr>
        </p:nvGraphicFramePr>
        <p:xfrm>
          <a:off x="1038027" y="1452520"/>
          <a:ext cx="10468799" cy="3273298"/>
        </p:xfrm>
        <a:graphic>
          <a:graphicData uri="http://schemas.openxmlformats.org/drawingml/2006/table">
            <a:tbl>
              <a:tblPr firstRow="1" bandRow="1">
                <a:tableStyleId>{5C22544A-7EE6-4342-B048-85BDC9FD1C3A}</a:tableStyleId>
              </a:tblPr>
              <a:tblGrid>
                <a:gridCol w="2542422">
                  <a:extLst>
                    <a:ext uri="{9D8B030D-6E8A-4147-A177-3AD203B41FA5}">
                      <a16:colId xmlns:a16="http://schemas.microsoft.com/office/drawing/2014/main" val="20000"/>
                    </a:ext>
                  </a:extLst>
                </a:gridCol>
                <a:gridCol w="7926377">
                  <a:extLst>
                    <a:ext uri="{9D8B030D-6E8A-4147-A177-3AD203B41FA5}">
                      <a16:colId xmlns:a16="http://schemas.microsoft.com/office/drawing/2014/main" val="20001"/>
                    </a:ext>
                  </a:extLst>
                </a:gridCol>
              </a:tblGrid>
              <a:tr h="277621">
                <a:tc>
                  <a:txBody>
                    <a:bodyPr/>
                    <a:lstStyle/>
                    <a:p>
                      <a:pPr algn="ctr"/>
                      <a:r>
                        <a:rPr sz="1200" b="1">
                          <a:solidFill>
                            <a:srgbClr val="FFFFFF"/>
                          </a:solidFill>
                        </a:rPr>
                        <a:t>Item</a:t>
                      </a:r>
                    </a:p>
                  </a:txBody>
                  <a:tcPr marL="45720" marR="45720" marT="18288" marB="18288" anchor="ctr">
                    <a:solidFill>
                      <a:srgbClr val="004357"/>
                    </a:solidFill>
                  </a:tcPr>
                </a:tc>
                <a:tc>
                  <a:txBody>
                    <a:bodyPr/>
                    <a:lstStyle/>
                    <a:p>
                      <a:pPr algn="ctr"/>
                      <a:r>
                        <a:rPr sz="1200" b="1">
                          <a:solidFill>
                            <a:srgbClr val="FFFFFF"/>
                          </a:solidFill>
                        </a:rPr>
                        <a:t>Value</a:t>
                      </a:r>
                    </a:p>
                  </a:txBody>
                  <a:tcPr marL="45720" marR="45720" marT="18288" marB="18288" anchor="ctr">
                    <a:solidFill>
                      <a:srgbClr val="004357"/>
                    </a:solidFill>
                  </a:tcPr>
                </a:tc>
                <a:extLst>
                  <a:ext uri="{0D108BD9-81ED-4DB2-BD59-A6C34878D82A}">
                    <a16:rowId xmlns:a16="http://schemas.microsoft.com/office/drawing/2014/main" val="10000"/>
                  </a:ext>
                </a:extLst>
              </a:tr>
              <a:tr h="277621">
                <a:tc>
                  <a:txBody>
                    <a:bodyPr/>
                    <a:lstStyle/>
                    <a:p>
                      <a:pPr algn="ctr"/>
                      <a:r>
                        <a:rPr sz="1200">
                          <a:solidFill>
                            <a:srgbClr val="004357"/>
                          </a:solidFill>
                        </a:rPr>
                        <a:t>profile</a:t>
                      </a:r>
                    </a:p>
                  </a:txBody>
                  <a:tcPr marL="45720" marR="45720" marT="18288" marB="18288" anchor="ctr">
                    <a:solidFill>
                      <a:srgbClr val="FFFFFF"/>
                    </a:solidFill>
                  </a:tcPr>
                </a:tc>
                <a:tc>
                  <a:txBody>
                    <a:bodyPr/>
                    <a:lstStyle/>
                    <a:p>
                      <a:pPr algn="ctr"/>
                      <a:r>
                        <a:rPr sz="1200">
                          <a:solidFill>
                            <a:srgbClr val="004357"/>
                          </a:solidFill>
                        </a:rPr>
                        <a:t>aluminium, square tube, 10 x 10 mm outer, length 150 mm</a:t>
                      </a:r>
                    </a:p>
                  </a:txBody>
                  <a:tcPr marL="45720" marR="45720" marT="18288" marB="18288" anchor="ctr">
                    <a:solidFill>
                      <a:srgbClr val="FFFFFF"/>
                    </a:solidFill>
                  </a:tcPr>
                </a:tc>
                <a:extLst>
                  <a:ext uri="{0D108BD9-81ED-4DB2-BD59-A6C34878D82A}">
                    <a16:rowId xmlns:a16="http://schemas.microsoft.com/office/drawing/2014/main" val="10001"/>
                  </a:ext>
                </a:extLst>
              </a:tr>
              <a:tr h="277621">
                <a:tc>
                  <a:txBody>
                    <a:bodyPr/>
                    <a:lstStyle/>
                    <a:p>
                      <a:pPr algn="ctr"/>
                      <a:r>
                        <a:rPr sz="1200">
                          <a:solidFill>
                            <a:srgbClr val="004357"/>
                          </a:solidFill>
                        </a:rPr>
                        <a:t>wall and cavity</a:t>
                      </a:r>
                    </a:p>
                  </a:txBody>
                  <a:tcPr marL="45720" marR="45720" marT="18288" marB="18288" anchor="ctr">
                    <a:solidFill>
                      <a:srgbClr val="F5F8F9"/>
                    </a:solidFill>
                  </a:tcPr>
                </a:tc>
                <a:tc>
                  <a:txBody>
                    <a:bodyPr/>
                    <a:lstStyle/>
                    <a:p>
                      <a:pPr algn="ctr"/>
                      <a:r>
                        <a:rPr sz="1200">
                          <a:solidFill>
                            <a:srgbClr val="004357"/>
                          </a:solidFill>
                        </a:rPr>
                        <a:t>wall 1.50 mm; cavity 7 x 7 mm, open at both ends</a:t>
                      </a:r>
                    </a:p>
                  </a:txBody>
                  <a:tcPr marL="45720" marR="45720" marT="18288" marB="18288" anchor="ctr">
                    <a:solidFill>
                      <a:srgbClr val="F5F8F9"/>
                    </a:solidFill>
                  </a:tcPr>
                </a:tc>
                <a:extLst>
                  <a:ext uri="{0D108BD9-81ED-4DB2-BD59-A6C34878D82A}">
                    <a16:rowId xmlns:a16="http://schemas.microsoft.com/office/drawing/2014/main" val="10002"/>
                  </a:ext>
                </a:extLst>
              </a:tr>
              <a:tr h="277621">
                <a:tc>
                  <a:txBody>
                    <a:bodyPr/>
                    <a:lstStyle/>
                    <a:p>
                      <a:pPr algn="ctr"/>
                      <a:r>
                        <a:rPr sz="1200">
                          <a:solidFill>
                            <a:srgbClr val="004357"/>
                          </a:solidFill>
                        </a:rPr>
                        <a:t>mass</a:t>
                      </a:r>
                    </a:p>
                  </a:txBody>
                  <a:tcPr marL="45720" marR="45720" marT="18288" marB="18288" anchor="ctr">
                    <a:solidFill>
                      <a:srgbClr val="FFFFFF"/>
                    </a:solidFill>
                  </a:tcPr>
                </a:tc>
                <a:tc>
                  <a:txBody>
                    <a:bodyPr/>
                    <a:lstStyle/>
                    <a:p>
                      <a:pPr algn="ctr"/>
                      <a:r>
                        <a:rPr sz="1200">
                          <a:solidFill>
                            <a:srgbClr val="004357"/>
                          </a:solidFill>
                        </a:rPr>
                        <a:t>20.66 g bare profile; 27 g with five M3 x 20 screws and nuts. The difference between them is the steel of the fittings</a:t>
                      </a:r>
                    </a:p>
                  </a:txBody>
                  <a:tcPr marL="45720" marR="45720" marT="18288" marB="18288" anchor="ctr">
                    <a:solidFill>
                      <a:srgbClr val="FFFFFF"/>
                    </a:solidFill>
                  </a:tcPr>
                </a:tc>
                <a:extLst>
                  <a:ext uri="{0D108BD9-81ED-4DB2-BD59-A6C34878D82A}">
                    <a16:rowId xmlns:a16="http://schemas.microsoft.com/office/drawing/2014/main" val="10003"/>
                  </a:ext>
                </a:extLst>
              </a:tr>
              <a:tr h="277621">
                <a:tc>
                  <a:txBody>
                    <a:bodyPr/>
                    <a:lstStyle/>
                    <a:p>
                      <a:pPr algn="ctr"/>
                      <a:r>
                        <a:rPr sz="1200">
                          <a:solidFill>
                            <a:srgbClr val="004357"/>
                          </a:solidFill>
                        </a:rPr>
                        <a:t>density, specific heat</a:t>
                      </a:r>
                    </a:p>
                  </a:txBody>
                  <a:tcPr marL="45720" marR="45720" marT="18288" marB="18288" anchor="ctr">
                    <a:solidFill>
                      <a:srgbClr val="F5F8F9"/>
                    </a:solidFill>
                  </a:tcPr>
                </a:tc>
                <a:tc>
                  <a:txBody>
                    <a:bodyPr/>
                    <a:lstStyle/>
                    <a:p>
                      <a:pPr algn="ctr"/>
                      <a:r>
                        <a:rPr sz="1200">
                          <a:solidFill>
                            <a:srgbClr val="004357"/>
                          </a:solidFill>
                        </a:rPr>
                        <a:t>aluminium 2.70 g/cm3, 897 J/(kg K); steel 7.85 g/cm3, 460 J/(kg K)</a:t>
                      </a:r>
                    </a:p>
                  </a:txBody>
                  <a:tcPr marL="45720" marR="45720" marT="18288" marB="18288" anchor="ctr">
                    <a:solidFill>
                      <a:srgbClr val="F5F8F9"/>
                    </a:solidFill>
                  </a:tcPr>
                </a:tc>
                <a:extLst>
                  <a:ext uri="{0D108BD9-81ED-4DB2-BD59-A6C34878D82A}">
                    <a16:rowId xmlns:a16="http://schemas.microsoft.com/office/drawing/2014/main" val="10004"/>
                  </a:ext>
                </a:extLst>
              </a:tr>
              <a:tr h="277621">
                <a:tc>
                  <a:txBody>
                    <a:bodyPr/>
                    <a:lstStyle/>
                    <a:p>
                      <a:pPr algn="ctr"/>
                      <a:r>
                        <a:rPr sz="1200">
                          <a:solidFill>
                            <a:srgbClr val="004357"/>
                          </a:solidFill>
                        </a:rPr>
                        <a:t>thermal conductivity</a:t>
                      </a:r>
                    </a:p>
                  </a:txBody>
                  <a:tcPr marL="45720" marR="45720" marT="18288" marB="18288" anchor="ctr">
                    <a:solidFill>
                      <a:srgbClr val="FFFFFF"/>
                    </a:solidFill>
                  </a:tcPr>
                </a:tc>
                <a:tc>
                  <a:txBody>
                    <a:bodyPr/>
                    <a:lstStyle/>
                    <a:p>
                      <a:pPr algn="ctr"/>
                      <a:r>
                        <a:rPr sz="1200">
                          <a:solidFill>
                            <a:srgbClr val="004357"/>
                          </a:solidFill>
                        </a:rPr>
                        <a:t>aluminium 205 W/(m K)</a:t>
                      </a:r>
                    </a:p>
                  </a:txBody>
                  <a:tcPr marL="45720" marR="45720" marT="18288" marB="18288" anchor="ctr">
                    <a:solidFill>
                      <a:srgbClr val="FFFFFF"/>
                    </a:solidFill>
                  </a:tcPr>
                </a:tc>
                <a:extLst>
                  <a:ext uri="{0D108BD9-81ED-4DB2-BD59-A6C34878D82A}">
                    <a16:rowId xmlns:a16="http://schemas.microsoft.com/office/drawing/2014/main" val="10005"/>
                  </a:ext>
                </a:extLst>
              </a:tr>
              <a:tr h="277621">
                <a:tc>
                  <a:txBody>
                    <a:bodyPr/>
                    <a:lstStyle/>
                    <a:p>
                      <a:pPr algn="ctr"/>
                      <a:r>
                        <a:rPr sz="1200">
                          <a:solidFill>
                            <a:srgbClr val="004357"/>
                          </a:solidFill>
                        </a:rPr>
                        <a:t>heating resistor</a:t>
                      </a:r>
                    </a:p>
                  </a:txBody>
                  <a:tcPr marL="45720" marR="45720" marT="18288" marB="18288" anchor="ctr">
                    <a:solidFill>
                      <a:srgbClr val="F5F8F9"/>
                    </a:solidFill>
                  </a:tcPr>
                </a:tc>
                <a:tc>
                  <a:txBody>
                    <a:bodyPr/>
                    <a:lstStyle/>
                    <a:p>
                      <a:pPr algn="ctr"/>
                      <a:r>
                        <a:rPr sz="1200">
                          <a:solidFill>
                            <a:srgbClr val="004357"/>
                          </a:solidFill>
                        </a:rPr>
                        <a:t>Bourns PWR220T-20-75R0F, 75 Ω, 1 %, 20 W, at 0 mm</a:t>
                      </a:r>
                    </a:p>
                  </a:txBody>
                  <a:tcPr marL="45720" marR="45720" marT="18288" marB="18288" anchor="ctr">
                    <a:solidFill>
                      <a:srgbClr val="F5F8F9"/>
                    </a:solidFill>
                  </a:tcPr>
                </a:tc>
                <a:extLst>
                  <a:ext uri="{0D108BD9-81ED-4DB2-BD59-A6C34878D82A}">
                    <a16:rowId xmlns:a16="http://schemas.microsoft.com/office/drawing/2014/main" val="10006"/>
                  </a:ext>
                </a:extLst>
              </a:tr>
              <a:tr h="277621">
                <a:tc>
                  <a:txBody>
                    <a:bodyPr/>
                    <a:lstStyle/>
                    <a:p>
                      <a:pPr algn="ctr"/>
                      <a:r>
                        <a:rPr sz="1200">
                          <a:solidFill>
                            <a:srgbClr val="004357"/>
                          </a:solidFill>
                        </a:rPr>
                        <a:t>heater supply</a:t>
                      </a:r>
                    </a:p>
                  </a:txBody>
                  <a:tcPr marL="45720" marR="45720" marT="18288" marB="18288" anchor="ctr">
                    <a:solidFill>
                      <a:srgbClr val="FFFFFF"/>
                    </a:solidFill>
                  </a:tcPr>
                </a:tc>
                <a:tc>
                  <a:txBody>
                    <a:bodyPr/>
                    <a:lstStyle/>
                    <a:p>
                      <a:pPr algn="ctr"/>
                      <a:r>
                        <a:rPr sz="1200">
                          <a:solidFill>
                            <a:srgbClr val="004357"/>
                          </a:solidFill>
                        </a:rPr>
                        <a:t>12 V, switched from pin D3, full power only</a:t>
                      </a:r>
                    </a:p>
                  </a:txBody>
                  <a:tcPr marL="45720" marR="45720" marT="18288" marB="18288" anchor="ctr">
                    <a:solidFill>
                      <a:srgbClr val="FFFFFF"/>
                    </a:solidFill>
                  </a:tcPr>
                </a:tc>
                <a:extLst>
                  <a:ext uri="{0D108BD9-81ED-4DB2-BD59-A6C34878D82A}">
                    <a16:rowId xmlns:a16="http://schemas.microsoft.com/office/drawing/2014/main" val="10007"/>
                  </a:ext>
                </a:extLst>
              </a:tr>
              <a:tr h="0">
                <a:tc>
                  <a:txBody>
                    <a:bodyPr/>
                    <a:lstStyle/>
                    <a:p>
                      <a:pPr algn="ctr"/>
                      <a:r>
                        <a:rPr sz="1200">
                          <a:solidFill>
                            <a:srgbClr val="004357"/>
                          </a:solidFill>
                        </a:rPr>
                        <a:t>sensors</a:t>
                      </a:r>
                    </a:p>
                  </a:txBody>
                  <a:tcPr marL="45720" marR="45720" marT="18288" marB="18288" anchor="ctr">
                    <a:solidFill>
                      <a:srgbClr val="F5F8F9"/>
                    </a:solidFill>
                  </a:tcPr>
                </a:tc>
                <a:tc>
                  <a:txBody>
                    <a:bodyPr/>
                    <a:lstStyle/>
                    <a:p>
                      <a:pPr algn="ctr"/>
                      <a:r>
                        <a:rPr sz="1200">
                          <a:solidFill>
                            <a:srgbClr val="004357"/>
                          </a:solidFill>
                        </a:rPr>
                        <a:t>3 x Vishay NTCALUG02A, 10 kΩ, B = 3984 K, at 40, 80 and 120 mm from the heater</a:t>
                      </a:r>
                    </a:p>
                  </a:txBody>
                  <a:tcPr marL="45720" marR="45720" marT="18288" marB="18288" anchor="ctr">
                    <a:solidFill>
                      <a:srgbClr val="F5F8F9"/>
                    </a:solidFill>
                  </a:tcPr>
                </a:tc>
                <a:extLst>
                  <a:ext uri="{0D108BD9-81ED-4DB2-BD59-A6C34878D82A}">
                    <a16:rowId xmlns:a16="http://schemas.microsoft.com/office/drawing/2014/main" val="10008"/>
                  </a:ext>
                </a:extLst>
              </a:tr>
              <a:tr h="277621">
                <a:tc>
                  <a:txBody>
                    <a:bodyPr/>
                    <a:lstStyle/>
                    <a:p>
                      <a:pPr algn="ctr"/>
                      <a:r>
                        <a:rPr sz="1200">
                          <a:solidFill>
                            <a:srgbClr val="004357"/>
                          </a:solidFill>
                        </a:rPr>
                        <a:t>divider</a:t>
                      </a:r>
                    </a:p>
                  </a:txBody>
                  <a:tcPr marL="45720" marR="45720" marT="18288" marB="18288" anchor="ctr">
                    <a:solidFill>
                      <a:srgbClr val="FFFFFF"/>
                    </a:solidFill>
                  </a:tcPr>
                </a:tc>
                <a:tc>
                  <a:txBody>
                    <a:bodyPr/>
                    <a:lstStyle/>
                    <a:p>
                      <a:pPr algn="ctr"/>
                      <a:r>
                        <a:rPr sz="1200">
                          <a:solidFill>
                            <a:srgbClr val="004357"/>
                          </a:solidFill>
                        </a:rPr>
                        <a:t>5 V - 10 kΩ 1 % - input - NTC - ground</a:t>
                      </a:r>
                    </a:p>
                  </a:txBody>
                  <a:tcPr marL="45720" marR="45720" marT="18288" marB="18288" anchor="ctr">
                    <a:solidFill>
                      <a:srgbClr val="FFFFFF"/>
                    </a:solidFill>
                  </a:tcPr>
                </a:tc>
                <a:extLst>
                  <a:ext uri="{0D108BD9-81ED-4DB2-BD59-A6C34878D82A}">
                    <a16:rowId xmlns:a16="http://schemas.microsoft.com/office/drawing/2014/main" val="10009"/>
                  </a:ext>
                </a:extLst>
              </a:tr>
              <a:tr h="277621">
                <a:tc>
                  <a:txBody>
                    <a:bodyPr/>
                    <a:lstStyle/>
                    <a:p>
                      <a:pPr algn="ctr"/>
                      <a:r>
                        <a:rPr sz="1200">
                          <a:solidFill>
                            <a:srgbClr val="004357"/>
                          </a:solidFill>
                        </a:rPr>
                        <a:t>inputs</a:t>
                      </a:r>
                    </a:p>
                  </a:txBody>
                  <a:tcPr marL="45720" marR="45720" marT="18288" marB="18288" anchor="ctr">
                    <a:solidFill>
                      <a:srgbClr val="F5F8F9"/>
                    </a:solidFill>
                  </a:tcPr>
                </a:tc>
                <a:tc>
                  <a:txBody>
                    <a:bodyPr/>
                    <a:lstStyle/>
                    <a:p>
                      <a:pPr algn="ctr"/>
                      <a:r>
                        <a:rPr sz="1200">
                          <a:solidFill>
                            <a:srgbClr val="004357"/>
                          </a:solidFill>
                        </a:rPr>
                        <a:t>A0, A1, A2; up to 14 bits; one reading takes at most 2 µs</a:t>
                      </a:r>
                    </a:p>
                  </a:txBody>
                  <a:tcPr marL="45720" marR="45720" marT="18288" marB="18288" anchor="ctr">
                    <a:solidFill>
                      <a:srgbClr val="F5F8F9"/>
                    </a:solidFill>
                  </a:tcPr>
                </a:tc>
                <a:extLst>
                  <a:ext uri="{0D108BD9-81ED-4DB2-BD59-A6C34878D82A}">
                    <a16:rowId xmlns:a16="http://schemas.microsoft.com/office/drawing/2014/main" val="10010"/>
                  </a:ext>
                </a:extLst>
              </a:tr>
              <a:tr h="277632">
                <a:tc>
                  <a:txBody>
                    <a:bodyPr/>
                    <a:lstStyle/>
                    <a:p>
                      <a:pPr algn="ctr"/>
                      <a:r>
                        <a:rPr sz="1200">
                          <a:solidFill>
                            <a:srgbClr val="004357"/>
                          </a:solidFill>
                        </a:rPr>
                        <a:t>maximum temperature</a:t>
                      </a:r>
                    </a:p>
                  </a:txBody>
                  <a:tcPr marL="45720" marR="45720" marT="18288" marB="18288" anchor="ctr">
                    <a:solidFill>
                      <a:srgbClr val="FFFFFF"/>
                    </a:solidFill>
                  </a:tcPr>
                </a:tc>
                <a:tc>
                  <a:txBody>
                    <a:bodyPr/>
                    <a:lstStyle/>
                    <a:p>
                      <a:pPr algn="ctr"/>
                      <a:r>
                        <a:rPr sz="1200" dirty="0">
                          <a:solidFill>
                            <a:srgbClr val="004357"/>
                          </a:solidFill>
                        </a:rPr>
                        <a:t>below 50 °C at full power</a:t>
                      </a:r>
                    </a:p>
                  </a:txBody>
                  <a:tcPr marL="45720" marR="45720" marT="18288" marB="18288" anchor="ctr">
                    <a:solidFill>
                      <a:srgbClr val="FFFFFF"/>
                    </a:solidFill>
                  </a:tcPr>
                </a:tc>
                <a:extLst>
                  <a:ext uri="{0D108BD9-81ED-4DB2-BD59-A6C34878D82A}">
                    <a16:rowId xmlns:a16="http://schemas.microsoft.com/office/drawing/2014/main" val="10011"/>
                  </a:ext>
                </a:extLst>
              </a:tr>
            </a:tbl>
          </a:graphicData>
        </a:graphic>
      </p:graphicFrame>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06}" type="slidenum">
              <a:rPr sz="1200">
                <a:solidFill>
                  <a:srgbClr val="8A9397"/>
                </a:solidFill>
              </a:rPr>
              <a:t>6</a:t>
            </a:fld>
            <a:endParaRPr sz="1200">
              <a:solidFill>
                <a:srgbClr val="8A9397"/>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The station – construction</a:t>
            </a:r>
          </a:p>
        </p:txBody>
      </p:sp>
      <p:sp>
        <p:nvSpPr>
          <p:cNvPr id="3" name="Content Placeholder 2"/>
          <p:cNvSpPr>
            <a:spLocks noGrp="1"/>
          </p:cNvSpPr>
          <p:nvPr>
            <p:ph idx="1"/>
          </p:nvPr>
        </p:nvSpPr>
        <p:spPr>
          <a:xfrm>
            <a:off x="809427" y="1452520"/>
            <a:ext cx="10926000" cy="1181100"/>
          </a:xfrm>
        </p:spPr>
        <p:txBody>
          <a:bodyPr wrap="square">
            <a:noAutofit/>
          </a:bodyPr>
          <a:lstStyle/>
          <a:p>
            <a:r>
              <a:rPr sz="2000">
                <a:solidFill>
                  <a:srgbClr val="004357"/>
                </a:solidFill>
              </a:rPr>
              <a:t>The heating resistor is mounted at one end of the profile. The three temperature sensors are bolted to the profile at 40, 80 and 120 mm from the heater. The profile rests on two screws and touches nothing else.</a:t>
            </a:r>
          </a:p>
        </p:txBody>
      </p:sp>
      <p:pic>
        <p:nvPicPr>
          <p:cNvPr id="4" name="Picture 3" descr="lab1-elewacja.png"/>
          <p:cNvPicPr>
            <a:picLocks noChangeAspect="1"/>
          </p:cNvPicPr>
          <p:nvPr/>
        </p:nvPicPr>
        <p:blipFill>
          <a:blip r:embed="rId2"/>
          <a:stretch>
            <a:fillRect/>
          </a:stretch>
        </p:blipFill>
        <p:spPr>
          <a:xfrm>
            <a:off x="936427" y="2760620"/>
            <a:ext cx="8382000" cy="2637579"/>
          </a:xfrm>
          <a:prstGeom prst="rect">
            <a:avLst/>
          </a:prstGeom>
        </p:spPr>
      </p:pic>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07}" type="slidenum">
              <a:rPr sz="1200">
                <a:solidFill>
                  <a:srgbClr val="8A9397"/>
                </a:solidFill>
              </a:rPr>
              <a:t>7</a:t>
            </a:fld>
            <a:endParaRPr sz="1200">
              <a:solidFill>
                <a:srgbClr val="8A9397"/>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The control board – terminals</a:t>
            </a:r>
          </a:p>
        </p:txBody>
      </p:sp>
      <p:sp>
        <p:nvSpPr>
          <p:cNvPr id="3" name="Content Placeholder 2"/>
          <p:cNvSpPr>
            <a:spLocks noGrp="1"/>
          </p:cNvSpPr>
          <p:nvPr>
            <p:ph idx="1"/>
          </p:nvPr>
        </p:nvSpPr>
        <p:spPr>
          <a:xfrm>
            <a:off x="809427" y="1452520"/>
            <a:ext cx="10926000" cy="2362200"/>
          </a:xfrm>
        </p:spPr>
        <p:txBody>
          <a:bodyPr wrap="square">
            <a:noAutofit/>
          </a:bodyPr>
          <a:lstStyle/>
          <a:p>
            <a:r>
              <a:rPr sz="2000">
                <a:solidFill>
                  <a:srgbClr val="004357"/>
                </a:solidFill>
              </a:rPr>
              <a:t>The control board carries the power stages and every terminal of the set. The heating resistor and the fan are permanently wired to it. The three detachable terminal blocks all lead to the Arduino, and the 12 V supply enters through the socket.</a:t>
            </a:r>
          </a:p>
          <a:p>
            <a:r>
              <a:rPr sz="2000">
                <a:solidFill>
                  <a:srgbClr val="004357"/>
                </a:solidFill>
              </a:rPr>
              <a:t>The measurement ways follow the profile itself: counted from the side of the 12 V socket they carry the sensors at </a:t>
            </a:r>
            <a:r>
              <a:rPr sz="2000" b="1">
                <a:solidFill>
                  <a:srgbClr val="004357"/>
                </a:solidFill>
              </a:rPr>
              <a:t>120, 80 and 40 mm</a:t>
            </a:r>
            <a:r>
              <a:rPr sz="2000">
                <a:solidFill>
                  <a:srgbClr val="004357"/>
                </a:solidFill>
              </a:rPr>
              <a:t> from the heater.</a:t>
            </a:r>
          </a:p>
        </p:txBody>
      </p:sp>
      <p:pic>
        <p:nvPicPr>
          <p:cNvPr id="4" name="Picture 3" descr="lab1-zlacza.png"/>
          <p:cNvPicPr>
            <a:picLocks noChangeAspect="1"/>
          </p:cNvPicPr>
          <p:nvPr/>
        </p:nvPicPr>
        <p:blipFill>
          <a:blip r:embed="rId2"/>
          <a:stretch>
            <a:fillRect/>
          </a:stretch>
        </p:blipFill>
        <p:spPr>
          <a:xfrm>
            <a:off x="936427" y="3941720"/>
            <a:ext cx="6350000" cy="2401634"/>
          </a:xfrm>
          <a:prstGeom prst="rect">
            <a:avLst/>
          </a:prstGeom>
        </p:spPr>
      </p:pic>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08}" type="slidenum">
              <a:rPr sz="1200">
                <a:solidFill>
                  <a:srgbClr val="8A9397"/>
                </a:solidFill>
              </a:rPr>
              <a:t>8</a:t>
            </a:fld>
            <a:endParaRPr sz="1200">
              <a:solidFill>
                <a:srgbClr val="8A9397"/>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Documentation</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following documentation sources are required for this lab:</a:t>
            </a:r>
          </a:p>
          <a:p>
            <a:r>
              <a:rPr sz="2000" b="1">
                <a:solidFill>
                  <a:srgbClr val="004357"/>
                </a:solidFill>
              </a:rPr>
              <a:t>Arduino UNO R4 WiFi</a:t>
            </a:r>
            <a:r>
              <a:rPr sz="2000">
                <a:solidFill>
                  <a:srgbClr val="004357"/>
                </a:solidFill>
              </a:rPr>
              <a:t> – product page, pinout and datasheet; the functions analogReadResolution, analogRead, digitalWrite, millis, micros. These are used to configure the analogue inputs, control the power stage and measure time in the acquisition loop.</a:t>
            </a:r>
          </a:p>
          <a:p>
            <a:r>
              <a:rPr sz="2000" b="1">
                <a:solidFill>
                  <a:srgbClr val="004357"/>
                </a:solidFill>
              </a:rPr>
              <a:t>Bourns PWR220T-20</a:t>
            </a:r>
            <a:r>
              <a:rPr sz="2000">
                <a:solidFill>
                  <a:srgbClr val="004357"/>
                </a:solidFill>
              </a:rPr>
              <a:t> – datasheet, including the thermal derating curve. This information is used to determine the permissible power dissipation of the heater resistor.</a:t>
            </a:r>
          </a:p>
          <a:p>
            <a:r>
              <a:rPr sz="2000" b="1">
                <a:solidFill>
                  <a:srgbClr val="004357"/>
                </a:solidFill>
              </a:rPr>
              <a:t>NTC thermistor</a:t>
            </a:r>
            <a:r>
              <a:rPr sz="2000">
                <a:solidFill>
                  <a:srgbClr val="004357"/>
                </a:solidFill>
              </a:rPr>
              <a:t> – datasheet and the equation with the B parameter. This equation is used to convert the measured resistance into temperature.</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09}" type="slidenum">
              <a:rPr sz="1200">
                <a:solidFill>
                  <a:srgbClr val="8A9397"/>
                </a:solidFill>
              </a:rPr>
              <a:t>9</a:t>
            </a:fld>
            <a:endParaRPr sz="1200">
              <a:solidFill>
                <a:srgbClr val="8A9397"/>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Documentation – lectures</a:t>
            </a:r>
          </a:p>
        </p:txBody>
      </p:sp>
      <p:sp>
        <p:nvSpPr>
          <p:cNvPr id="3" name="Content Placeholder 2"/>
          <p:cNvSpPr>
            <a:spLocks noGrp="1"/>
          </p:cNvSpPr>
          <p:nvPr>
            <p:ph idx="1"/>
          </p:nvPr>
        </p:nvSpPr>
        <p:spPr>
          <a:xfrm>
            <a:off x="809427" y="1452520"/>
            <a:ext cx="10926000" cy="4966560"/>
          </a:xfrm>
        </p:spPr>
        <p:txBody>
          <a:bodyPr wrap="square">
            <a:noAutofit/>
          </a:bodyPr>
          <a:lstStyle/>
          <a:p>
            <a:r>
              <a:rPr sz="2000" b="1">
                <a:solidFill>
                  <a:srgbClr val="004357"/>
                </a:solidFill>
              </a:rPr>
              <a:t>Lecture 2</a:t>
            </a:r>
            <a:r>
              <a:rPr sz="2000">
                <a:solidFill>
                  <a:srgbClr val="004357"/>
                </a:solidFill>
              </a:rPr>
              <a:t> – the FOPDT model: K</a:t>
            </a:r>
            <a:r>
              <a:rPr sz="2000" baseline="-25000">
                <a:solidFill>
                  <a:srgbClr val="004357"/>
                </a:solidFill>
              </a:rPr>
              <a:t>P</a:t>
            </a:r>
            <a:r>
              <a:rPr sz="2000">
                <a:solidFill>
                  <a:srgbClr val="004357"/>
                </a:solidFill>
              </a:rPr>
              <a:t>, T</a:t>
            </a:r>
            <a:r>
              <a:rPr sz="2000" baseline="-25000">
                <a:solidFill>
                  <a:srgbClr val="004357"/>
                </a:solidFill>
              </a:rPr>
              <a:t>P</a:t>
            </a:r>
            <a:r>
              <a:rPr sz="2000">
                <a:solidFill>
                  <a:srgbClr val="004357"/>
                </a:solidFill>
              </a:rPr>
              <a:t> and L, and how each is read from a step response. The delay L is counted from the moment the curve starts to move; this rule is applied directly in Task 6.</a:t>
            </a:r>
          </a:p>
          <a:p>
            <a:r>
              <a:rPr sz="2000" b="1">
                <a:solidFill>
                  <a:srgbClr val="004357"/>
                </a:solidFill>
              </a:rPr>
              <a:t>Lecture 3</a:t>
            </a:r>
            <a:r>
              <a:rPr sz="2000">
                <a:solidFill>
                  <a:srgbClr val="004357"/>
                </a:solidFill>
              </a:rPr>
              <a:t> – measuring chain, uncertainty and calibration. The numerical example there is computed for a solid bar. The profile on the station is a tube, so the loss coefficient must be derived from the geometry of the actual object.</a:t>
            </a:r>
          </a:p>
          <a:p>
            <a:r>
              <a:rPr sz="2000" b="1">
                <a:solidFill>
                  <a:srgbClr val="004357"/>
                </a:solidFill>
              </a:rPr>
              <a:t>Lecture 4</a:t>
            </a:r>
            <a:r>
              <a:rPr sz="2000">
                <a:solidFill>
                  <a:srgbClr val="004357"/>
                </a:solidFill>
              </a:rPr>
              <a:t> – sampling, aliasing and the averaging window. These concepts enter the justification of the sampling period chosen in Task 5.</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10}" type="slidenum">
              <a:rPr sz="1200">
                <a:solidFill>
                  <a:srgbClr val="8A9397"/>
                </a:solidFill>
              </a:rPr>
              <a:t>10</a:t>
            </a:fld>
            <a:endParaRPr sz="1200">
              <a:solidFill>
                <a:srgbClr val="8A9397"/>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Two kinds of number in the model – measured and assumed</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model of the object contains four coefficients:</a:t>
            </a:r>
          </a:p>
          <a:p>
            <a:pPr lvl="1"/>
            <a:r>
              <a:rPr sz="1800">
                <a:solidFill>
                  <a:srgbClr val="004357"/>
                </a:solidFill>
              </a:rPr>
              <a:t>heat capacity C,</a:t>
            </a:r>
          </a:p>
          <a:p>
            <a:pPr lvl="1"/>
            <a:r>
              <a:rPr sz="1800">
                <a:solidFill>
                  <a:srgbClr val="004357"/>
                </a:solidFill>
              </a:rPr>
              <a:t>heat exchange area A,</a:t>
            </a:r>
          </a:p>
          <a:p>
            <a:pPr lvl="1"/>
            <a:r>
              <a:rPr sz="1800">
                <a:solidFill>
                  <a:srgbClr val="004357"/>
                </a:solidFill>
              </a:rPr>
              <a:t>heat transfer coefficient h,</a:t>
            </a:r>
          </a:p>
          <a:p>
            <a:pPr lvl="1"/>
            <a:r>
              <a:rPr sz="1800">
                <a:solidFill>
                  <a:srgbClr val="004357"/>
                </a:solidFill>
              </a:rPr>
              <a:t>heater power P.</a:t>
            </a:r>
          </a:p>
          <a:p>
            <a:r>
              <a:rPr sz="2000">
                <a:solidFill>
                  <a:srgbClr val="004357"/>
                </a:solidFill>
              </a:rPr>
              <a:t>The coefficients C and A are obtained from weighing and from geometric measurements of the profile, and are therefore treated as </a:t>
            </a:r>
            <a:r>
              <a:rPr sz="2000" b="1">
                <a:solidFill>
                  <a:srgbClr val="004357"/>
                </a:solidFill>
              </a:rPr>
              <a:t>measured</a:t>
            </a:r>
            <a:r>
              <a:rPr sz="2000">
                <a:solidFill>
                  <a:srgbClr val="004357"/>
                </a:solidFill>
              </a:rPr>
              <a:t>. By contrast, h and P are initially taken from stated literature or catalogue ranges and are therefore treated as </a:t>
            </a:r>
            <a:r>
              <a:rPr sz="2000" b="1">
                <a:solidFill>
                  <a:srgbClr val="004357"/>
                </a:solidFill>
              </a:rPr>
              <a:t>assumed</a:t>
            </a:r>
            <a:r>
              <a:rPr sz="2000">
                <a:solidFill>
                  <a:srgbClr val="004357"/>
                </a:solidFill>
              </a:rPr>
              <a: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11}" type="slidenum">
              <a:rPr sz="1200">
                <a:solidFill>
                  <a:srgbClr val="8A9397"/>
                </a:solidFill>
              </a:rPr>
              <a:t>11</a:t>
            </a:fld>
            <a:endParaRPr sz="1200">
              <a:solidFill>
                <a:srgbClr val="8A9397"/>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Which coefficients may be computed from data</a:t>
            </a:r>
          </a:p>
        </p:txBody>
      </p:sp>
      <p:sp>
        <p:nvSpPr>
          <p:cNvPr id="3" name="Content Placeholder 2"/>
          <p:cNvSpPr>
            <a:spLocks noGrp="1"/>
          </p:cNvSpPr>
          <p:nvPr>
            <p:ph idx="1"/>
          </p:nvPr>
        </p:nvSpPr>
        <p:spPr>
          <a:xfrm>
            <a:off x="809427" y="1452520"/>
            <a:ext cx="10926000" cy="2730500"/>
          </a:xfrm>
        </p:spPr>
        <p:txBody>
          <a:bodyPr wrap="square">
            <a:noAutofit/>
          </a:bodyPr>
          <a:lstStyle/>
          <a:p>
            <a:r>
              <a:rPr sz="2000">
                <a:solidFill>
                  <a:srgbClr val="004357"/>
                </a:solidFill>
              </a:rPr>
              <a:t>This distinction decides which coefficients may be changed and computed from data in Task 7: the measured coefficients C and A remain fixed, while the assumed coefficients h and P may be identified from the recorded response.</a:t>
            </a:r>
          </a:p>
          <a:p>
            <a:r>
              <a:rPr sz="2000">
                <a:solidFill>
                  <a:srgbClr val="004357"/>
                </a:solidFill>
              </a:rPr>
              <a:t>As a consequence, almost all of the uncertainty of the calculations is carried by h and P. A typical difference between model prediction and measurement will therefore be of the same order as the uncertainty in these two coefficients.</a:t>
            </a:r>
          </a:p>
        </p:txBody>
      </p:sp>
      <p:pic>
        <p:nvPicPr>
          <p:cNvPr id="4" name="Picture 3" descr="lab1-wspolczynniki.png"/>
          <p:cNvPicPr>
            <a:picLocks noChangeAspect="1"/>
          </p:cNvPicPr>
          <p:nvPr/>
        </p:nvPicPr>
        <p:blipFill>
          <a:blip r:embed="rId2"/>
          <a:stretch>
            <a:fillRect/>
          </a:stretch>
        </p:blipFill>
        <p:spPr>
          <a:xfrm>
            <a:off x="936427" y="4310020"/>
            <a:ext cx="4826000" cy="1658355"/>
          </a:xfrm>
          <a:prstGeom prst="rect">
            <a:avLst/>
          </a:prstGeom>
        </p:spPr>
      </p:pic>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12}" type="slidenum">
              <a:rPr sz="1200">
                <a:solidFill>
                  <a:srgbClr val="8A9397"/>
                </a:solidFill>
              </a:rPr>
              <a:t>12</a:t>
            </a:fld>
            <a:endParaRPr sz="1200">
              <a:solidFill>
                <a:srgbClr val="8A9397"/>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A model that omitted friction</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centrifugal governor of 1788 controlled steam engines for decades before any theory described it. Maxwell published the first analysis in 1868, eighty years after the device had entered service.</a:t>
            </a:r>
          </a:p>
          <a:p>
            <a:r>
              <a:rPr sz="2000">
                <a:solidFill>
                  <a:srgbClr val="004357"/>
                </a:solidFill>
              </a:rPr>
              <a:t>During the nineteenth century the workmanship of machines improved and friction in their linkages decreased. Governors then began to oscillate instead of settling at the set speed.</a:t>
            </a:r>
          </a:p>
          <a:p>
            <a:r>
              <a:rPr sz="2000">
                <a:solidFill>
                  <a:srgbClr val="004357"/>
                </a:solidFill>
              </a:rPr>
              <a:t>Friction, which no calculation contained and which was seen as a defect of manufacture, acted as damping. Removing it removed the damping as well. The remedy was to add damping deliberately: later governors were built with oil dashpots.</a:t>
            </a:r>
          </a:p>
          <a:p>
            <a:r>
              <a:rPr sz="2000">
                <a:solidFill>
                  <a:srgbClr val="004357"/>
                </a:solidFill>
              </a:rPr>
              <a:t>An object contains effects that the model omits. Some are negligible. Some are beneficial. The absence of an effect from the model does not mean it is absent from the object.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13}" type="slidenum">
              <a:rPr sz="1200">
                <a:solidFill>
                  <a:srgbClr val="8A9397"/>
                </a:solidFill>
              </a:rPr>
              <a:t>13</a:t>
            </a:fld>
            <a:endParaRPr sz="1200">
              <a:solidFill>
                <a:srgbClr val="8A9397"/>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How far a first model can miss</a:t>
            </a:r>
          </a:p>
        </p:txBody>
      </p:sp>
      <p:sp>
        <p:nvSpPr>
          <p:cNvPr id="3" name="Content Placeholder 2"/>
          <p:cNvSpPr>
            <a:spLocks noGrp="1"/>
          </p:cNvSpPr>
          <p:nvPr>
            <p:ph idx="1"/>
          </p:nvPr>
        </p:nvSpPr>
        <p:spPr>
          <a:xfrm>
            <a:off x="809427" y="3227980"/>
            <a:ext cx="10926000" cy="3191100"/>
          </a:xfrm>
        </p:spPr>
        <p:txBody>
          <a:bodyPr wrap="square">
            <a:noAutofit/>
          </a:bodyPr>
          <a:lstStyle/>
          <a:p>
            <a:r>
              <a:rPr sz="2000">
                <a:solidFill>
                  <a:srgbClr val="004357"/>
                </a:solidFill>
              </a:rPr>
              <a:t>Experience from electrical circuits does not carry over directly to thermal objects. In this exercise an initial difference of several tens of percent between model and measurement is the expected result, not a sign of failure.</a:t>
            </a:r>
          </a:p>
        </p:txBody>
      </p:sp>
      <p:graphicFrame>
        <p:nvGraphicFramePr>
          <p:cNvPr id="4" name="Table 3"/>
          <p:cNvGraphicFramePr>
            <a:graphicFrameLocks noGrp="1"/>
          </p:cNvGraphicFramePr>
          <p:nvPr/>
        </p:nvGraphicFramePr>
        <p:xfrm>
          <a:off x="1038027" y="1452520"/>
          <a:ext cx="10468800" cy="1665732"/>
        </p:xfrm>
        <a:graphic>
          <a:graphicData uri="http://schemas.openxmlformats.org/drawingml/2006/table">
            <a:tbl>
              <a:tblPr firstRow="1" bandRow="1">
                <a:tableStyleId>{5C22544A-7EE6-4342-B048-85BDC9FD1C3A}</a:tableStyleId>
              </a:tblPr>
              <a:tblGrid>
                <a:gridCol w="2721888">
                  <a:extLst>
                    <a:ext uri="{9D8B030D-6E8A-4147-A177-3AD203B41FA5}">
                      <a16:colId xmlns:a16="http://schemas.microsoft.com/office/drawing/2014/main" val="20000"/>
                    </a:ext>
                  </a:extLst>
                </a:gridCol>
                <a:gridCol w="2303136">
                  <a:extLst>
                    <a:ext uri="{9D8B030D-6E8A-4147-A177-3AD203B41FA5}">
                      <a16:colId xmlns:a16="http://schemas.microsoft.com/office/drawing/2014/main" val="20001"/>
                    </a:ext>
                  </a:extLst>
                </a:gridCol>
                <a:gridCol w="5443776">
                  <a:extLst>
                    <a:ext uri="{9D8B030D-6E8A-4147-A177-3AD203B41FA5}">
                      <a16:colId xmlns:a16="http://schemas.microsoft.com/office/drawing/2014/main" val="20002"/>
                    </a:ext>
                  </a:extLst>
                </a:gridCol>
              </a:tblGrid>
              <a:tr h="277622">
                <a:tc>
                  <a:txBody>
                    <a:bodyPr/>
                    <a:lstStyle/>
                    <a:p>
                      <a:pPr algn="ctr"/>
                      <a:r>
                        <a:rPr sz="1300" b="1">
                          <a:solidFill>
                            <a:srgbClr val="FFFFFF"/>
                          </a:solidFill>
                        </a:rPr>
                        <a:t>Domain</a:t>
                      </a:r>
                    </a:p>
                  </a:txBody>
                  <a:tcPr marL="45720" marR="45720" marT="18288" marB="18288" anchor="ctr">
                    <a:solidFill>
                      <a:srgbClr val="004357"/>
                    </a:solidFill>
                  </a:tcPr>
                </a:tc>
                <a:tc>
                  <a:txBody>
                    <a:bodyPr/>
                    <a:lstStyle/>
                    <a:p>
                      <a:pPr algn="ctr"/>
                      <a:r>
                        <a:rPr sz="1300" b="1">
                          <a:solidFill>
                            <a:srgbClr val="FFFFFF"/>
                          </a:solidFill>
                        </a:rPr>
                        <a:t>First model agrees to</a:t>
                      </a:r>
                    </a:p>
                  </a:txBody>
                  <a:tcPr marL="45720" marR="45720" marT="18288" marB="18288" anchor="ctr">
                    <a:solidFill>
                      <a:srgbClr val="004357"/>
                    </a:solidFill>
                  </a:tcPr>
                </a:tc>
                <a:tc>
                  <a:txBody>
                    <a:bodyPr/>
                    <a:lstStyle/>
                    <a:p>
                      <a:pPr algn="ctr"/>
                      <a:r>
                        <a:rPr sz="1300" b="1">
                          <a:solidFill>
                            <a:srgbClr val="FFFFFF"/>
                          </a:solidFill>
                        </a:rPr>
                        <a:t>Quantity carrying the uncertainty</a:t>
                      </a:r>
                    </a:p>
                  </a:txBody>
                  <a:tcPr marL="45720" marR="45720" marT="18288" marB="18288" anchor="ctr">
                    <a:solidFill>
                      <a:srgbClr val="004357"/>
                    </a:solidFill>
                  </a:tcPr>
                </a:tc>
                <a:extLst>
                  <a:ext uri="{0D108BD9-81ED-4DB2-BD59-A6C34878D82A}">
                    <a16:rowId xmlns:a16="http://schemas.microsoft.com/office/drawing/2014/main" val="10000"/>
                  </a:ext>
                </a:extLst>
              </a:tr>
              <a:tr h="277622">
                <a:tc>
                  <a:txBody>
                    <a:bodyPr/>
                    <a:lstStyle/>
                    <a:p>
                      <a:pPr algn="ctr"/>
                      <a:r>
                        <a:rPr sz="1300">
                          <a:solidFill>
                            <a:srgbClr val="004357"/>
                          </a:solidFill>
                        </a:rPr>
                        <a:t>RC or RL circuit</a:t>
                      </a:r>
                    </a:p>
                  </a:txBody>
                  <a:tcPr marL="45720" marR="45720" marT="18288" marB="18288" anchor="ctr">
                    <a:solidFill>
                      <a:srgbClr val="FFFFFF"/>
                    </a:solidFill>
                  </a:tcPr>
                </a:tc>
                <a:tc>
                  <a:txBody>
                    <a:bodyPr/>
                    <a:lstStyle/>
                    <a:p>
                      <a:pPr algn="ctr"/>
                      <a:r>
                        <a:rPr sz="1300">
                          <a:solidFill>
                            <a:srgbClr val="004357"/>
                          </a:solidFill>
                        </a:rPr>
                        <a:t>1 - 3 %</a:t>
                      </a:r>
                    </a:p>
                  </a:txBody>
                  <a:tcPr marL="45720" marR="45720" marT="18288" marB="18288" anchor="ctr">
                    <a:solidFill>
                      <a:srgbClr val="FFFFFF"/>
                    </a:solidFill>
                  </a:tcPr>
                </a:tc>
                <a:tc>
                  <a:txBody>
                    <a:bodyPr/>
                    <a:lstStyle/>
                    <a:p>
                      <a:pPr algn="ctr"/>
                      <a:r>
                        <a:rPr sz="1300">
                          <a:solidFill>
                            <a:srgbClr val="004357"/>
                          </a:solidFill>
                        </a:rPr>
                        <a:t>none; R and C are measured directly</a:t>
                      </a:r>
                    </a:p>
                  </a:txBody>
                  <a:tcPr marL="45720" marR="45720" marT="18288" marB="18288" anchor="ctr">
                    <a:solidFill>
                      <a:srgbClr val="FFFFFF"/>
                    </a:solidFill>
                  </a:tcPr>
                </a:tc>
                <a:extLst>
                  <a:ext uri="{0D108BD9-81ED-4DB2-BD59-A6C34878D82A}">
                    <a16:rowId xmlns:a16="http://schemas.microsoft.com/office/drawing/2014/main" val="10001"/>
                  </a:ext>
                </a:extLst>
              </a:tr>
              <a:tr h="277622">
                <a:tc>
                  <a:txBody>
                    <a:bodyPr/>
                    <a:lstStyle/>
                    <a:p>
                      <a:pPr algn="ctr"/>
                      <a:r>
                        <a:rPr sz="1300">
                          <a:solidFill>
                            <a:srgbClr val="004357"/>
                          </a:solidFill>
                        </a:rPr>
                        <a:t>electric drive</a:t>
                      </a:r>
                    </a:p>
                  </a:txBody>
                  <a:tcPr marL="45720" marR="45720" marT="18288" marB="18288" anchor="ctr">
                    <a:solidFill>
                      <a:srgbClr val="F5F8F9"/>
                    </a:solidFill>
                  </a:tcPr>
                </a:tc>
                <a:tc>
                  <a:txBody>
                    <a:bodyPr/>
                    <a:lstStyle/>
                    <a:p>
                      <a:pPr algn="ctr"/>
                      <a:r>
                        <a:rPr sz="1300">
                          <a:solidFill>
                            <a:srgbClr val="004357"/>
                          </a:solidFill>
                        </a:rPr>
                        <a:t>5 - 10 %</a:t>
                      </a:r>
                    </a:p>
                  </a:txBody>
                  <a:tcPr marL="45720" marR="45720" marT="18288" marB="18288" anchor="ctr">
                    <a:solidFill>
                      <a:srgbClr val="F5F8F9"/>
                    </a:solidFill>
                  </a:tcPr>
                </a:tc>
                <a:tc>
                  <a:txBody>
                    <a:bodyPr/>
                    <a:lstStyle/>
                    <a:p>
                      <a:pPr algn="ctr"/>
                      <a:r>
                        <a:rPr sz="1300">
                          <a:solidFill>
                            <a:srgbClr val="004357"/>
                          </a:solidFill>
                        </a:rPr>
                        <a:t>friction, moment of inertia</a:t>
                      </a:r>
                    </a:p>
                  </a:txBody>
                  <a:tcPr marL="45720" marR="45720" marT="18288" marB="18288" anchor="ctr">
                    <a:solidFill>
                      <a:srgbClr val="F5F8F9"/>
                    </a:solidFill>
                  </a:tcPr>
                </a:tc>
                <a:extLst>
                  <a:ext uri="{0D108BD9-81ED-4DB2-BD59-A6C34878D82A}">
                    <a16:rowId xmlns:a16="http://schemas.microsoft.com/office/drawing/2014/main" val="10002"/>
                  </a:ext>
                </a:extLst>
              </a:tr>
              <a:tr h="277622">
                <a:tc>
                  <a:txBody>
                    <a:bodyPr/>
                    <a:lstStyle/>
                    <a:p>
                      <a:pPr algn="ctr"/>
                      <a:r>
                        <a:rPr sz="1300" b="1">
                          <a:solidFill>
                            <a:srgbClr val="004357"/>
                          </a:solidFill>
                        </a:rPr>
                        <a:t>thermal object in air</a:t>
                      </a:r>
                    </a:p>
                  </a:txBody>
                  <a:tcPr marL="45720" marR="45720" marT="18288" marB="18288" anchor="ctr">
                    <a:solidFill>
                      <a:srgbClr val="FFFFFF"/>
                    </a:solidFill>
                  </a:tcPr>
                </a:tc>
                <a:tc>
                  <a:txBody>
                    <a:bodyPr/>
                    <a:lstStyle/>
                    <a:p>
                      <a:pPr algn="ctr"/>
                      <a:r>
                        <a:rPr sz="1300" b="1">
                          <a:solidFill>
                            <a:srgbClr val="004357"/>
                          </a:solidFill>
                        </a:rPr>
                        <a:t>20 - 50 %</a:t>
                      </a:r>
                    </a:p>
                  </a:txBody>
                  <a:tcPr marL="45720" marR="45720" marT="18288" marB="18288" anchor="ctr">
                    <a:solidFill>
                      <a:srgbClr val="FFFFFF"/>
                    </a:solidFill>
                  </a:tcPr>
                </a:tc>
                <a:tc>
                  <a:txBody>
                    <a:bodyPr/>
                    <a:lstStyle/>
                    <a:p>
                      <a:pPr algn="ctr"/>
                      <a:r>
                        <a:rPr sz="1300" b="1">
                          <a:solidFill>
                            <a:srgbClr val="004357"/>
                          </a:solidFill>
                        </a:rPr>
                        <a:t>heat transfer coefficient</a:t>
                      </a:r>
                    </a:p>
                  </a:txBody>
                  <a:tcPr marL="45720" marR="45720" marT="18288" marB="18288" anchor="ctr">
                    <a:solidFill>
                      <a:srgbClr val="FFFFFF"/>
                    </a:solidFill>
                  </a:tcPr>
                </a:tc>
                <a:extLst>
                  <a:ext uri="{0D108BD9-81ED-4DB2-BD59-A6C34878D82A}">
                    <a16:rowId xmlns:a16="http://schemas.microsoft.com/office/drawing/2014/main" val="10003"/>
                  </a:ext>
                </a:extLst>
              </a:tr>
              <a:tr h="277622">
                <a:tc>
                  <a:txBody>
                    <a:bodyPr/>
                    <a:lstStyle/>
                    <a:p>
                      <a:pPr algn="ctr"/>
                      <a:r>
                        <a:rPr sz="1300">
                          <a:solidFill>
                            <a:srgbClr val="004357"/>
                          </a:solidFill>
                        </a:rPr>
                        <a:t>flow in a pipe</a:t>
                      </a:r>
                    </a:p>
                  </a:txBody>
                  <a:tcPr marL="45720" marR="45720" marT="18288" marB="18288" anchor="ctr">
                    <a:solidFill>
                      <a:srgbClr val="F5F8F9"/>
                    </a:solidFill>
                  </a:tcPr>
                </a:tc>
                <a:tc>
                  <a:txBody>
                    <a:bodyPr/>
                    <a:lstStyle/>
                    <a:p>
                      <a:pPr algn="ctr"/>
                      <a:r>
                        <a:rPr sz="1300">
                          <a:solidFill>
                            <a:srgbClr val="004357"/>
                          </a:solidFill>
                        </a:rPr>
                        <a:t>10 - 30 %</a:t>
                      </a:r>
                    </a:p>
                  </a:txBody>
                  <a:tcPr marL="45720" marR="45720" marT="18288" marB="18288" anchor="ctr">
                    <a:solidFill>
                      <a:srgbClr val="F5F8F9"/>
                    </a:solidFill>
                  </a:tcPr>
                </a:tc>
                <a:tc>
                  <a:txBody>
                    <a:bodyPr/>
                    <a:lstStyle/>
                    <a:p>
                      <a:pPr algn="ctr"/>
                      <a:r>
                        <a:rPr sz="1300">
                          <a:solidFill>
                            <a:srgbClr val="004357"/>
                          </a:solidFill>
                        </a:rPr>
                        <a:t>roughness, local losses</a:t>
                      </a:r>
                    </a:p>
                  </a:txBody>
                  <a:tcPr marL="45720" marR="45720" marT="18288" marB="18288" anchor="ctr">
                    <a:solidFill>
                      <a:srgbClr val="F5F8F9"/>
                    </a:solidFill>
                  </a:tcPr>
                </a:tc>
                <a:extLst>
                  <a:ext uri="{0D108BD9-81ED-4DB2-BD59-A6C34878D82A}">
                    <a16:rowId xmlns:a16="http://schemas.microsoft.com/office/drawing/2014/main" val="10004"/>
                  </a:ext>
                </a:extLst>
              </a:tr>
              <a:tr h="277622">
                <a:tc>
                  <a:txBody>
                    <a:bodyPr/>
                    <a:lstStyle/>
                    <a:p>
                      <a:pPr algn="ctr"/>
                      <a:r>
                        <a:rPr sz="1300">
                          <a:solidFill>
                            <a:srgbClr val="004357"/>
                          </a:solidFill>
                        </a:rPr>
                        <a:t>mechanical contact</a:t>
                      </a:r>
                    </a:p>
                  </a:txBody>
                  <a:tcPr marL="45720" marR="45720" marT="18288" marB="18288" anchor="ctr">
                    <a:solidFill>
                      <a:srgbClr val="FFFFFF"/>
                    </a:solidFill>
                  </a:tcPr>
                </a:tc>
                <a:tc>
                  <a:txBody>
                    <a:bodyPr/>
                    <a:lstStyle/>
                    <a:p>
                      <a:pPr algn="ctr"/>
                      <a:r>
                        <a:rPr sz="1300">
                          <a:solidFill>
                            <a:srgbClr val="004357"/>
                          </a:solidFill>
                        </a:rPr>
                        <a:t>50 - 200 %</a:t>
                      </a:r>
                    </a:p>
                  </a:txBody>
                  <a:tcPr marL="45720" marR="45720" marT="18288" marB="18288" anchor="ctr">
                    <a:solidFill>
                      <a:srgbClr val="FFFFFF"/>
                    </a:solidFill>
                  </a:tcPr>
                </a:tc>
                <a:tc>
                  <a:txBody>
                    <a:bodyPr/>
                    <a:lstStyle/>
                    <a:p>
                      <a:pPr algn="ctr"/>
                      <a:r>
                        <a:rPr sz="1300">
                          <a:solidFill>
                            <a:srgbClr val="004357"/>
                          </a:solidFill>
                        </a:rPr>
                        <a:t>surface condition</a:t>
                      </a:r>
                    </a:p>
                  </a:txBody>
                  <a:tcPr marL="45720" marR="45720"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14}" type="slidenum">
              <a:rPr sz="1200">
                <a:solidFill>
                  <a:srgbClr val="8A9397"/>
                </a:solidFill>
              </a:rPr>
              <a:t>14</a:t>
            </a:fld>
            <a:endParaRPr sz="1200">
              <a:solidFill>
                <a:srgbClr val="8A9397"/>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How far a first model can miss – the loss coefficient</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assumed parameters are then recomputed using the model. The electrical power supplied to the circuit does not turn entirely into heat in the profile, and free convection is given in the literature as roughly 5–10 W/(m²K).</a:t>
            </a:r>
          </a:p>
          <a:p>
            <a:r>
              <a:rPr sz="2000">
                <a:solidFill>
                  <a:srgbClr val="004357"/>
                </a:solidFill>
              </a:rPr>
              <a:t>The loss coefficient from Lecture 3, written UA, is the product of these two quantities:  </a:t>
            </a:r>
            <a:r>
              <a:rPr sz="2000" b="1">
                <a:solidFill>
                  <a:srgbClr val="004357"/>
                </a:solidFill>
              </a:rPr>
              <a:t>UA = h · A</a:t>
            </a:r>
          </a:p>
          <a:p>
            <a:r>
              <a:rPr sz="2000">
                <a:solidFill>
                  <a:srgbClr val="004357"/>
                </a:solidFill>
              </a:rPr>
              <a:t>Splitting it into two factors is what allows a decision about the inner surface: changing A while leaving h unchanged.</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15}" type="slidenum">
              <a:rPr sz="1200">
                <a:solidFill>
                  <a:srgbClr val="8A9397"/>
                </a:solidFill>
              </a:rPr>
              <a:t>15</a:t>
            </a:fld>
            <a:endParaRPr sz="1200">
              <a:solidFill>
                <a:srgbClr val="8A9397"/>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What this model leaves out</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lumped first-order model describes the profile with three numbers. The real object contains at least six effects that the model does not cover:</a:t>
            </a:r>
          </a:p>
          <a:p>
            <a:pPr lvl="1"/>
            <a:r>
              <a:rPr sz="1800">
                <a:solidFill>
                  <a:srgbClr val="004357"/>
                </a:solidFill>
              </a:rPr>
              <a:t>the inner surface of the hollow profile,</a:t>
            </a:r>
          </a:p>
          <a:p>
            <a:pPr lvl="1"/>
            <a:r>
              <a:rPr sz="1800">
                <a:solidFill>
                  <a:srgbClr val="004357"/>
                </a:solidFill>
              </a:rPr>
              <a:t>the thermal resistance of the joint under the heating resistor,</a:t>
            </a:r>
          </a:p>
          <a:p>
            <a:pPr lvl="1"/>
            <a:r>
              <a:rPr sz="1800">
                <a:solidFill>
                  <a:srgbClr val="004357"/>
                </a:solidFill>
              </a:rPr>
              <a:t>the mounting screws acting as fins,</a:t>
            </a:r>
          </a:p>
          <a:p>
            <a:pPr lvl="1"/>
            <a:r>
              <a:rPr sz="1800">
                <a:solidFill>
                  <a:srgbClr val="004357"/>
                </a:solidFill>
              </a:rPr>
              <a:t>the sensor leads acting as fins,</a:t>
            </a:r>
          </a:p>
          <a:p>
            <a:pPr lvl="1"/>
            <a:r>
              <a:rPr sz="1800">
                <a:solidFill>
                  <a:srgbClr val="004357"/>
                </a:solidFill>
              </a:rPr>
              <a:t>the distribution of temperature along the profile,</a:t>
            </a:r>
          </a:p>
          <a:p>
            <a:pPr lvl="1"/>
            <a:r>
              <a:rPr sz="1800">
                <a:solidFill>
                  <a:srgbClr val="004357"/>
                </a:solidFill>
              </a:rPr>
              <a:t>the time heat needs to travel along the profile.</a:t>
            </a:r>
          </a:p>
          <a:p>
            <a:r>
              <a:rPr sz="2000">
                <a:solidFill>
                  <a:srgbClr val="004357"/>
                </a:solidFill>
              </a:rPr>
              <a:t>The first four change the numerical values of the coefficients in the lumped model. The last two mean that the object is not exactly of first order: it does not behave as if the entire profile had a single uniform temperature.</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16}" type="slidenum">
              <a:rPr sz="1200">
                <a:solidFill>
                  <a:srgbClr val="8A9397"/>
                </a:solidFill>
              </a:rPr>
              <a:t>16</a:t>
            </a:fld>
            <a:endParaRPr sz="1200">
              <a:solidFill>
                <a:srgbClr val="8A9397"/>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The work is a loop, not a line</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assumed coefficients are corrected once, in Tasks 2 and 3, and the correction is then checked in Task 4 on new data.</a:t>
            </a:r>
          </a:p>
          <a:p>
            <a:r>
              <a:rPr sz="2000">
                <a:solidFill>
                  <a:srgbClr val="004357"/>
                </a:solidFill>
              </a:rPr>
              <a:t>Computing coefficients from data is called </a:t>
            </a:r>
            <a:r>
              <a:rPr sz="2000" b="1">
                <a:solidFill>
                  <a:srgbClr val="004357"/>
                </a:solidFill>
              </a:rPr>
              <a:t>identification</a:t>
            </a:r>
            <a:r>
              <a:rPr sz="2000">
                <a:solidFill>
                  <a:srgbClr val="004357"/>
                </a:solidFill>
              </a:rPr>
              <a:t>. Changing numbers until a curve looks right is called </a:t>
            </a:r>
            <a:r>
              <a:rPr sz="2000" b="1">
                <a:solidFill>
                  <a:srgbClr val="004357"/>
                </a:solidFill>
              </a:rPr>
              <a:t>curve fitting</a:t>
            </a:r>
            <a:r>
              <a:rPr sz="2000">
                <a:solidFill>
                  <a:srgbClr val="004357"/>
                </a:solidFill>
              </a:rPr>
              <a:t>. Task 7 sets out the difference between these two approaches.</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17}" type="slidenum">
              <a:rPr sz="1200">
                <a:solidFill>
                  <a:srgbClr val="8A9397"/>
                </a:solidFill>
              </a:rPr>
              <a:t>17</a:t>
            </a:fld>
            <a:endParaRPr sz="1200">
              <a:solidFill>
                <a:srgbClr val="8A9397"/>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Order of work</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Calibration requires a stable profile temperature, preferably room temperature, with no heating. For that reason:</a:t>
            </a:r>
          </a:p>
          <a:p>
            <a:pPr lvl="1"/>
            <a:r>
              <a:rPr sz="1800">
                <a:solidFill>
                  <a:srgbClr val="004357"/>
                </a:solidFill>
              </a:rPr>
              <a:t>1. the station should be allowed to cool to ambient before calibration, and</a:t>
            </a:r>
          </a:p>
          <a:p>
            <a:pPr lvl="1"/>
            <a:r>
              <a:rPr sz="1800">
                <a:solidFill>
                  <a:srgbClr val="004357"/>
                </a:solidFill>
              </a:rPr>
              <a:t>2. calibration should be carried out before the first heating run whenever possible.</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18}" type="slidenum">
              <a:rPr sz="1200">
                <a:solidFill>
                  <a:srgbClr val="8A9397"/>
                </a:solidFill>
              </a:rPr>
              <a:t>18</a:t>
            </a:fld>
            <a:endParaRPr sz="1200">
              <a:solidFill>
                <a:srgbClr val="8A9397"/>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1 – Commissioning</a:t>
            </a:r>
          </a:p>
        </p:txBody>
      </p:sp>
      <p:sp>
        <p:nvSpPr>
          <p:cNvPr id="3" name="Content Placeholder 2"/>
          <p:cNvSpPr>
            <a:spLocks noGrp="1"/>
          </p:cNvSpPr>
          <p:nvPr>
            <p:ph idx="1"/>
          </p:nvPr>
        </p:nvSpPr>
        <p:spPr>
          <a:xfrm>
            <a:off x="809427" y="2672736"/>
            <a:ext cx="10926000" cy="3746344"/>
          </a:xfrm>
        </p:spPr>
        <p:txBody>
          <a:bodyPr wrap="square">
            <a:noAutofit/>
          </a:bodyPr>
          <a:lstStyle/>
          <a:p>
            <a:r>
              <a:rPr sz="2000">
                <a:solidFill>
                  <a:srgbClr val="004357"/>
                </a:solidFill>
              </a:rPr>
              <a:t>The purpose of Task 1 is to check the basic health of the station and the wiring of the sensors.</a:t>
            </a:r>
          </a:p>
          <a:p>
            <a:r>
              <a:rPr sz="2000">
                <a:solidFill>
                  <a:srgbClr val="004357"/>
                </a:solidFill>
              </a:rPr>
              <a:t>The touch test consists of warming one sensor with a finger and observing the three readings. Correct wiring shows as a change in exactly one reading. If two readings change, the wires are crossed; a station in that state is not fit for calibration and must be reported.</a:t>
            </a:r>
          </a:p>
          <a:p>
            <a:r>
              <a:rPr sz="2000">
                <a:solidFill>
                  <a:srgbClr val="004357"/>
                </a:solidFill>
              </a:rPr>
              <a:t>The components are soldered and are not to be disconnected, so the touch test is the only practical check of the connections.</a:t>
            </a:r>
          </a:p>
        </p:txBody>
      </p:sp>
      <p:graphicFrame>
        <p:nvGraphicFramePr>
          <p:cNvPr id="4" name="Table 3"/>
          <p:cNvGraphicFramePr>
            <a:graphicFrameLocks noGrp="1"/>
          </p:cNvGraphicFramePr>
          <p:nvPr/>
        </p:nvGraphicFramePr>
        <p:xfrm>
          <a:off x="1038027" y="1452520"/>
          <a:ext cx="10468799" cy="1110488"/>
        </p:xfrm>
        <a:graphic>
          <a:graphicData uri="http://schemas.openxmlformats.org/drawingml/2006/table">
            <a:tbl>
              <a:tblPr firstRow="1" bandRow="1">
                <a:tableStyleId>{5C22544A-7EE6-4342-B048-85BDC9FD1C3A}</a:tableStyleId>
              </a:tblPr>
              <a:tblGrid>
                <a:gridCol w="8924222">
                  <a:extLst>
                    <a:ext uri="{9D8B030D-6E8A-4147-A177-3AD203B41FA5}">
                      <a16:colId xmlns:a16="http://schemas.microsoft.com/office/drawing/2014/main" val="20000"/>
                    </a:ext>
                  </a:extLst>
                </a:gridCol>
                <a:gridCol w="1544577">
                  <a:extLst>
                    <a:ext uri="{9D8B030D-6E8A-4147-A177-3AD203B41FA5}">
                      <a16:colId xmlns:a16="http://schemas.microsoft.com/office/drawing/2014/main" val="20001"/>
                    </a:ext>
                  </a:extLst>
                </a:gridCol>
              </a:tblGrid>
              <a:tr h="277622">
                <a:tc>
                  <a:txBody>
                    <a:bodyPr/>
                    <a:lstStyle/>
                    <a:p>
                      <a:pPr algn="ctr"/>
                      <a:r>
                        <a:rPr sz="1300" b="1">
                          <a:solidFill>
                            <a:srgbClr val="FFFFFF"/>
                          </a:solidFill>
                        </a:rPr>
                        <a:t>Item</a:t>
                      </a:r>
                    </a:p>
                  </a:txBody>
                  <a:tcPr marL="45720" marR="45720" marT="18288" marB="18288" anchor="ctr">
                    <a:solidFill>
                      <a:srgbClr val="004357"/>
                    </a:solidFill>
                  </a:tcPr>
                </a:tc>
                <a:tc>
                  <a:txBody>
                    <a:bodyPr/>
                    <a:lstStyle/>
                    <a:p>
                      <a:pPr algn="ctr"/>
                      <a:r>
                        <a:rPr sz="1300" b="1">
                          <a:solidFill>
                            <a:srgbClr val="FFFFFF"/>
                          </a:solidFill>
                        </a:rPr>
                        <a:t>p</a:t>
                      </a:r>
                    </a:p>
                  </a:txBody>
                  <a:tcPr marL="45720" marR="45720" marT="18288" marB="18288" anchor="ctr">
                    <a:solidFill>
                      <a:srgbClr val="004357"/>
                    </a:solidFill>
                  </a:tcPr>
                </a:tc>
                <a:extLst>
                  <a:ext uri="{0D108BD9-81ED-4DB2-BD59-A6C34878D82A}">
                    <a16:rowId xmlns:a16="http://schemas.microsoft.com/office/drawing/2014/main" val="10000"/>
                  </a:ext>
                </a:extLst>
              </a:tr>
              <a:tr h="277622">
                <a:tc>
                  <a:txBody>
                    <a:bodyPr/>
                    <a:lstStyle/>
                    <a:p>
                      <a:pPr algn="ctr"/>
                      <a:r>
                        <a:rPr sz="1300">
                          <a:solidFill>
                            <a:srgbClr val="004357"/>
                          </a:solidFill>
                        </a:rPr>
                        <a:t>a) the set checked against the list; the sensor at 40, at 80 and at 120 mm established</a:t>
                      </a:r>
                    </a:p>
                  </a:txBody>
                  <a:tcPr marL="45720" marR="45720" marT="18288" marB="18288" anchor="ctr">
                    <a:solidFill>
                      <a:srgbClr val="FFFFFF"/>
                    </a:solidFill>
                  </a:tcPr>
                </a:tc>
                <a:tc>
                  <a:txBody>
                    <a:bodyPr/>
                    <a:lstStyle/>
                    <a:p>
                      <a:pPr algn="ctr"/>
                      <a:r>
                        <a:rPr sz="1300">
                          <a:solidFill>
                            <a:srgbClr val="004357"/>
                          </a:solidFill>
                        </a:rPr>
                        <a:t>1</a:t>
                      </a:r>
                    </a:p>
                  </a:txBody>
                  <a:tcPr marL="45720" marR="45720" marT="18288" marB="18288" anchor="ctr">
                    <a:solidFill>
                      <a:srgbClr val="FFFFFF"/>
                    </a:solidFill>
                  </a:tcPr>
                </a:tc>
                <a:extLst>
                  <a:ext uri="{0D108BD9-81ED-4DB2-BD59-A6C34878D82A}">
                    <a16:rowId xmlns:a16="http://schemas.microsoft.com/office/drawing/2014/main" val="10001"/>
                  </a:ext>
                </a:extLst>
              </a:tr>
              <a:tr h="277622">
                <a:tc>
                  <a:txBody>
                    <a:bodyPr/>
                    <a:lstStyle/>
                    <a:p>
                      <a:pPr algn="ctr"/>
                      <a:r>
                        <a:rPr sz="1300">
                          <a:solidFill>
                            <a:srgbClr val="004357"/>
                          </a:solidFill>
                        </a:rPr>
                        <a:t>b) the wiring checked by the touch test on three channels</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2"/>
                  </a:ext>
                </a:extLst>
              </a:tr>
              <a:tr h="277622">
                <a:tc>
                  <a:txBody>
                    <a:bodyPr/>
                    <a:lstStyle/>
                    <a:p>
                      <a:pPr algn="ctr"/>
                      <a:r>
                        <a:rPr sz="1300">
                          <a:solidFill>
                            <a:srgbClr val="004357"/>
                          </a:solidFill>
                        </a:rPr>
                        <a:t>total</a:t>
                      </a:r>
                    </a:p>
                  </a:txBody>
                  <a:tcPr marL="45720" marR="45720" marT="18288" marB="18288" anchor="ctr">
                    <a:solidFill>
                      <a:srgbClr val="FFFFFF"/>
                    </a:solidFill>
                  </a:tcPr>
                </a:tc>
                <a:tc>
                  <a:txBody>
                    <a:bodyPr/>
                    <a:lstStyle/>
                    <a:p>
                      <a:pPr algn="ctr"/>
                      <a:r>
                        <a:rPr sz="1300">
                          <a:solidFill>
                            <a:srgbClr val="004357"/>
                          </a:solidFill>
                        </a:rPr>
                        <a:t>2</a:t>
                      </a:r>
                    </a:p>
                  </a:txBody>
                  <a:tcPr marL="45720" marR="45720"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19}" type="slidenum">
              <a:rPr sz="1200">
                <a:solidFill>
                  <a:srgbClr val="8A9397"/>
                </a:solidFill>
              </a:rPr>
              <a:t>19</a:t>
            </a:fld>
            <a:endParaRPr sz="1200">
              <a:solidFill>
                <a:srgbClr val="8A9397"/>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2 – Parameters derived from theory</a:t>
            </a:r>
          </a:p>
        </p:txBody>
      </p:sp>
      <p:sp>
        <p:nvSpPr>
          <p:cNvPr id="3" name="Content Placeholder 2"/>
          <p:cNvSpPr>
            <a:spLocks noGrp="1"/>
          </p:cNvSpPr>
          <p:nvPr>
            <p:ph idx="1"/>
          </p:nvPr>
        </p:nvSpPr>
        <p:spPr>
          <a:xfrm>
            <a:off x="809427" y="3429401"/>
            <a:ext cx="10926000" cy="2989679"/>
          </a:xfrm>
        </p:spPr>
        <p:txBody>
          <a:bodyPr wrap="square">
            <a:noAutofit/>
          </a:bodyPr>
          <a:lstStyle/>
          <a:p>
            <a:r>
              <a:rPr sz="2000">
                <a:solidFill>
                  <a:srgbClr val="004357"/>
                </a:solidFill>
              </a:rPr>
              <a:t>Task 2 is carried out before any measurement and before the program is written. In this task, the theoretical parameters of the model are derived from geometry and material data.</a:t>
            </a:r>
          </a:p>
        </p:txBody>
      </p:sp>
      <p:graphicFrame>
        <p:nvGraphicFramePr>
          <p:cNvPr id="4" name="Table 3"/>
          <p:cNvGraphicFramePr>
            <a:graphicFrameLocks noGrp="1"/>
          </p:cNvGraphicFramePr>
          <p:nvPr/>
        </p:nvGraphicFramePr>
        <p:xfrm>
          <a:off x="1038027" y="1452520"/>
          <a:ext cx="10468799" cy="1867153"/>
        </p:xfrm>
        <a:graphic>
          <a:graphicData uri="http://schemas.openxmlformats.org/drawingml/2006/table">
            <a:tbl>
              <a:tblPr firstRow="1" bandRow="1">
                <a:tableStyleId>{5C22544A-7EE6-4342-B048-85BDC9FD1C3A}</a:tableStyleId>
              </a:tblPr>
              <a:tblGrid>
                <a:gridCol w="8924222">
                  <a:extLst>
                    <a:ext uri="{9D8B030D-6E8A-4147-A177-3AD203B41FA5}">
                      <a16:colId xmlns:a16="http://schemas.microsoft.com/office/drawing/2014/main" val="20000"/>
                    </a:ext>
                  </a:extLst>
                </a:gridCol>
                <a:gridCol w="1544577">
                  <a:extLst>
                    <a:ext uri="{9D8B030D-6E8A-4147-A177-3AD203B41FA5}">
                      <a16:colId xmlns:a16="http://schemas.microsoft.com/office/drawing/2014/main" val="20001"/>
                    </a:ext>
                  </a:extLst>
                </a:gridCol>
              </a:tblGrid>
              <a:tr h="311192">
                <a:tc>
                  <a:txBody>
                    <a:bodyPr/>
                    <a:lstStyle/>
                    <a:p>
                      <a:pPr algn="ctr"/>
                      <a:r>
                        <a:rPr sz="1300" b="1">
                          <a:solidFill>
                            <a:srgbClr val="FFFFFF"/>
                          </a:solidFill>
                        </a:rPr>
                        <a:t>Item</a:t>
                      </a:r>
                    </a:p>
                  </a:txBody>
                  <a:tcPr marL="45720" marR="45720" marT="18288" marB="18288" anchor="ctr">
                    <a:solidFill>
                      <a:srgbClr val="004357"/>
                    </a:solidFill>
                  </a:tcPr>
                </a:tc>
                <a:tc>
                  <a:txBody>
                    <a:bodyPr/>
                    <a:lstStyle/>
                    <a:p>
                      <a:pPr algn="ctr"/>
                      <a:r>
                        <a:rPr sz="1300" b="1">
                          <a:solidFill>
                            <a:srgbClr val="FFFFFF"/>
                          </a:solidFill>
                        </a:rPr>
                        <a:t>p</a:t>
                      </a:r>
                    </a:p>
                  </a:txBody>
                  <a:tcPr marL="45720" marR="45720" marT="18288" marB="18288" anchor="ctr">
                    <a:solidFill>
                      <a:srgbClr val="004357"/>
                    </a:solidFill>
                  </a:tcPr>
                </a:tc>
                <a:extLst>
                  <a:ext uri="{0D108BD9-81ED-4DB2-BD59-A6C34878D82A}">
                    <a16:rowId xmlns:a16="http://schemas.microsoft.com/office/drawing/2014/main" val="10000"/>
                  </a:ext>
                </a:extLst>
              </a:tr>
              <a:tr h="311192">
                <a:tc>
                  <a:txBody>
                    <a:bodyPr/>
                    <a:lstStyle/>
                    <a:p>
                      <a:pPr algn="ctr"/>
                      <a:r>
                        <a:rPr sz="1300">
                          <a:solidFill>
                            <a:srgbClr val="004357"/>
                          </a:solidFill>
                        </a:rPr>
                        <a:t>a) the complete calculation: heating power, heat capacity, exchange area, loss coefficient, steady-state rise, T</a:t>
                      </a:r>
                      <a:r>
                        <a:rPr sz="1300" baseline="-25000">
                          <a:solidFill>
                            <a:srgbClr val="004357"/>
                          </a:solidFill>
                        </a:rPr>
                        <a:t>P</a:t>
                      </a:r>
                      <a:r>
                        <a:rPr sz="1300">
                          <a:solidFill>
                            <a:srgbClr val="004357"/>
                          </a:solidFill>
                        </a:rPr>
                        <a:t> and K</a:t>
                      </a:r>
                      <a:r>
                        <a:rPr sz="1300" baseline="-25000">
                          <a:solidFill>
                            <a:srgbClr val="004357"/>
                          </a:solidFill>
                        </a:rPr>
                        <a:t>P</a:t>
                      </a:r>
                    </a:p>
                  </a:txBody>
                  <a:tcPr marL="45720" marR="45720" marT="18288" marB="18288" anchor="ctr">
                    <a:solidFill>
                      <a:srgbClr val="FFFFFF"/>
                    </a:solidFill>
                  </a:tcPr>
                </a:tc>
                <a:tc>
                  <a:txBody>
                    <a:bodyPr/>
                    <a:lstStyle/>
                    <a:p>
                      <a:pPr algn="ctr"/>
                      <a:r>
                        <a:rPr sz="1300">
                          <a:solidFill>
                            <a:srgbClr val="004357"/>
                          </a:solidFill>
                        </a:rPr>
                        <a:t>4</a:t>
                      </a:r>
                    </a:p>
                  </a:txBody>
                  <a:tcPr marL="45720" marR="45720" marT="18288" marB="18288" anchor="ctr">
                    <a:solidFill>
                      <a:srgbClr val="FFFFFF"/>
                    </a:solidFill>
                  </a:tcPr>
                </a:tc>
                <a:extLst>
                  <a:ext uri="{0D108BD9-81ED-4DB2-BD59-A6C34878D82A}">
                    <a16:rowId xmlns:a16="http://schemas.microsoft.com/office/drawing/2014/main" val="10001"/>
                  </a:ext>
                </a:extLst>
              </a:tr>
              <a:tr h="311192">
                <a:tc>
                  <a:txBody>
                    <a:bodyPr/>
                    <a:lstStyle/>
                    <a:p>
                      <a:pPr algn="ctr"/>
                      <a:r>
                        <a:rPr sz="1300">
                          <a:solidFill>
                            <a:srgbClr val="004357"/>
                          </a:solidFill>
                        </a:rPr>
                        <a:t>b) decision on the inner surface, explicit and justified</a:t>
                      </a:r>
                    </a:p>
                  </a:txBody>
                  <a:tcPr marL="45720" marR="45720" marT="18288" marB="18288" anchor="ctr">
                    <a:solidFill>
                      <a:srgbClr val="F5F8F9"/>
                    </a:solidFill>
                  </a:tcPr>
                </a:tc>
                <a:tc>
                  <a:txBody>
                    <a:bodyPr/>
                    <a:lstStyle/>
                    <a:p>
                      <a:pPr algn="ctr"/>
                      <a:r>
                        <a:rPr sz="1300">
                          <a:solidFill>
                            <a:srgbClr val="004357"/>
                          </a:solidFill>
                        </a:rPr>
                        <a:t>2</a:t>
                      </a:r>
                    </a:p>
                  </a:txBody>
                  <a:tcPr marL="45720" marR="45720" marT="18288" marB="18288" anchor="ctr">
                    <a:solidFill>
                      <a:srgbClr val="F5F8F9"/>
                    </a:solidFill>
                  </a:tcPr>
                </a:tc>
                <a:extLst>
                  <a:ext uri="{0D108BD9-81ED-4DB2-BD59-A6C34878D82A}">
                    <a16:rowId xmlns:a16="http://schemas.microsoft.com/office/drawing/2014/main" val="10002"/>
                  </a:ext>
                </a:extLst>
              </a:tr>
              <a:tr h="311192">
                <a:tc>
                  <a:txBody>
                    <a:bodyPr/>
                    <a:lstStyle/>
                    <a:p>
                      <a:pPr algn="ctr"/>
                      <a:r>
                        <a:rPr sz="1300">
                          <a:solidFill>
                            <a:srgbClr val="004357"/>
                          </a:solidFill>
                        </a:rPr>
                        <a:t>c) decision on the mass, explicit and justified</a:t>
                      </a:r>
                    </a:p>
                  </a:txBody>
                  <a:tcPr marL="45720" marR="45720" marT="18288" marB="18288" anchor="ctr">
                    <a:solidFill>
                      <a:srgbClr val="FFFFFF"/>
                    </a:solidFill>
                  </a:tcPr>
                </a:tc>
                <a:tc>
                  <a:txBody>
                    <a:bodyPr/>
                    <a:lstStyle/>
                    <a:p>
                      <a:pPr algn="ctr"/>
                      <a:r>
                        <a:rPr sz="1300">
                          <a:solidFill>
                            <a:srgbClr val="004357"/>
                          </a:solidFill>
                        </a:rPr>
                        <a:t>1</a:t>
                      </a:r>
                    </a:p>
                  </a:txBody>
                  <a:tcPr marL="45720" marR="45720" marT="18288" marB="18288" anchor="ctr">
                    <a:solidFill>
                      <a:srgbClr val="FFFFFF"/>
                    </a:solidFill>
                  </a:tcPr>
                </a:tc>
                <a:extLst>
                  <a:ext uri="{0D108BD9-81ED-4DB2-BD59-A6C34878D82A}">
                    <a16:rowId xmlns:a16="http://schemas.microsoft.com/office/drawing/2014/main" val="10003"/>
                  </a:ext>
                </a:extLst>
              </a:tr>
              <a:tr h="311192">
                <a:tc>
                  <a:txBody>
                    <a:bodyPr/>
                    <a:lstStyle/>
                    <a:p>
                      <a:pPr algn="ctr"/>
                      <a:r>
                        <a:rPr sz="1300">
                          <a:solidFill>
                            <a:srgbClr val="004357"/>
                          </a:solidFill>
                        </a:rPr>
                        <a:t>d) agreement threshold, declared with its justification</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4"/>
                  </a:ext>
                </a:extLst>
              </a:tr>
              <a:tr h="311193">
                <a:tc>
                  <a:txBody>
                    <a:bodyPr/>
                    <a:lstStyle/>
                    <a:p>
                      <a:pPr algn="ctr"/>
                      <a:r>
                        <a:rPr sz="1300">
                          <a:solidFill>
                            <a:srgbClr val="004357"/>
                          </a:solidFill>
                        </a:rPr>
                        <a:t>total</a:t>
                      </a:r>
                    </a:p>
                  </a:txBody>
                  <a:tcPr marL="45720" marR="45720" marT="18288" marB="18288" anchor="ctr">
                    <a:solidFill>
                      <a:srgbClr val="FFFFFF"/>
                    </a:solidFill>
                  </a:tcPr>
                </a:tc>
                <a:tc>
                  <a:txBody>
                    <a:bodyPr/>
                    <a:lstStyle/>
                    <a:p>
                      <a:pPr algn="ctr"/>
                      <a:r>
                        <a:rPr sz="1300">
                          <a:solidFill>
                            <a:srgbClr val="004357"/>
                          </a:solidFill>
                        </a:rPr>
                        <a:t>8</a:t>
                      </a:r>
                    </a:p>
                  </a:txBody>
                  <a:tcPr marL="45720" marR="45720"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20}" type="slidenum">
              <a:rPr sz="1200">
                <a:solidFill>
                  <a:srgbClr val="8A9397"/>
                </a:solidFill>
              </a:rPr>
              <a:t>20</a:t>
            </a:fld>
            <a:endParaRPr sz="1200">
              <a:solidFill>
                <a:srgbClr val="8A9397"/>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2 – Heat capacity, the two decisions and the threshold</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heat capacity of a body made of several materials is the sum of the contributions of its parts:  </a:t>
            </a:r>
            <a:r>
              <a:rPr sz="2000" b="1">
                <a:solidFill>
                  <a:srgbClr val="004357"/>
                </a:solidFill>
              </a:rPr>
              <a:t>C = Σ mᵢ · cᵢ</a:t>
            </a:r>
          </a:p>
          <a:p>
            <a:r>
              <a:rPr sz="2000">
                <a:solidFill>
                  <a:srgbClr val="004357"/>
                </a:solidFill>
              </a:rPr>
              <a:t>Each part contributes its own mass mᵢ multiplied by the specific heat cᵢ of its material. The heat capacity C of the profile must be computed on this basis and the values used must be documented.</a:t>
            </a:r>
          </a:p>
          <a:p>
            <a:r>
              <a:rPr sz="2000" b="1">
                <a:solidFill>
                  <a:srgbClr val="004357"/>
                </a:solidFill>
              </a:rPr>
              <a:t>(b) Inner surface.</a:t>
            </a:r>
            <a:r>
              <a:rPr sz="2000">
                <a:solidFill>
                  <a:srgbClr val="004357"/>
                </a:solidFill>
              </a:rPr>
              <a:t> The profile is hollow and open at both ends, so it has an inner surface as well as an outer one. It must be decided whether the inner surface is included as part of the exchange area A. The decision and its justification must be recorded in the report.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21}" type="slidenum">
              <a:rPr sz="1200">
                <a:solidFill>
                  <a:srgbClr val="8A9397"/>
                </a:solidFill>
              </a:rPr>
              <a:t>21</a:t>
            </a:fld>
            <a:endParaRPr sz="1200">
              <a:solidFill>
                <a:srgbClr val="8A9397"/>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2 – The mass, the threshold and the outcome</a:t>
            </a:r>
          </a:p>
        </p:txBody>
      </p:sp>
      <p:sp>
        <p:nvSpPr>
          <p:cNvPr id="3" name="Content Placeholder 2"/>
          <p:cNvSpPr>
            <a:spLocks noGrp="1"/>
          </p:cNvSpPr>
          <p:nvPr>
            <p:ph idx="1"/>
          </p:nvPr>
        </p:nvSpPr>
        <p:spPr>
          <a:xfrm>
            <a:off x="809427" y="1452520"/>
            <a:ext cx="10926000" cy="4966560"/>
          </a:xfrm>
        </p:spPr>
        <p:txBody>
          <a:bodyPr wrap="square">
            <a:noAutofit/>
          </a:bodyPr>
          <a:lstStyle/>
          <a:p>
            <a:r>
              <a:rPr sz="2000" b="1">
                <a:solidFill>
                  <a:srgbClr val="004357"/>
                </a:solidFill>
              </a:rPr>
              <a:t>(c) Mass.</a:t>
            </a:r>
            <a:r>
              <a:rPr sz="2000">
                <a:solidFill>
                  <a:srgbClr val="004357"/>
                </a:solidFill>
              </a:rPr>
              <a:t> Two masses are given: one for the profile alone and one for the profile with steel fittings. The difference between them is the mass of the steel fittings. It must be decided which mass is used in the model, and this choice must be justified.</a:t>
            </a:r>
          </a:p>
          <a:p>
            <a:r>
              <a:rPr sz="2000" b="1">
                <a:solidFill>
                  <a:srgbClr val="004357"/>
                </a:solidFill>
              </a:rPr>
              <a:t>(d) Agreement threshold.</a:t>
            </a:r>
            <a:r>
              <a:rPr sz="2000">
                <a:solidFill>
                  <a:srgbClr val="004357"/>
                </a:solidFill>
              </a:rPr>
              <a:t> A single number must be written down before the measurement: by how many percent the two independent determinations of the power in Task 7 may differ and still count as agreeing. A threshold declared after seeing the result does not serve this purpose and is not acceptable.</a:t>
            </a:r>
          </a:p>
          <a:p>
            <a:r>
              <a:rPr sz="2000">
                <a:solidFill>
                  <a:srgbClr val="004357"/>
                </a:solidFill>
              </a:rPr>
              <a:t>The outcome of Task 2 is a short design note containing the computed heat capacity C, the decisions on inner surface and mass, and the declared agreement threshold.</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22}" type="slidenum">
              <a:rPr sz="1200">
                <a:solidFill>
                  <a:srgbClr val="8A9397"/>
                </a:solidFill>
              </a:rPr>
              <a:t>22</a:t>
            </a:fld>
            <a:endParaRPr sz="1200">
              <a:solidFill>
                <a:srgbClr val="8A9397"/>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3 – Program: acquisition and calibration</a:t>
            </a:r>
          </a:p>
        </p:txBody>
      </p:sp>
      <p:sp>
        <p:nvSpPr>
          <p:cNvPr id="3" name="Content Placeholder 2"/>
          <p:cNvSpPr>
            <a:spLocks noGrp="1"/>
          </p:cNvSpPr>
          <p:nvPr>
            <p:ph idx="1"/>
          </p:nvPr>
        </p:nvSpPr>
        <p:spPr>
          <a:xfrm>
            <a:off x="809427" y="4060846"/>
            <a:ext cx="10926000" cy="2358234"/>
          </a:xfrm>
        </p:spPr>
        <p:txBody>
          <a:bodyPr wrap="square">
            <a:noAutofit/>
          </a:bodyPr>
          <a:lstStyle/>
          <a:p>
            <a:r>
              <a:rPr sz="2000">
                <a:solidFill>
                  <a:srgbClr val="004357"/>
                </a:solidFill>
              </a:rPr>
              <a:t>In Task 3 a data-acquisition program is written and used to determine calibration factors for the three sensors.</a:t>
            </a:r>
          </a:p>
        </p:txBody>
      </p:sp>
      <p:graphicFrame>
        <p:nvGraphicFramePr>
          <p:cNvPr id="4" name="Table 3"/>
          <p:cNvGraphicFramePr>
            <a:graphicFrameLocks noGrp="1"/>
          </p:cNvGraphicFramePr>
          <p:nvPr/>
        </p:nvGraphicFramePr>
        <p:xfrm>
          <a:off x="1038027" y="1452520"/>
          <a:ext cx="10468799" cy="2498598"/>
        </p:xfrm>
        <a:graphic>
          <a:graphicData uri="http://schemas.openxmlformats.org/drawingml/2006/table">
            <a:tbl>
              <a:tblPr firstRow="1" bandRow="1">
                <a:tableStyleId>{5C22544A-7EE6-4342-B048-85BDC9FD1C3A}</a:tableStyleId>
              </a:tblPr>
              <a:tblGrid>
                <a:gridCol w="8924222">
                  <a:extLst>
                    <a:ext uri="{9D8B030D-6E8A-4147-A177-3AD203B41FA5}">
                      <a16:colId xmlns:a16="http://schemas.microsoft.com/office/drawing/2014/main" val="20000"/>
                    </a:ext>
                  </a:extLst>
                </a:gridCol>
                <a:gridCol w="1544577">
                  <a:extLst>
                    <a:ext uri="{9D8B030D-6E8A-4147-A177-3AD203B41FA5}">
                      <a16:colId xmlns:a16="http://schemas.microsoft.com/office/drawing/2014/main" val="20001"/>
                    </a:ext>
                  </a:extLst>
                </a:gridCol>
              </a:tblGrid>
              <a:tr h="277622">
                <a:tc>
                  <a:txBody>
                    <a:bodyPr/>
                    <a:lstStyle/>
                    <a:p>
                      <a:pPr algn="ctr"/>
                      <a:r>
                        <a:rPr sz="1300" b="1">
                          <a:solidFill>
                            <a:srgbClr val="FFFFFF"/>
                          </a:solidFill>
                        </a:rPr>
                        <a:t>Item</a:t>
                      </a:r>
                    </a:p>
                  </a:txBody>
                  <a:tcPr marL="45720" marR="45720" marT="18288" marB="18288" anchor="ctr">
                    <a:solidFill>
                      <a:srgbClr val="004357"/>
                    </a:solidFill>
                  </a:tcPr>
                </a:tc>
                <a:tc>
                  <a:txBody>
                    <a:bodyPr/>
                    <a:lstStyle/>
                    <a:p>
                      <a:pPr algn="ctr"/>
                      <a:r>
                        <a:rPr sz="1300" b="1">
                          <a:solidFill>
                            <a:srgbClr val="FFFFFF"/>
                          </a:solidFill>
                        </a:rPr>
                        <a:t>p</a:t>
                      </a:r>
                    </a:p>
                  </a:txBody>
                  <a:tcPr marL="45720" marR="45720" marT="18288" marB="18288" anchor="ctr">
                    <a:solidFill>
                      <a:srgbClr val="004357"/>
                    </a:solidFill>
                  </a:tcPr>
                </a:tc>
                <a:extLst>
                  <a:ext uri="{0D108BD9-81ED-4DB2-BD59-A6C34878D82A}">
                    <a16:rowId xmlns:a16="http://schemas.microsoft.com/office/drawing/2014/main" val="10000"/>
                  </a:ext>
                </a:extLst>
              </a:tr>
              <a:tr h="277622">
                <a:tc>
                  <a:txBody>
                    <a:bodyPr/>
                    <a:lstStyle/>
                    <a:p>
                      <a:pPr algn="ctr"/>
                      <a:r>
                        <a:rPr sz="1300">
                          <a:solidFill>
                            <a:srgbClr val="004357"/>
                          </a:solidFill>
                        </a:rPr>
                        <a:t>a) fixed-period loop, independent of execution time</a:t>
                      </a:r>
                    </a:p>
                  </a:txBody>
                  <a:tcPr marL="45720" marR="45720" marT="18288" marB="18288" anchor="ctr">
                    <a:solidFill>
                      <a:srgbClr val="FFFFFF"/>
                    </a:solidFill>
                  </a:tcPr>
                </a:tc>
                <a:tc>
                  <a:txBody>
                    <a:bodyPr/>
                    <a:lstStyle/>
                    <a:p>
                      <a:pPr algn="ctr"/>
                      <a:r>
                        <a:rPr sz="1300">
                          <a:solidFill>
                            <a:srgbClr val="004357"/>
                          </a:solidFill>
                        </a:rPr>
                        <a:t>1</a:t>
                      </a:r>
                    </a:p>
                  </a:txBody>
                  <a:tcPr marL="45720" marR="45720" marT="18288" marB="18288" anchor="ctr">
                    <a:solidFill>
                      <a:srgbClr val="FFFFFF"/>
                    </a:solidFill>
                  </a:tcPr>
                </a:tc>
                <a:extLst>
                  <a:ext uri="{0D108BD9-81ED-4DB2-BD59-A6C34878D82A}">
                    <a16:rowId xmlns:a16="http://schemas.microsoft.com/office/drawing/2014/main" val="10001"/>
                  </a:ext>
                </a:extLst>
              </a:tr>
              <a:tr h="277622">
                <a:tc>
                  <a:txBody>
                    <a:bodyPr/>
                    <a:lstStyle/>
                    <a:p>
                      <a:pPr algn="ctr"/>
                      <a:r>
                        <a:rPr sz="1300">
                          <a:solidFill>
                            <a:srgbClr val="004357"/>
                          </a:solidFill>
                        </a:rPr>
                        <a:t>b) period error measured and recorded</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2"/>
                  </a:ext>
                </a:extLst>
              </a:tr>
              <a:tr h="277622">
                <a:tc>
                  <a:txBody>
                    <a:bodyPr/>
                    <a:lstStyle/>
                    <a:p>
                      <a:pPr algn="ctr"/>
                      <a:r>
                        <a:rPr sz="1300">
                          <a:solidFill>
                            <a:srgbClr val="004357"/>
                          </a:solidFill>
                        </a:rPr>
                        <a:t>c) converter reading converted to resistance, three channels</a:t>
                      </a:r>
                    </a:p>
                  </a:txBody>
                  <a:tcPr marL="45720" marR="45720" marT="18288" marB="18288" anchor="ctr">
                    <a:solidFill>
                      <a:srgbClr val="FFFFFF"/>
                    </a:solidFill>
                  </a:tcPr>
                </a:tc>
                <a:tc>
                  <a:txBody>
                    <a:bodyPr/>
                    <a:lstStyle/>
                    <a:p>
                      <a:pPr algn="ctr"/>
                      <a:r>
                        <a:rPr sz="1300">
                          <a:solidFill>
                            <a:srgbClr val="004357"/>
                          </a:solidFill>
                        </a:rPr>
                        <a:t>1</a:t>
                      </a:r>
                    </a:p>
                  </a:txBody>
                  <a:tcPr marL="45720" marR="45720" marT="18288" marB="18288" anchor="ctr">
                    <a:solidFill>
                      <a:srgbClr val="FFFFFF"/>
                    </a:solidFill>
                  </a:tcPr>
                </a:tc>
                <a:extLst>
                  <a:ext uri="{0D108BD9-81ED-4DB2-BD59-A6C34878D82A}">
                    <a16:rowId xmlns:a16="http://schemas.microsoft.com/office/drawing/2014/main" val="10003"/>
                  </a:ext>
                </a:extLst>
              </a:tr>
              <a:tr h="277622">
                <a:tc>
                  <a:txBody>
                    <a:bodyPr/>
                    <a:lstStyle/>
                    <a:p>
                      <a:pPr algn="ctr"/>
                      <a:r>
                        <a:rPr sz="1300">
                          <a:solidFill>
                            <a:srgbClr val="004357"/>
                          </a:solidFill>
                        </a:rPr>
                        <a:t>d) averaging, with the number of samples justified</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4"/>
                  </a:ext>
                </a:extLst>
              </a:tr>
              <a:tr h="277622">
                <a:tc>
                  <a:txBody>
                    <a:bodyPr/>
                    <a:lstStyle/>
                    <a:p>
                      <a:pPr algn="ctr"/>
                      <a:r>
                        <a:rPr sz="1300">
                          <a:solidFill>
                            <a:srgbClr val="004357"/>
                          </a:solidFill>
                        </a:rPr>
                        <a:t>e) three correction factors and the channel spread before and after calibration</a:t>
                      </a:r>
                    </a:p>
                  </a:txBody>
                  <a:tcPr marL="45720" marR="45720" marT="18288" marB="18288" anchor="ctr">
                    <a:solidFill>
                      <a:srgbClr val="FFFFFF"/>
                    </a:solidFill>
                  </a:tcPr>
                </a:tc>
                <a:tc>
                  <a:txBody>
                    <a:bodyPr/>
                    <a:lstStyle/>
                    <a:p>
                      <a:pPr algn="ctr"/>
                      <a:r>
                        <a:rPr sz="1300">
                          <a:solidFill>
                            <a:srgbClr val="004357"/>
                          </a:solidFill>
                        </a:rPr>
                        <a:t>2</a:t>
                      </a:r>
                    </a:p>
                  </a:txBody>
                  <a:tcPr marL="45720" marR="45720" marT="18288" marB="18288" anchor="ctr">
                    <a:solidFill>
                      <a:srgbClr val="FFFFFF"/>
                    </a:solidFill>
                  </a:tcPr>
                </a:tc>
                <a:extLst>
                  <a:ext uri="{0D108BD9-81ED-4DB2-BD59-A6C34878D82A}">
                    <a16:rowId xmlns:a16="http://schemas.microsoft.com/office/drawing/2014/main" val="10005"/>
                  </a:ext>
                </a:extLst>
              </a:tr>
              <a:tr h="277622">
                <a:tc>
                  <a:txBody>
                    <a:bodyPr/>
                    <a:lstStyle/>
                    <a:p>
                      <a:pPr algn="ctr"/>
                      <a:r>
                        <a:rPr sz="1300">
                          <a:solidFill>
                            <a:srgbClr val="004357"/>
                          </a:solidFill>
                        </a:rPr>
                        <a:t>f) the two questions on the form of the correction</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6"/>
                  </a:ext>
                </a:extLst>
              </a:tr>
              <a:tr h="277622">
                <a:tc>
                  <a:txBody>
                    <a:bodyPr/>
                    <a:lstStyle/>
                    <a:p>
                      <a:pPr algn="ctr"/>
                      <a:r>
                        <a:rPr sz="1300">
                          <a:solidFill>
                            <a:srgbClr val="004357"/>
                          </a:solidFill>
                        </a:rPr>
                        <a:t>g) calibration checked on data other than the calibration set</a:t>
                      </a:r>
                    </a:p>
                  </a:txBody>
                  <a:tcPr marL="45720" marR="45720" marT="18288" marB="18288" anchor="ctr">
                    <a:solidFill>
                      <a:srgbClr val="FFFFFF"/>
                    </a:solidFill>
                  </a:tcPr>
                </a:tc>
                <a:tc>
                  <a:txBody>
                    <a:bodyPr/>
                    <a:lstStyle/>
                    <a:p>
                      <a:pPr algn="ctr"/>
                      <a:r>
                        <a:rPr sz="1300">
                          <a:solidFill>
                            <a:srgbClr val="004357"/>
                          </a:solidFill>
                        </a:rPr>
                        <a:t>1</a:t>
                      </a:r>
                    </a:p>
                  </a:txBody>
                  <a:tcPr marL="45720" marR="45720" marT="18288" marB="18288" anchor="ctr">
                    <a:solidFill>
                      <a:srgbClr val="FFFFFF"/>
                    </a:solidFill>
                  </a:tcPr>
                </a:tc>
                <a:extLst>
                  <a:ext uri="{0D108BD9-81ED-4DB2-BD59-A6C34878D82A}">
                    <a16:rowId xmlns:a16="http://schemas.microsoft.com/office/drawing/2014/main" val="10007"/>
                  </a:ext>
                </a:extLst>
              </a:tr>
              <a:tr h="277622">
                <a:tc>
                  <a:txBody>
                    <a:bodyPr/>
                    <a:lstStyle/>
                    <a:p>
                      <a:pPr algn="ctr"/>
                      <a:r>
                        <a:rPr sz="1300">
                          <a:solidFill>
                            <a:srgbClr val="004357"/>
                          </a:solidFill>
                        </a:rPr>
                        <a:t>total</a:t>
                      </a:r>
                    </a:p>
                  </a:txBody>
                  <a:tcPr marL="45720" marR="45720" marT="18288" marB="18288" anchor="ctr">
                    <a:solidFill>
                      <a:srgbClr val="F5F8F9"/>
                    </a:solidFill>
                  </a:tcPr>
                </a:tc>
                <a:tc>
                  <a:txBody>
                    <a:bodyPr/>
                    <a:lstStyle/>
                    <a:p>
                      <a:pPr algn="ctr"/>
                      <a:r>
                        <a:rPr sz="1300">
                          <a:solidFill>
                            <a:srgbClr val="004357"/>
                          </a:solidFill>
                        </a:rPr>
                        <a:t>8</a:t>
                      </a:r>
                    </a:p>
                  </a:txBody>
                  <a:tcPr marL="45720" marR="45720" marT="18288" marB="18288" anchor="ctr">
                    <a:solidFill>
                      <a:srgbClr val="F5F8F9"/>
                    </a:solidFill>
                  </a:tcPr>
                </a:tc>
                <a:extLst>
                  <a:ext uri="{0D108BD9-81ED-4DB2-BD59-A6C34878D82A}">
                    <a16:rowId xmlns:a16="http://schemas.microsoft.com/office/drawing/2014/main" val="10008"/>
                  </a:ext>
                </a:extLst>
              </a:tr>
            </a:tbl>
          </a:graphicData>
        </a:graphic>
      </p:graphicFrame>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23}" type="slidenum">
              <a:rPr sz="1200">
                <a:solidFill>
                  <a:srgbClr val="8A9397"/>
                </a:solidFill>
              </a:rPr>
              <a:t>23</a:t>
            </a:fld>
            <a:endParaRPr sz="1200">
              <a:solidFill>
                <a:srgbClr val="8A9397"/>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3 – The fixed-period loop and the clock</a:t>
            </a:r>
          </a:p>
        </p:txBody>
      </p:sp>
      <p:sp>
        <p:nvSpPr>
          <p:cNvPr id="3" name="Content Placeholder 2"/>
          <p:cNvSpPr>
            <a:spLocks noGrp="1"/>
          </p:cNvSpPr>
          <p:nvPr>
            <p:ph idx="1"/>
          </p:nvPr>
        </p:nvSpPr>
        <p:spPr>
          <a:xfrm>
            <a:off x="809427" y="1452520"/>
            <a:ext cx="10926000" cy="4966560"/>
          </a:xfrm>
        </p:spPr>
        <p:txBody>
          <a:bodyPr wrap="square">
            <a:noAutofit/>
          </a:bodyPr>
          <a:lstStyle/>
          <a:p>
            <a:r>
              <a:rPr sz="2000" b="1">
                <a:solidFill>
                  <a:srgbClr val="004357"/>
                </a:solidFill>
              </a:rPr>
              <a:t>(a) Time sources.</a:t>
            </a:r>
            <a:r>
              <a:rPr sz="2000">
                <a:solidFill>
                  <a:srgbClr val="004357"/>
                </a:solidFill>
              </a:rPr>
              <a:t> The Arduino library offers millis() and micros() as time sources; their resolution is stated in the documentation of the board. The function delay() does not produce a fixed period, because the delay is added to the execution time of the loop. This yields a loop whose period equals the execution time of the program plus the delay, which is not constant.</a:t>
            </a:r>
          </a:p>
          <a:p>
            <a:r>
              <a:rPr sz="2000" b="1">
                <a:solidFill>
                  <a:srgbClr val="004357"/>
                </a:solidFill>
              </a:rPr>
              <a:t>(b) Period error.</a:t>
            </a:r>
            <a:r>
              <a:rPr sz="2000">
                <a:solidFill>
                  <a:srgbClr val="004357"/>
                </a:solidFill>
              </a:rPr>
              <a:t> In every cycle the program reads the clock, computes the interval since the previous cycle, and records its departure from the intended period T</a:t>
            </a:r>
            <a:r>
              <a:rPr sz="2000" baseline="-25000">
                <a:solidFill>
                  <a:srgbClr val="004357"/>
                </a:solidFill>
              </a:rPr>
              <a:t>s</a:t>
            </a:r>
            <a:r>
              <a:rPr sz="2000">
                <a:solidFill>
                  <a:srgbClr val="004357"/>
                </a:solidFill>
              </a:rPr>
              <a:t>:</a:t>
            </a:r>
          </a:p>
          <a:p>
            <a:pPr lvl="1"/>
            <a:r>
              <a:rPr sz="1800">
                <a:solidFill>
                  <a:srgbClr val="004357"/>
                </a:solidFill>
              </a:rPr>
              <a:t>t</a:t>
            </a:r>
            <a:r>
              <a:rPr sz="1800" baseline="-25000">
                <a:solidFill>
                  <a:srgbClr val="004357"/>
                </a:solidFill>
              </a:rPr>
              <a:t>k</a:t>
            </a:r>
            <a:r>
              <a:rPr sz="1800">
                <a:solidFill>
                  <a:srgbClr val="004357"/>
                </a:solidFill>
              </a:rPr>
              <a:t> – clock reading at the start of cycle k,</a:t>
            </a:r>
          </a:p>
          <a:p>
            <a:pPr lvl="1"/>
            <a:r>
              <a:rPr sz="1800">
                <a:solidFill>
                  <a:srgbClr val="004357"/>
                </a:solidFill>
              </a:rPr>
              <a:t>Δ</a:t>
            </a:r>
            <a:r>
              <a:rPr sz="1800" baseline="-25000">
                <a:solidFill>
                  <a:srgbClr val="004357"/>
                </a:solidFill>
              </a:rPr>
              <a:t>k</a:t>
            </a:r>
            <a:r>
              <a:rPr sz="1800">
                <a:solidFill>
                  <a:srgbClr val="004357"/>
                </a:solidFill>
              </a:rPr>
              <a:t> = ( t</a:t>
            </a:r>
            <a:r>
              <a:rPr sz="1800" baseline="-25000">
                <a:solidFill>
                  <a:srgbClr val="004357"/>
                </a:solidFill>
              </a:rPr>
              <a:t>k</a:t>
            </a:r>
            <a:r>
              <a:rPr sz="1800">
                <a:solidFill>
                  <a:srgbClr val="004357"/>
                </a:solidFill>
              </a:rPr>
              <a:t> − t</a:t>
            </a:r>
            <a:r>
              <a:rPr sz="1800" baseline="-25000">
                <a:solidFill>
                  <a:srgbClr val="004357"/>
                </a:solidFill>
              </a:rPr>
              <a:t>k−1</a:t>
            </a:r>
            <a:r>
              <a:rPr sz="1800">
                <a:solidFill>
                  <a:srgbClr val="004357"/>
                </a:solidFill>
              </a:rPr>
              <a:t> ) − T</a:t>
            </a:r>
            <a:r>
              <a:rPr sz="1800" baseline="-25000">
                <a:solidFill>
                  <a:srgbClr val="004357"/>
                </a:solidFill>
              </a:rPr>
              <a:t>s</a:t>
            </a:r>
            <a:r>
              <a:rPr sz="1800">
                <a:solidFill>
                  <a:srgbClr val="004357"/>
                </a:solidFill>
              </a:rPr>
              <a:t>.</a:t>
            </a:r>
          </a:p>
          <a:p>
            <a:r>
              <a:rPr sz="2000">
                <a:solidFill>
                  <a:srgbClr val="004357"/>
                </a:solidFill>
              </a:rPr>
              <a:t>In this way the program measures how far each cycle runs late or early. The sequence Δ</a:t>
            </a:r>
            <a:r>
              <a:rPr sz="2000" baseline="-25000">
                <a:solidFill>
                  <a:srgbClr val="004357"/>
                </a:solidFill>
              </a:rPr>
              <a:t>k</a:t>
            </a:r>
            <a:r>
              <a:rPr sz="2000">
                <a:solidFill>
                  <a:srgbClr val="004357"/>
                </a:solidFill>
              </a:rPr>
              <a:t> must be recorded together with the data.</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24}" type="slidenum">
              <a:rPr sz="1200">
                <a:solidFill>
                  <a:srgbClr val="8A9397"/>
                </a:solidFill>
              </a:rPr>
              <a:t>24</a:t>
            </a:fld>
            <a:endParaRPr sz="1200">
              <a:solidFill>
                <a:srgbClr val="8A9397"/>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3 – Averaging and calibration conditions</a:t>
            </a:r>
          </a:p>
        </p:txBody>
      </p:sp>
      <p:sp>
        <p:nvSpPr>
          <p:cNvPr id="3" name="Content Placeholder 2"/>
          <p:cNvSpPr>
            <a:spLocks noGrp="1"/>
          </p:cNvSpPr>
          <p:nvPr>
            <p:ph idx="1"/>
          </p:nvPr>
        </p:nvSpPr>
        <p:spPr>
          <a:xfrm>
            <a:off x="809427" y="1452520"/>
            <a:ext cx="10926000" cy="4966560"/>
          </a:xfrm>
        </p:spPr>
        <p:txBody>
          <a:bodyPr wrap="square">
            <a:noAutofit/>
          </a:bodyPr>
          <a:lstStyle/>
          <a:p>
            <a:r>
              <a:rPr sz="2000" b="1">
                <a:solidFill>
                  <a:srgbClr val="004357"/>
                </a:solidFill>
              </a:rPr>
              <a:t>(d) Averaging.</a:t>
            </a:r>
            <a:r>
              <a:rPr sz="2000">
                <a:solidFill>
                  <a:srgbClr val="004357"/>
                </a:solidFill>
              </a:rPr>
              <a:t> One ADC reading takes approximately 2 µs, so a hundred samples per channel cost less than a millisecond and time is not the limiting factor. Above some number of samples the mean stops improving, because what remains is no longer random noise. An appropriate averaging length must be chosen and justified.</a:t>
            </a:r>
          </a:p>
          <a:p>
            <a:r>
              <a:rPr sz="2000" b="1">
                <a:solidFill>
                  <a:srgbClr val="004357"/>
                </a:solidFill>
              </a:rPr>
              <a:t>(e) Conditions for calibration.</a:t>
            </a:r>
            <a:r>
              <a:rPr sz="2000">
                <a:solidFill>
                  <a:srgbClr val="004357"/>
                </a:solidFill>
              </a:rPr>
              <a:t> The correction factors are determined under controlled conditions:</a:t>
            </a:r>
          </a:p>
          <a:p>
            <a:pPr lvl="1"/>
            <a:r>
              <a:rPr sz="1800">
                <a:solidFill>
                  <a:srgbClr val="004357"/>
                </a:solidFill>
              </a:rPr>
              <a:t>heater off for at least 30 minutes,</a:t>
            </a:r>
          </a:p>
          <a:p>
            <a:pPr lvl="1"/>
            <a:r>
              <a:rPr sz="1800">
                <a:solidFill>
                  <a:srgbClr val="004357"/>
                </a:solidFill>
              </a:rPr>
              <a:t>no channel changing by more than 0.02 K over two minutes,</a:t>
            </a:r>
          </a:p>
          <a:p>
            <a:pPr lvl="1"/>
            <a:r>
              <a:rPr sz="1800">
                <a:solidFill>
                  <a:srgbClr val="004357"/>
                </a:solidFill>
              </a:rPr>
              <a:t>the profile lying free, with no draught.</a:t>
            </a:r>
          </a:p>
          <a:p>
            <a:r>
              <a:rPr sz="2000">
                <a:solidFill>
                  <a:srgbClr val="004357"/>
                </a:solidFill>
              </a:rPr>
              <a:t>These conditions must be documented and respected when collecting the calibration data set.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25}" type="slidenum">
              <a:rPr sz="1200">
                <a:solidFill>
                  <a:srgbClr val="8A9397"/>
                </a:solidFill>
              </a:rPr>
              <a:t>25</a:t>
            </a:fld>
            <a:endParaRPr sz="1200">
              <a:solidFill>
                <a:srgbClr val="8A9397"/>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3 – Questions and the calibration check</a:t>
            </a:r>
          </a:p>
        </p:txBody>
      </p:sp>
      <p:sp>
        <p:nvSpPr>
          <p:cNvPr id="3" name="Content Placeholder 2"/>
          <p:cNvSpPr>
            <a:spLocks noGrp="1"/>
          </p:cNvSpPr>
          <p:nvPr>
            <p:ph idx="1"/>
          </p:nvPr>
        </p:nvSpPr>
        <p:spPr>
          <a:xfrm>
            <a:off x="809427" y="1452520"/>
            <a:ext cx="10926000" cy="4966560"/>
          </a:xfrm>
        </p:spPr>
        <p:txBody>
          <a:bodyPr wrap="square">
            <a:noAutofit/>
          </a:bodyPr>
          <a:lstStyle/>
          <a:p>
            <a:r>
              <a:rPr sz="2000" b="1">
                <a:solidFill>
                  <a:srgbClr val="004357"/>
                </a:solidFill>
              </a:rPr>
              <a:t>(f) Questions to be answered in the report:</a:t>
            </a:r>
          </a:p>
          <a:p>
            <a:pPr lvl="1"/>
            <a:r>
              <a:rPr sz="1800">
                <a:solidFill>
                  <a:srgbClr val="004357"/>
                </a:solidFill>
              </a:rPr>
              <a:t>Why does the correction multiply the resistance, instead of subtracting kelvins from the temperature?</a:t>
            </a:r>
          </a:p>
          <a:p>
            <a:pPr lvl="1"/>
            <a:r>
              <a:rPr sz="1800">
                <a:solidFill>
                  <a:srgbClr val="004357"/>
                </a:solidFill>
              </a:rPr>
              <a:t>Why is the correction applied before the conversion to temperature rather than after it?</a:t>
            </a:r>
          </a:p>
          <a:p>
            <a:r>
              <a:rPr sz="2000" b="1">
                <a:solidFill>
                  <a:srgbClr val="004357"/>
                </a:solidFill>
              </a:rPr>
              <a:t>(g) Checking the calibration.</a:t>
            </a:r>
            <a:r>
              <a:rPr sz="2000">
                <a:solidFill>
                  <a:srgbClr val="004357"/>
                </a:solidFill>
              </a:rPr>
              <a:t> The correction factors are determined so that the three channels agree on the calibration data set. Reprocessing that same set and finding agreement follows from the definition of the factors, not from any property of the sensors.</a:t>
            </a:r>
          </a:p>
          <a:p>
            <a:r>
              <a:rPr sz="2000">
                <a:solidFill>
                  <a:srgbClr val="004357"/>
                </a:solidFill>
              </a:rPr>
              <a:t>The real check is to apply the factors to an independently collected data set: a second rest recording, or a recording made after the profile has cooled at the end of Task 5. The report must show this check and comment on the result.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26}" type="slidenum">
              <a:rPr sz="1200">
                <a:solidFill>
                  <a:srgbClr val="8A9397"/>
                </a:solidFill>
              </a:rPr>
              <a:t>26</a:t>
            </a:fld>
            <a:endParaRPr sz="1200">
              <a:solidFill>
                <a:srgbClr val="8A9397"/>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4 – Program: temperature and logging</a:t>
            </a:r>
          </a:p>
        </p:txBody>
      </p:sp>
      <p:sp>
        <p:nvSpPr>
          <p:cNvPr id="3" name="Content Placeholder 2"/>
          <p:cNvSpPr>
            <a:spLocks noGrp="1"/>
          </p:cNvSpPr>
          <p:nvPr>
            <p:ph idx="1"/>
          </p:nvPr>
        </p:nvSpPr>
        <p:spPr>
          <a:xfrm>
            <a:off x="809427" y="2950358"/>
            <a:ext cx="10926000" cy="3468722"/>
          </a:xfrm>
        </p:spPr>
        <p:txBody>
          <a:bodyPr wrap="square">
            <a:noAutofit/>
          </a:bodyPr>
          <a:lstStyle/>
          <a:p>
            <a:r>
              <a:rPr sz="2000">
                <a:solidFill>
                  <a:srgbClr val="004357"/>
                </a:solidFill>
              </a:rPr>
              <a:t>In Task 4 the program is extended to convert resistances into temperatures and to log the results to a file.</a:t>
            </a:r>
          </a:p>
          <a:p>
            <a:r>
              <a:rPr sz="2000" b="1">
                <a:solidFill>
                  <a:srgbClr val="004357"/>
                </a:solidFill>
              </a:rPr>
              <a:t>(b) Invalid readings.</a:t>
            </a:r>
            <a:r>
              <a:rPr sz="2000">
                <a:solidFill>
                  <a:srgbClr val="004357"/>
                </a:solidFill>
              </a:rPr>
              <a:t> A reading corresponding to an open or shorted input indicates a broken connection, not a temperature. The program must recognise such readings and mark them as invalid, instead of converting them to a numeric temperature.</a:t>
            </a:r>
          </a:p>
        </p:txBody>
      </p:sp>
      <p:graphicFrame>
        <p:nvGraphicFramePr>
          <p:cNvPr id="4" name="Table 3"/>
          <p:cNvGraphicFramePr>
            <a:graphicFrameLocks noGrp="1"/>
          </p:cNvGraphicFramePr>
          <p:nvPr/>
        </p:nvGraphicFramePr>
        <p:xfrm>
          <a:off x="1038027" y="1452520"/>
          <a:ext cx="10468799" cy="1388110"/>
        </p:xfrm>
        <a:graphic>
          <a:graphicData uri="http://schemas.openxmlformats.org/drawingml/2006/table">
            <a:tbl>
              <a:tblPr firstRow="1" bandRow="1">
                <a:tableStyleId>{5C22544A-7EE6-4342-B048-85BDC9FD1C3A}</a:tableStyleId>
              </a:tblPr>
              <a:tblGrid>
                <a:gridCol w="8924222">
                  <a:extLst>
                    <a:ext uri="{9D8B030D-6E8A-4147-A177-3AD203B41FA5}">
                      <a16:colId xmlns:a16="http://schemas.microsoft.com/office/drawing/2014/main" val="20000"/>
                    </a:ext>
                  </a:extLst>
                </a:gridCol>
                <a:gridCol w="1544577">
                  <a:extLst>
                    <a:ext uri="{9D8B030D-6E8A-4147-A177-3AD203B41FA5}">
                      <a16:colId xmlns:a16="http://schemas.microsoft.com/office/drawing/2014/main" val="20001"/>
                    </a:ext>
                  </a:extLst>
                </a:gridCol>
              </a:tblGrid>
              <a:tr h="277622">
                <a:tc>
                  <a:txBody>
                    <a:bodyPr/>
                    <a:lstStyle/>
                    <a:p>
                      <a:pPr algn="ctr"/>
                      <a:r>
                        <a:rPr sz="1300" b="1">
                          <a:solidFill>
                            <a:srgbClr val="FFFFFF"/>
                          </a:solidFill>
                        </a:rPr>
                        <a:t>Item</a:t>
                      </a:r>
                    </a:p>
                  </a:txBody>
                  <a:tcPr marL="45720" marR="45720" marT="18288" marB="18288" anchor="ctr">
                    <a:solidFill>
                      <a:srgbClr val="004357"/>
                    </a:solidFill>
                  </a:tcPr>
                </a:tc>
                <a:tc>
                  <a:txBody>
                    <a:bodyPr/>
                    <a:lstStyle/>
                    <a:p>
                      <a:pPr algn="ctr"/>
                      <a:r>
                        <a:rPr sz="1300" b="1">
                          <a:solidFill>
                            <a:srgbClr val="FFFFFF"/>
                          </a:solidFill>
                        </a:rPr>
                        <a:t>p</a:t>
                      </a:r>
                    </a:p>
                  </a:txBody>
                  <a:tcPr marL="45720" marR="45720" marT="18288" marB="18288" anchor="ctr">
                    <a:solidFill>
                      <a:srgbClr val="004357"/>
                    </a:solidFill>
                  </a:tcPr>
                </a:tc>
                <a:extLst>
                  <a:ext uri="{0D108BD9-81ED-4DB2-BD59-A6C34878D82A}">
                    <a16:rowId xmlns:a16="http://schemas.microsoft.com/office/drawing/2014/main" val="10000"/>
                  </a:ext>
                </a:extLst>
              </a:tr>
              <a:tr h="277622">
                <a:tc>
                  <a:txBody>
                    <a:bodyPr/>
                    <a:lstStyle/>
                    <a:p>
                      <a:pPr algn="ctr"/>
                      <a:r>
                        <a:rPr sz="1300">
                          <a:solidFill>
                            <a:srgbClr val="004357"/>
                          </a:solidFill>
                        </a:rPr>
                        <a:t>a) resistance converted to temperature</a:t>
                      </a:r>
                    </a:p>
                  </a:txBody>
                  <a:tcPr marL="45720" marR="45720" marT="18288" marB="18288" anchor="ctr">
                    <a:solidFill>
                      <a:srgbClr val="FFFFFF"/>
                    </a:solidFill>
                  </a:tcPr>
                </a:tc>
                <a:tc>
                  <a:txBody>
                    <a:bodyPr/>
                    <a:lstStyle/>
                    <a:p>
                      <a:pPr algn="ctr"/>
                      <a:r>
                        <a:rPr sz="1300">
                          <a:solidFill>
                            <a:srgbClr val="004357"/>
                          </a:solidFill>
                        </a:rPr>
                        <a:t>1</a:t>
                      </a:r>
                    </a:p>
                  </a:txBody>
                  <a:tcPr marL="45720" marR="45720" marT="18288" marB="18288" anchor="ctr">
                    <a:solidFill>
                      <a:srgbClr val="FFFFFF"/>
                    </a:solidFill>
                  </a:tcPr>
                </a:tc>
                <a:extLst>
                  <a:ext uri="{0D108BD9-81ED-4DB2-BD59-A6C34878D82A}">
                    <a16:rowId xmlns:a16="http://schemas.microsoft.com/office/drawing/2014/main" val="10001"/>
                  </a:ext>
                </a:extLst>
              </a:tr>
              <a:tr h="277622">
                <a:tc>
                  <a:txBody>
                    <a:bodyPr/>
                    <a:lstStyle/>
                    <a:p>
                      <a:pPr algn="ctr"/>
                      <a:r>
                        <a:rPr sz="1300">
                          <a:solidFill>
                            <a:srgbClr val="004357"/>
                          </a:solidFill>
                        </a:rPr>
                        <a:t>b) open and shorted input recognised</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2"/>
                  </a:ext>
                </a:extLst>
              </a:tr>
              <a:tr h="277622">
                <a:tc>
                  <a:txBody>
                    <a:bodyPr/>
                    <a:lstStyle/>
                    <a:p>
                      <a:pPr algn="ctr"/>
                      <a:r>
                        <a:rPr sz="1300">
                          <a:solidFill>
                            <a:srgbClr val="004357"/>
                          </a:solidFill>
                        </a:rPr>
                        <a:t>c) complete log record</a:t>
                      </a:r>
                    </a:p>
                  </a:txBody>
                  <a:tcPr marL="45720" marR="45720" marT="18288" marB="18288" anchor="ctr">
                    <a:solidFill>
                      <a:srgbClr val="FFFFFF"/>
                    </a:solidFill>
                  </a:tcPr>
                </a:tc>
                <a:tc>
                  <a:txBody>
                    <a:bodyPr/>
                    <a:lstStyle/>
                    <a:p>
                      <a:pPr algn="ctr"/>
                      <a:r>
                        <a:rPr sz="1300">
                          <a:solidFill>
                            <a:srgbClr val="004357"/>
                          </a:solidFill>
                        </a:rPr>
                        <a:t>1</a:t>
                      </a:r>
                    </a:p>
                  </a:txBody>
                  <a:tcPr marL="45720" marR="45720" marT="18288" marB="18288" anchor="ctr">
                    <a:solidFill>
                      <a:srgbClr val="FFFFFF"/>
                    </a:solidFill>
                  </a:tcPr>
                </a:tc>
                <a:extLst>
                  <a:ext uri="{0D108BD9-81ED-4DB2-BD59-A6C34878D82A}">
                    <a16:rowId xmlns:a16="http://schemas.microsoft.com/office/drawing/2014/main" val="10003"/>
                  </a:ext>
                </a:extLst>
              </a:tr>
              <a:tr h="277622">
                <a:tc>
                  <a:txBody>
                    <a:bodyPr/>
                    <a:lstStyle/>
                    <a:p>
                      <a:pPr algn="ctr"/>
                      <a:r>
                        <a:rPr sz="1300">
                          <a:solidFill>
                            <a:srgbClr val="004357"/>
                          </a:solidFill>
                        </a:rPr>
                        <a:t>total</a:t>
                      </a:r>
                    </a:p>
                  </a:txBody>
                  <a:tcPr marL="45720" marR="45720" marT="18288" marB="18288" anchor="ctr">
                    <a:solidFill>
                      <a:srgbClr val="F5F8F9"/>
                    </a:solidFill>
                  </a:tcPr>
                </a:tc>
                <a:tc>
                  <a:txBody>
                    <a:bodyPr/>
                    <a:lstStyle/>
                    <a:p>
                      <a:pPr algn="ctr"/>
                      <a:r>
                        <a:rPr sz="1300">
                          <a:solidFill>
                            <a:srgbClr val="004357"/>
                          </a:solidFill>
                        </a:rPr>
                        <a:t>3</a:t>
                      </a:r>
                    </a:p>
                  </a:txBody>
                  <a:tcPr marL="45720" marR="45720" marT="18288" marB="18288" anchor="ctr">
                    <a:solidFill>
                      <a:srgbClr val="F5F8F9"/>
                    </a:solidFill>
                  </a:tcPr>
                </a:tc>
                <a:extLst>
                  <a:ext uri="{0D108BD9-81ED-4DB2-BD59-A6C34878D82A}">
                    <a16:rowId xmlns:a16="http://schemas.microsoft.com/office/drawing/2014/main" val="10004"/>
                  </a:ext>
                </a:extLst>
              </a:tr>
            </a:tbl>
          </a:graphicData>
        </a:graphic>
      </p:graphicFrame>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27}" type="slidenum">
              <a:rPr sz="1200">
                <a:solidFill>
                  <a:srgbClr val="8A9397"/>
                </a:solidFill>
              </a:rPr>
              <a:t>27</a:t>
            </a:fld>
            <a:endParaRPr sz="1200">
              <a:solidFill>
                <a:srgbClr val="8A9397"/>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4 – The log record</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ADC of the Arduino UNO R4 works at 10 bits by default; 14-bit resolution requires an explicit call to analogReadResolution(14). A program written for 14 bits will also start without that call, but with a coarser resolution.</a:t>
            </a:r>
          </a:p>
          <a:p>
            <a:r>
              <a:rPr sz="2000" b="1">
                <a:solidFill>
                  <a:srgbClr val="004357"/>
                </a:solidFill>
              </a:rPr>
              <a:t>(c) Log record format.</a:t>
            </a:r>
            <a:r>
              <a:rPr sz="2000">
                <a:solidFill>
                  <a:srgbClr val="004357"/>
                </a:solidFill>
              </a:rPr>
              <a:t> Each log record must contain:</a:t>
            </a:r>
          </a:p>
          <a:p>
            <a:pPr lvl="1"/>
            <a:r>
              <a:rPr sz="1800">
                <a:solidFill>
                  <a:srgbClr val="004357"/>
                </a:solidFill>
              </a:rPr>
              <a:t>a time stamp,</a:t>
            </a:r>
          </a:p>
          <a:p>
            <a:pPr lvl="1"/>
            <a:r>
              <a:rPr sz="1800">
                <a:solidFill>
                  <a:srgbClr val="004357"/>
                </a:solidFill>
              </a:rPr>
              <a:t>the period error Δ</a:t>
            </a:r>
            <a:r>
              <a:rPr sz="1800" baseline="-25000">
                <a:solidFill>
                  <a:srgbClr val="004357"/>
                </a:solidFill>
              </a:rPr>
              <a:t>k</a:t>
            </a:r>
            <a:r>
              <a:rPr sz="1800">
                <a:solidFill>
                  <a:srgbClr val="004357"/>
                </a:solidFill>
              </a:rPr>
              <a:t> from Task 3(b),</a:t>
            </a:r>
          </a:p>
          <a:p>
            <a:pPr lvl="1"/>
            <a:r>
              <a:rPr sz="1800">
                <a:solidFill>
                  <a:srgbClr val="004357"/>
                </a:solidFill>
              </a:rPr>
              <a:t>three resistances,</a:t>
            </a:r>
          </a:p>
          <a:p>
            <a:pPr lvl="1"/>
            <a:r>
              <a:rPr sz="1800">
                <a:solidFill>
                  <a:srgbClr val="004357"/>
                </a:solidFill>
              </a:rPr>
              <a:t>three temperatures.</a:t>
            </a:r>
          </a:p>
          <a:p>
            <a:r>
              <a:rPr sz="2000">
                <a:solidFill>
                  <a:srgbClr val="004357"/>
                </a:solidFill>
              </a:rPr>
              <a:t>The tool and file format are free, provided the data can be opened and processed independently.</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28}" type="slidenum">
              <a:rPr sz="1200">
                <a:solidFill>
                  <a:srgbClr val="8A9397"/>
                </a:solidFill>
              </a:rPr>
              <a:t>28</a:t>
            </a:fld>
            <a:endParaRPr sz="1200">
              <a:solidFill>
                <a:srgbClr val="8A9397"/>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5 – Preliminary run and step response</a:t>
            </a:r>
          </a:p>
        </p:txBody>
      </p:sp>
      <p:sp>
        <p:nvSpPr>
          <p:cNvPr id="3" name="Content Placeholder 2"/>
          <p:cNvSpPr>
            <a:spLocks noGrp="1"/>
          </p:cNvSpPr>
          <p:nvPr>
            <p:ph idx="1"/>
          </p:nvPr>
        </p:nvSpPr>
        <p:spPr>
          <a:xfrm>
            <a:off x="809427" y="3707024"/>
            <a:ext cx="10926000" cy="2712056"/>
          </a:xfrm>
        </p:spPr>
        <p:txBody>
          <a:bodyPr wrap="square">
            <a:noAutofit/>
          </a:bodyPr>
          <a:lstStyle/>
          <a:p>
            <a:r>
              <a:rPr sz="2000">
                <a:solidFill>
                  <a:srgbClr val="004357"/>
                </a:solidFill>
              </a:rPr>
              <a:t>Task 5 serves two purposes: to obtain an estimate of the heater power actually entering the profile in the preliminary run, and to record the step response needed for identification in the long run.</a:t>
            </a:r>
          </a:p>
        </p:txBody>
      </p:sp>
      <p:graphicFrame>
        <p:nvGraphicFramePr>
          <p:cNvPr id="4" name="Table 3"/>
          <p:cNvGraphicFramePr>
            <a:graphicFrameLocks noGrp="1"/>
          </p:cNvGraphicFramePr>
          <p:nvPr/>
        </p:nvGraphicFramePr>
        <p:xfrm>
          <a:off x="1038027" y="1452520"/>
          <a:ext cx="10468799" cy="2144776"/>
        </p:xfrm>
        <a:graphic>
          <a:graphicData uri="http://schemas.openxmlformats.org/drawingml/2006/table">
            <a:tbl>
              <a:tblPr firstRow="1" bandRow="1">
                <a:tableStyleId>{5C22544A-7EE6-4342-B048-85BDC9FD1C3A}</a:tableStyleId>
              </a:tblPr>
              <a:tblGrid>
                <a:gridCol w="8924222">
                  <a:extLst>
                    <a:ext uri="{9D8B030D-6E8A-4147-A177-3AD203B41FA5}">
                      <a16:colId xmlns:a16="http://schemas.microsoft.com/office/drawing/2014/main" val="20000"/>
                    </a:ext>
                  </a:extLst>
                </a:gridCol>
                <a:gridCol w="1544577">
                  <a:extLst>
                    <a:ext uri="{9D8B030D-6E8A-4147-A177-3AD203B41FA5}">
                      <a16:colId xmlns:a16="http://schemas.microsoft.com/office/drawing/2014/main" val="20001"/>
                    </a:ext>
                  </a:extLst>
                </a:gridCol>
              </a:tblGrid>
              <a:tr h="306396">
                <a:tc>
                  <a:txBody>
                    <a:bodyPr/>
                    <a:lstStyle/>
                    <a:p>
                      <a:pPr algn="ctr"/>
                      <a:r>
                        <a:rPr sz="1300" b="1">
                          <a:solidFill>
                            <a:srgbClr val="FFFFFF"/>
                          </a:solidFill>
                        </a:rPr>
                        <a:t>Item</a:t>
                      </a:r>
                    </a:p>
                  </a:txBody>
                  <a:tcPr marL="45720" marR="45720" marT="18288" marB="18288" anchor="ctr">
                    <a:solidFill>
                      <a:srgbClr val="004357"/>
                    </a:solidFill>
                  </a:tcPr>
                </a:tc>
                <a:tc>
                  <a:txBody>
                    <a:bodyPr/>
                    <a:lstStyle/>
                    <a:p>
                      <a:pPr algn="ctr"/>
                      <a:r>
                        <a:rPr sz="1300" b="1">
                          <a:solidFill>
                            <a:srgbClr val="FFFFFF"/>
                          </a:solidFill>
                        </a:rPr>
                        <a:t>p</a:t>
                      </a:r>
                    </a:p>
                  </a:txBody>
                  <a:tcPr marL="45720" marR="45720" marT="18288" marB="18288" anchor="ctr">
                    <a:solidFill>
                      <a:srgbClr val="004357"/>
                    </a:solidFill>
                  </a:tcPr>
                </a:tc>
                <a:extLst>
                  <a:ext uri="{0D108BD9-81ED-4DB2-BD59-A6C34878D82A}">
                    <a16:rowId xmlns:a16="http://schemas.microsoft.com/office/drawing/2014/main" val="10000"/>
                  </a:ext>
                </a:extLst>
              </a:tr>
              <a:tr h="306396">
                <a:tc>
                  <a:txBody>
                    <a:bodyPr/>
                    <a:lstStyle/>
                    <a:p>
                      <a:pPr algn="ctr"/>
                      <a:r>
                        <a:rPr sz="1300">
                          <a:solidFill>
                            <a:srgbClr val="004357"/>
                          </a:solidFill>
                        </a:rPr>
                        <a:t>a) preliminary run recorded; initial slope of each channel read</a:t>
                      </a:r>
                    </a:p>
                  </a:txBody>
                  <a:tcPr marL="45720" marR="45720" marT="18288" marB="18288" anchor="ctr">
                    <a:solidFill>
                      <a:srgbClr val="FFFFFF"/>
                    </a:solidFill>
                  </a:tcPr>
                </a:tc>
                <a:tc>
                  <a:txBody>
                    <a:bodyPr/>
                    <a:lstStyle/>
                    <a:p>
                      <a:pPr algn="ctr"/>
                      <a:r>
                        <a:rPr sz="1300">
                          <a:solidFill>
                            <a:srgbClr val="004357"/>
                          </a:solidFill>
                        </a:rPr>
                        <a:t>1</a:t>
                      </a:r>
                    </a:p>
                  </a:txBody>
                  <a:tcPr marL="45720" marR="45720" marT="18288" marB="18288" anchor="ctr">
                    <a:solidFill>
                      <a:srgbClr val="FFFFFF"/>
                    </a:solidFill>
                  </a:tcPr>
                </a:tc>
                <a:extLst>
                  <a:ext uri="{0D108BD9-81ED-4DB2-BD59-A6C34878D82A}">
                    <a16:rowId xmlns:a16="http://schemas.microsoft.com/office/drawing/2014/main" val="10001"/>
                  </a:ext>
                </a:extLst>
              </a:tr>
              <a:tr h="306396">
                <a:tc>
                  <a:txBody>
                    <a:bodyPr/>
                    <a:lstStyle/>
                    <a:p>
                      <a:pPr algn="ctr"/>
                      <a:r>
                        <a:rPr sz="1300">
                          <a:solidFill>
                            <a:srgbClr val="004357"/>
                          </a:solidFill>
                        </a:rPr>
                        <a:t>b) power entering the profile computed from the slope and compared with the electrical power</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2"/>
                  </a:ext>
                </a:extLst>
              </a:tr>
              <a:tr h="306396">
                <a:tc>
                  <a:txBody>
                    <a:bodyPr/>
                    <a:lstStyle/>
                    <a:p>
                      <a:pPr algn="ctr"/>
                      <a:r>
                        <a:rPr sz="1300">
                          <a:solidFill>
                            <a:srgbClr val="004357"/>
                          </a:solidFill>
                        </a:rPr>
                        <a:t>c) rest segment of at least two minutes and a run carried through to steady state</a:t>
                      </a:r>
                    </a:p>
                  </a:txBody>
                  <a:tcPr marL="45720" marR="45720" marT="18288" marB="18288" anchor="ctr">
                    <a:solidFill>
                      <a:srgbClr val="FFFFFF"/>
                    </a:solidFill>
                  </a:tcPr>
                </a:tc>
                <a:tc>
                  <a:txBody>
                    <a:bodyPr/>
                    <a:lstStyle/>
                    <a:p>
                      <a:pPr algn="ctr"/>
                      <a:r>
                        <a:rPr sz="1300">
                          <a:solidFill>
                            <a:srgbClr val="004357"/>
                          </a:solidFill>
                        </a:rPr>
                        <a:t>1</a:t>
                      </a:r>
                    </a:p>
                  </a:txBody>
                  <a:tcPr marL="45720" marR="45720" marT="18288" marB="18288" anchor="ctr">
                    <a:solidFill>
                      <a:srgbClr val="FFFFFF"/>
                    </a:solidFill>
                  </a:tcPr>
                </a:tc>
                <a:extLst>
                  <a:ext uri="{0D108BD9-81ED-4DB2-BD59-A6C34878D82A}">
                    <a16:rowId xmlns:a16="http://schemas.microsoft.com/office/drawing/2014/main" val="10003"/>
                  </a:ext>
                </a:extLst>
              </a:tr>
              <a:tr h="306396">
                <a:tc>
                  <a:txBody>
                    <a:bodyPr/>
                    <a:lstStyle/>
                    <a:p>
                      <a:pPr algn="ctr"/>
                      <a:r>
                        <a:rPr sz="1300">
                          <a:solidFill>
                            <a:srgbClr val="004357"/>
                          </a:solidFill>
                        </a:rPr>
                        <a:t>d) numerical criterion for steady state</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4"/>
                  </a:ext>
                </a:extLst>
              </a:tr>
              <a:tr h="306396">
                <a:tc>
                  <a:txBody>
                    <a:bodyPr/>
                    <a:lstStyle/>
                    <a:p>
                      <a:pPr algn="ctr"/>
                      <a:r>
                        <a:rPr sz="1300">
                          <a:solidFill>
                            <a:srgbClr val="004357"/>
                          </a:solidFill>
                        </a:rPr>
                        <a:t>e) sampling period justified against both bounds, with the tighter one named and the number of records given</a:t>
                      </a:r>
                    </a:p>
                  </a:txBody>
                  <a:tcPr marL="45720" marR="45720" marT="18288" marB="18288" anchor="ctr">
                    <a:solidFill>
                      <a:srgbClr val="FFFFFF"/>
                    </a:solidFill>
                  </a:tcPr>
                </a:tc>
                <a:tc>
                  <a:txBody>
                    <a:bodyPr/>
                    <a:lstStyle/>
                    <a:p>
                      <a:pPr algn="ctr"/>
                      <a:r>
                        <a:rPr sz="1300">
                          <a:solidFill>
                            <a:srgbClr val="004357"/>
                          </a:solidFill>
                        </a:rPr>
                        <a:t>2</a:t>
                      </a:r>
                    </a:p>
                  </a:txBody>
                  <a:tcPr marL="45720" marR="45720" marT="18288" marB="18288" anchor="ctr">
                    <a:solidFill>
                      <a:srgbClr val="FFFFFF"/>
                    </a:solidFill>
                  </a:tcPr>
                </a:tc>
                <a:extLst>
                  <a:ext uri="{0D108BD9-81ED-4DB2-BD59-A6C34878D82A}">
                    <a16:rowId xmlns:a16="http://schemas.microsoft.com/office/drawing/2014/main" val="10005"/>
                  </a:ext>
                </a:extLst>
              </a:tr>
              <a:tr h="306400">
                <a:tc>
                  <a:txBody>
                    <a:bodyPr/>
                    <a:lstStyle/>
                    <a:p>
                      <a:pPr algn="ctr"/>
                      <a:r>
                        <a:rPr sz="1300">
                          <a:solidFill>
                            <a:srgbClr val="004357"/>
                          </a:solidFill>
                        </a:rPr>
                        <a:t>total</a:t>
                      </a:r>
                    </a:p>
                  </a:txBody>
                  <a:tcPr marL="45720" marR="45720" marT="18288" marB="18288" anchor="ctr">
                    <a:solidFill>
                      <a:srgbClr val="F5F8F9"/>
                    </a:solidFill>
                  </a:tcPr>
                </a:tc>
                <a:tc>
                  <a:txBody>
                    <a:bodyPr/>
                    <a:lstStyle/>
                    <a:p>
                      <a:pPr algn="ctr"/>
                      <a:r>
                        <a:rPr sz="1300">
                          <a:solidFill>
                            <a:srgbClr val="004357"/>
                          </a:solidFill>
                        </a:rPr>
                        <a:t>6</a:t>
                      </a:r>
                    </a:p>
                  </a:txBody>
                  <a:tcPr marL="45720" marR="45720" marT="18288" marB="18288" anchor="ctr">
                    <a:solidFill>
                      <a:srgbClr val="F5F8F9"/>
                    </a:solidFill>
                  </a:tcPr>
                </a:tc>
                <a:extLst>
                  <a:ext uri="{0D108BD9-81ED-4DB2-BD59-A6C34878D82A}">
                    <a16:rowId xmlns:a16="http://schemas.microsoft.com/office/drawing/2014/main" val="10006"/>
                  </a:ext>
                </a:extLst>
              </a:tr>
            </a:tbl>
          </a:graphicData>
        </a:graphic>
      </p:graphicFrame>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29}" type="slidenum">
              <a:rPr sz="1200">
                <a:solidFill>
                  <a:srgbClr val="8A9397"/>
                </a:solidFill>
              </a:rPr>
              <a:t>29</a:t>
            </a:fld>
            <a:endParaRPr sz="1200">
              <a:solidFill>
                <a:srgbClr val="8A9397"/>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5 – Steady state criterion</a:t>
            </a:r>
          </a:p>
        </p:txBody>
      </p:sp>
      <p:sp>
        <p:nvSpPr>
          <p:cNvPr id="3" name="Content Placeholder 2"/>
          <p:cNvSpPr>
            <a:spLocks noGrp="1"/>
          </p:cNvSpPr>
          <p:nvPr>
            <p:ph idx="1"/>
          </p:nvPr>
        </p:nvSpPr>
        <p:spPr>
          <a:xfrm>
            <a:off x="809427" y="1452520"/>
            <a:ext cx="10926000" cy="4966560"/>
          </a:xfrm>
        </p:spPr>
        <p:txBody>
          <a:bodyPr wrap="square">
            <a:noAutofit/>
          </a:bodyPr>
          <a:lstStyle/>
          <a:p>
            <a:r>
              <a:rPr sz="2000" b="1">
                <a:solidFill>
                  <a:srgbClr val="004357"/>
                </a:solidFill>
              </a:rPr>
              <a:t>(d) Steady state.</a:t>
            </a:r>
            <a:r>
              <a:rPr sz="2000">
                <a:solidFill>
                  <a:srgbClr val="004357"/>
                </a:solidFill>
              </a:rPr>
              <a:t> Steady state is recognised by a numerical criterion stated in the report, for instance by comparing the increase over a given time window with the noise of the measuring chain. Visual inspection of the curve is not a sufficient criterion.</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30}" type="slidenum">
              <a:rPr sz="1200">
                <a:solidFill>
                  <a:srgbClr val="8A9397"/>
                </a:solidFill>
              </a:rPr>
              <a:t>30</a:t>
            </a:fld>
            <a:endParaRPr sz="1200">
              <a:solidFill>
                <a:srgbClr val="8A9397"/>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5 – The preliminary run</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Immediately after the heater is switched on, the profile is still at ambient temperature and loses essentially no heat to the air. The whole of the power raises its temperature, and the energy balance reduces to  </a:t>
            </a:r>
            <a:r>
              <a:rPr sz="2000" b="1">
                <a:solidFill>
                  <a:srgbClr val="004357"/>
                </a:solidFill>
              </a:rPr>
              <a:t>C · dT/dt = P</a:t>
            </a:r>
          </a:p>
          <a:p>
            <a:r>
              <a:rPr sz="2000">
                <a:solidFill>
                  <a:srgbClr val="004357"/>
                </a:solidFill>
              </a:rPr>
              <a:t>At the start the rate of rise therefore depends only on the power P and on the heat capacity C. The heat transfer coefficient h does not appear at all, because the losses have not yet begun.</a:t>
            </a:r>
          </a:p>
          <a:p>
            <a:r>
              <a:rPr sz="2000" b="1">
                <a:solidFill>
                  <a:srgbClr val="004357"/>
                </a:solidFill>
              </a:rPr>
              <a:t>Procedure:</a:t>
            </a:r>
          </a:p>
          <a:p>
            <a:pPr lvl="1"/>
            <a:r>
              <a:rPr sz="1800">
                <a:solidFill>
                  <a:srgbClr val="004357"/>
                </a:solidFill>
              </a:rPr>
              <a:t>apply full power for about five minutes;</a:t>
            </a:r>
          </a:p>
          <a:p>
            <a:pPr lvl="1"/>
            <a:r>
              <a:rPr sz="1800">
                <a:solidFill>
                  <a:srgbClr val="004357"/>
                </a:solidFill>
              </a:rPr>
              <a:t>for each channel, determine the slope over the first 30 seconds, counted from the instant that channel begins to respond;</a:t>
            </a:r>
          </a:p>
          <a:p>
            <a:pPr lvl="1"/>
            <a:r>
              <a:rPr sz="1800">
                <a:solidFill>
                  <a:srgbClr val="004357"/>
                </a:solidFill>
              </a:rPr>
              <a:t>average the three slopes and multiply by the heat capacity: </a:t>
            </a:r>
            <a:r>
              <a:rPr sz="1800" b="1">
                <a:solidFill>
                  <a:srgbClr val="004357"/>
                </a:solidFill>
              </a:rPr>
              <a:t>P = C · mean initial slope</a:t>
            </a:r>
          </a:p>
          <a:p>
            <a:r>
              <a:rPr sz="2000">
                <a:solidFill>
                  <a:srgbClr val="004357"/>
                </a:solidFill>
              </a:rPr>
              <a:t>The length of the 30-second interval matters. Over this time the losses have barely begun, so the method underestimates the power by a few percent; the agreement threshold from Task 2 must allow for that.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31}" type="slidenum">
              <a:rPr sz="1200">
                <a:solidFill>
                  <a:srgbClr val="8A9397"/>
                </a:solidFill>
              </a:rPr>
              <a:t>31</a:t>
            </a:fld>
            <a:endParaRPr sz="1200">
              <a:solidFill>
                <a:srgbClr val="8A9397"/>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5 – What the preliminary run establishes</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upper limit of the power entering the profile is the electrical power, computed from the supply voltage and the resistor’s resistance. The value obtained from the initial slope is lower.</a:t>
            </a:r>
          </a:p>
          <a:p>
            <a:r>
              <a:rPr sz="2000">
                <a:solidFill>
                  <a:srgbClr val="004357"/>
                </a:solidFill>
              </a:rPr>
              <a:t>How much lower depends on:</a:t>
            </a:r>
          </a:p>
          <a:p>
            <a:pPr lvl="1"/>
            <a:r>
              <a:rPr sz="1800">
                <a:solidFill>
                  <a:srgbClr val="004357"/>
                </a:solidFill>
              </a:rPr>
              <a:t>the thermal resistance of the joint between resistor and profile,</a:t>
            </a:r>
          </a:p>
          <a:p>
            <a:pPr lvl="1"/>
            <a:r>
              <a:rPr sz="1800">
                <a:solidFill>
                  <a:srgbClr val="004357"/>
                </a:solidFill>
              </a:rPr>
              <a:t>the tightening of that joint and the presence or absence of heat-conducting compound,</a:t>
            </a:r>
          </a:p>
          <a:p>
            <a:pPr lvl="1"/>
            <a:r>
              <a:rPr sz="1800">
                <a:solidFill>
                  <a:srgbClr val="004357"/>
                </a:solidFill>
              </a:rPr>
              <a:t>the area of the resistor body dissipating heat directly to the air,</a:t>
            </a:r>
          </a:p>
          <a:p>
            <a:pPr lvl="1"/>
            <a:r>
              <a:rPr sz="1800">
                <a:solidFill>
                  <a:srgbClr val="004357"/>
                </a:solidFill>
              </a:rPr>
              <a:t>the heat carried away by leads and screws.</a:t>
            </a:r>
          </a:p>
          <a:p>
            <a:r>
              <a:rPr sz="2000">
                <a:solidFill>
                  <a:srgbClr val="004357"/>
                </a:solidFill>
              </a:rPr>
              <a:t>The difference may be small or may approach half the electrical power. It cannot be calculated in advance, which is precisely why it is measured. This is the first coefficient obtained from measurement rather than from assumption. It is obtained before the long run begins and returns in Task 7 as one half of the verification.</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32}" type="slidenum">
              <a:rPr sz="1200">
                <a:solidFill>
                  <a:srgbClr val="8A9397"/>
                </a:solidFill>
              </a:rPr>
              <a:t>32</a:t>
            </a:fld>
            <a:endParaRPr sz="1200">
              <a:solidFill>
                <a:srgbClr val="8A9397"/>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5 – The sampling period</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sampling period is bounded both from above and from below, and each bound requires its own justification.</a:t>
            </a:r>
          </a:p>
          <a:p>
            <a:r>
              <a:rPr sz="2000" b="1">
                <a:solidFill>
                  <a:srgbClr val="004357"/>
                </a:solidFill>
              </a:rPr>
              <a:t>Upper bound.</a:t>
            </a:r>
            <a:r>
              <a:rPr sz="2000">
                <a:solidFill>
                  <a:srgbClr val="004357"/>
                </a:solidFill>
              </a:rPr>
              <a:t> Too long a period removes short-lived features from the record. The shortest time quantity measured here is the delay L at the sensor nearest the heater, not the time constant, and it is L that sets this upper bound.</a:t>
            </a:r>
          </a:p>
          <a:p>
            <a:r>
              <a:rPr sz="2000" b="1">
                <a:solidFill>
                  <a:srgbClr val="004357"/>
                </a:solidFill>
              </a:rPr>
              <a:t>Lower bound.</a:t>
            </a:r>
            <a:r>
              <a:rPr sz="2000">
                <a:solidFill>
                  <a:srgbClr val="004357"/>
                </a:solidFill>
              </a:rPr>
              <a:t> With too short a period consecutive samples differ by less than the noise of the measuring chain, so additional samples carry no new information while the number of records grows to a size that is awkward to process.</a:t>
            </a:r>
          </a:p>
          <a:p>
            <a:r>
              <a:rPr sz="2000">
                <a:solidFill>
                  <a:srgbClr val="004357"/>
                </a:solidFill>
              </a:rPr>
              <a:t>The report must state the sampling period used, which of the two bounds proved tighter, and the number of records obtained in the long run. The time constant of the object is expressed in minutes; the recording runs longer than a teaching block and is intended to run unattended.</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33}" type="slidenum">
              <a:rPr sz="1200">
                <a:solidFill>
                  <a:srgbClr val="8A9397"/>
                </a:solidFill>
              </a:rPr>
              <a:t>33</a:t>
            </a:fld>
            <a:endParaRPr sz="1200">
              <a:solidFill>
                <a:srgbClr val="8A9397"/>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6 – Data processing</a:t>
            </a:r>
          </a:p>
        </p:txBody>
      </p:sp>
      <p:sp>
        <p:nvSpPr>
          <p:cNvPr id="3" name="Content Placeholder 2"/>
          <p:cNvSpPr>
            <a:spLocks noGrp="1"/>
          </p:cNvSpPr>
          <p:nvPr>
            <p:ph idx="1"/>
          </p:nvPr>
        </p:nvSpPr>
        <p:spPr>
          <a:xfrm>
            <a:off x="809427" y="2950358"/>
            <a:ext cx="10926000" cy="3468722"/>
          </a:xfrm>
        </p:spPr>
        <p:txBody>
          <a:bodyPr wrap="square">
            <a:noAutofit/>
          </a:bodyPr>
          <a:lstStyle/>
          <a:p>
            <a:r>
              <a:rPr sz="2000">
                <a:solidFill>
                  <a:srgbClr val="004357"/>
                </a:solidFill>
              </a:rPr>
              <a:t>In Task 6 the recorded data are processed to obtain the parameters K</a:t>
            </a:r>
            <a:r>
              <a:rPr sz="2000" baseline="-25000">
                <a:solidFill>
                  <a:srgbClr val="004357"/>
                </a:solidFill>
              </a:rPr>
              <a:t>P</a:t>
            </a:r>
            <a:r>
              <a:rPr sz="2000">
                <a:solidFill>
                  <a:srgbClr val="004357"/>
                </a:solidFill>
              </a:rPr>
              <a:t>, T</a:t>
            </a:r>
            <a:r>
              <a:rPr sz="2000" baseline="-25000">
                <a:solidFill>
                  <a:srgbClr val="004357"/>
                </a:solidFill>
              </a:rPr>
              <a:t>P</a:t>
            </a:r>
            <a:r>
              <a:rPr sz="2000">
                <a:solidFill>
                  <a:srgbClr val="004357"/>
                </a:solidFill>
              </a:rPr>
              <a:t> and L.</a:t>
            </a:r>
          </a:p>
          <a:p>
            <a:r>
              <a:rPr sz="2000" b="1">
                <a:solidFill>
                  <a:srgbClr val="004357"/>
                </a:solidFill>
              </a:rPr>
              <a:t>(a) Reading the time constant.</a:t>
            </a:r>
            <a:r>
              <a:rPr sz="2000">
                <a:solidFill>
                  <a:srgbClr val="004357"/>
                </a:solidFill>
              </a:rPr>
              <a:t> If T</a:t>
            </a:r>
            <a:r>
              <a:rPr sz="2000" baseline="-25000">
                <a:solidFill>
                  <a:srgbClr val="004357"/>
                </a:solidFill>
              </a:rPr>
              <a:t>P</a:t>
            </a:r>
            <a:r>
              <a:rPr sz="2000">
                <a:solidFill>
                  <a:srgbClr val="004357"/>
                </a:solidFill>
              </a:rPr>
              <a:t> is read from the instant the heater is switched on, the delay L enters the result as well, and L differs from sensor to sensor. The three channels then give three different time constants although the profile has only one. Therefore the reading of T</a:t>
            </a:r>
            <a:r>
              <a:rPr sz="2000" baseline="-25000">
                <a:solidFill>
                  <a:srgbClr val="004357"/>
                </a:solidFill>
              </a:rPr>
              <a:t>P</a:t>
            </a:r>
            <a:r>
              <a:rPr sz="2000">
                <a:solidFill>
                  <a:srgbClr val="004357"/>
                </a:solidFill>
              </a:rPr>
              <a:t> must start from the instant at which the sensor concerned begins to respond.</a:t>
            </a:r>
          </a:p>
        </p:txBody>
      </p:sp>
      <p:graphicFrame>
        <p:nvGraphicFramePr>
          <p:cNvPr id="4" name="Table 3"/>
          <p:cNvGraphicFramePr>
            <a:graphicFrameLocks noGrp="1"/>
          </p:cNvGraphicFramePr>
          <p:nvPr/>
        </p:nvGraphicFramePr>
        <p:xfrm>
          <a:off x="1038027" y="1452520"/>
          <a:ext cx="10468799" cy="1388110"/>
        </p:xfrm>
        <a:graphic>
          <a:graphicData uri="http://schemas.openxmlformats.org/drawingml/2006/table">
            <a:tbl>
              <a:tblPr firstRow="1" bandRow="1">
                <a:tableStyleId>{5C22544A-7EE6-4342-B048-85BDC9FD1C3A}</a:tableStyleId>
              </a:tblPr>
              <a:tblGrid>
                <a:gridCol w="8924222">
                  <a:extLst>
                    <a:ext uri="{9D8B030D-6E8A-4147-A177-3AD203B41FA5}">
                      <a16:colId xmlns:a16="http://schemas.microsoft.com/office/drawing/2014/main" val="20000"/>
                    </a:ext>
                  </a:extLst>
                </a:gridCol>
                <a:gridCol w="1544577">
                  <a:extLst>
                    <a:ext uri="{9D8B030D-6E8A-4147-A177-3AD203B41FA5}">
                      <a16:colId xmlns:a16="http://schemas.microsoft.com/office/drawing/2014/main" val="20001"/>
                    </a:ext>
                  </a:extLst>
                </a:gridCol>
              </a:tblGrid>
              <a:tr h="277622">
                <a:tc>
                  <a:txBody>
                    <a:bodyPr/>
                    <a:lstStyle/>
                    <a:p>
                      <a:pPr algn="ctr"/>
                      <a:r>
                        <a:rPr sz="1300" b="1">
                          <a:solidFill>
                            <a:srgbClr val="FFFFFF"/>
                          </a:solidFill>
                        </a:rPr>
                        <a:t>Item</a:t>
                      </a:r>
                    </a:p>
                  </a:txBody>
                  <a:tcPr marL="45720" marR="45720" marT="18288" marB="18288" anchor="ctr">
                    <a:solidFill>
                      <a:srgbClr val="004357"/>
                    </a:solidFill>
                  </a:tcPr>
                </a:tc>
                <a:tc>
                  <a:txBody>
                    <a:bodyPr/>
                    <a:lstStyle/>
                    <a:p>
                      <a:pPr algn="ctr"/>
                      <a:r>
                        <a:rPr sz="1300" b="1">
                          <a:solidFill>
                            <a:srgbClr val="FFFFFF"/>
                          </a:solidFill>
                        </a:rPr>
                        <a:t>p</a:t>
                      </a:r>
                    </a:p>
                  </a:txBody>
                  <a:tcPr marL="45720" marR="45720" marT="18288" marB="18288" anchor="ctr">
                    <a:solidFill>
                      <a:srgbClr val="004357"/>
                    </a:solidFill>
                  </a:tcPr>
                </a:tc>
                <a:extLst>
                  <a:ext uri="{0D108BD9-81ED-4DB2-BD59-A6C34878D82A}">
                    <a16:rowId xmlns:a16="http://schemas.microsoft.com/office/drawing/2014/main" val="10000"/>
                  </a:ext>
                </a:extLst>
              </a:tr>
              <a:tr h="277622">
                <a:tc>
                  <a:txBody>
                    <a:bodyPr/>
                    <a:lstStyle/>
                    <a:p>
                      <a:pPr algn="ctr"/>
                      <a:r>
                        <a:rPr sz="1300">
                          <a:solidFill>
                            <a:srgbClr val="004357"/>
                          </a:solidFill>
                        </a:rPr>
                        <a:t>a) K</a:t>
                      </a:r>
                      <a:r>
                        <a:rPr sz="1300" baseline="-25000">
                          <a:solidFill>
                            <a:srgbClr val="004357"/>
                          </a:solidFill>
                        </a:rPr>
                        <a:t>P</a:t>
                      </a:r>
                      <a:r>
                        <a:rPr sz="1300">
                          <a:solidFill>
                            <a:srgbClr val="004357"/>
                          </a:solidFill>
                        </a:rPr>
                        <a:t>, T</a:t>
                      </a:r>
                      <a:r>
                        <a:rPr sz="1300" baseline="-25000">
                          <a:solidFill>
                            <a:srgbClr val="004357"/>
                          </a:solidFill>
                        </a:rPr>
                        <a:t>P</a:t>
                      </a:r>
                      <a:r>
                        <a:rPr sz="1300">
                          <a:solidFill>
                            <a:srgbClr val="004357"/>
                          </a:solidFill>
                        </a:rPr>
                        <a:t> and L for each of the three channels</a:t>
                      </a:r>
                    </a:p>
                  </a:txBody>
                  <a:tcPr marL="45720" marR="45720" marT="18288" marB="18288" anchor="ctr">
                    <a:solidFill>
                      <a:srgbClr val="FFFFFF"/>
                    </a:solidFill>
                  </a:tcPr>
                </a:tc>
                <a:tc>
                  <a:txBody>
                    <a:bodyPr/>
                    <a:lstStyle/>
                    <a:p>
                      <a:pPr algn="ctr"/>
                      <a:r>
                        <a:rPr sz="1300">
                          <a:solidFill>
                            <a:srgbClr val="004357"/>
                          </a:solidFill>
                        </a:rPr>
                        <a:t>3</a:t>
                      </a:r>
                    </a:p>
                  </a:txBody>
                  <a:tcPr marL="45720" marR="45720" marT="18288" marB="18288" anchor="ctr">
                    <a:solidFill>
                      <a:srgbClr val="FFFFFF"/>
                    </a:solidFill>
                  </a:tcPr>
                </a:tc>
                <a:extLst>
                  <a:ext uri="{0D108BD9-81ED-4DB2-BD59-A6C34878D82A}">
                    <a16:rowId xmlns:a16="http://schemas.microsoft.com/office/drawing/2014/main" val="10001"/>
                  </a:ext>
                </a:extLst>
              </a:tr>
              <a:tr h="277622">
                <a:tc>
                  <a:txBody>
                    <a:bodyPr/>
                    <a:lstStyle/>
                    <a:p>
                      <a:pPr algn="ctr"/>
                      <a:r>
                        <a:rPr sz="1300">
                          <a:solidFill>
                            <a:srgbClr val="004357"/>
                          </a:solidFill>
                        </a:rPr>
                        <a:t>b) plot with the construction of the time-constant reading marked</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2"/>
                  </a:ext>
                </a:extLst>
              </a:tr>
              <a:tr h="277622">
                <a:tc>
                  <a:txBody>
                    <a:bodyPr/>
                    <a:lstStyle/>
                    <a:p>
                      <a:pPr algn="ctr"/>
                      <a:r>
                        <a:rPr sz="1300">
                          <a:solidFill>
                            <a:srgbClr val="004357"/>
                          </a:solidFill>
                        </a:rPr>
                        <a:t>c) three steady-state temperatures and the difference between the outer channels</a:t>
                      </a:r>
                    </a:p>
                  </a:txBody>
                  <a:tcPr marL="45720" marR="45720" marT="18288" marB="18288" anchor="ctr">
                    <a:solidFill>
                      <a:srgbClr val="FFFFFF"/>
                    </a:solidFill>
                  </a:tcPr>
                </a:tc>
                <a:tc>
                  <a:txBody>
                    <a:bodyPr/>
                    <a:lstStyle/>
                    <a:p>
                      <a:pPr algn="ctr"/>
                      <a:r>
                        <a:rPr sz="1300">
                          <a:solidFill>
                            <a:srgbClr val="004357"/>
                          </a:solidFill>
                        </a:rPr>
                        <a:t>1</a:t>
                      </a:r>
                    </a:p>
                  </a:txBody>
                  <a:tcPr marL="45720" marR="45720" marT="18288" marB="18288" anchor="ctr">
                    <a:solidFill>
                      <a:srgbClr val="FFFFFF"/>
                    </a:solidFill>
                  </a:tcPr>
                </a:tc>
                <a:extLst>
                  <a:ext uri="{0D108BD9-81ED-4DB2-BD59-A6C34878D82A}">
                    <a16:rowId xmlns:a16="http://schemas.microsoft.com/office/drawing/2014/main" val="10003"/>
                  </a:ext>
                </a:extLst>
              </a:tr>
              <a:tr h="277622">
                <a:tc>
                  <a:txBody>
                    <a:bodyPr/>
                    <a:lstStyle/>
                    <a:p>
                      <a:pPr algn="ctr"/>
                      <a:r>
                        <a:rPr sz="1300">
                          <a:solidFill>
                            <a:srgbClr val="004357"/>
                          </a:solidFill>
                        </a:rPr>
                        <a:t>total</a:t>
                      </a:r>
                    </a:p>
                  </a:txBody>
                  <a:tcPr marL="45720" marR="45720" marT="18288" marB="18288" anchor="ctr">
                    <a:solidFill>
                      <a:srgbClr val="F5F8F9"/>
                    </a:solidFill>
                  </a:tcPr>
                </a:tc>
                <a:tc>
                  <a:txBody>
                    <a:bodyPr/>
                    <a:lstStyle/>
                    <a:p>
                      <a:pPr algn="ctr"/>
                      <a:r>
                        <a:rPr sz="1300">
                          <a:solidFill>
                            <a:srgbClr val="004357"/>
                          </a:solidFill>
                        </a:rPr>
                        <a:t>5</a:t>
                      </a:r>
                    </a:p>
                  </a:txBody>
                  <a:tcPr marL="45720" marR="45720" marT="18288" marB="18288" anchor="ctr">
                    <a:solidFill>
                      <a:srgbClr val="F5F8F9"/>
                    </a:solidFill>
                  </a:tcPr>
                </a:tc>
                <a:extLst>
                  <a:ext uri="{0D108BD9-81ED-4DB2-BD59-A6C34878D82A}">
                    <a16:rowId xmlns:a16="http://schemas.microsoft.com/office/drawing/2014/main" val="10004"/>
                  </a:ext>
                </a:extLst>
              </a:tr>
            </a:tbl>
          </a:graphicData>
        </a:graphic>
      </p:graphicFrame>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34}" type="slidenum">
              <a:rPr sz="1200">
                <a:solidFill>
                  <a:srgbClr val="8A9397"/>
                </a:solidFill>
              </a:rPr>
              <a:t>34</a:t>
            </a:fld>
            <a:endParaRPr sz="1200">
              <a:solidFill>
                <a:srgbClr val="8A9397"/>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6 – What the drawings must show</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Drawings in the report must carry information; they are not mere illustrations. The report must include at least:</a:t>
            </a:r>
          </a:p>
          <a:p>
            <a:r>
              <a:rPr sz="2000" b="1">
                <a:solidFill>
                  <a:srgbClr val="004357"/>
                </a:solidFill>
              </a:rPr>
              <a:t>The step-response plot:</a:t>
            </a:r>
          </a:p>
          <a:p>
            <a:pPr lvl="1"/>
            <a:r>
              <a:rPr sz="1800">
                <a:solidFill>
                  <a:srgbClr val="004357"/>
                </a:solidFill>
              </a:rPr>
              <a:t>all three channels on one time axis,</a:t>
            </a:r>
          </a:p>
          <a:p>
            <a:pPr lvl="1"/>
            <a:r>
              <a:rPr sz="1800">
                <a:solidFill>
                  <a:srgbClr val="004357"/>
                </a:solidFill>
              </a:rPr>
              <a:t>the construction used to read the time constant, marked on the curve,</a:t>
            </a:r>
          </a:p>
          <a:p>
            <a:pPr lvl="1"/>
            <a:r>
              <a:rPr sz="1800">
                <a:solidFill>
                  <a:srgbClr val="004357"/>
                </a:solidFill>
              </a:rPr>
              <a:t>the delay L marked for each channel,</a:t>
            </a:r>
          </a:p>
          <a:p>
            <a:pPr lvl="1"/>
            <a:r>
              <a:rPr sz="1800">
                <a:solidFill>
                  <a:srgbClr val="004357"/>
                </a:solidFill>
              </a:rPr>
              <a:t>the three steady-state levels and the difference between the outer channels.</a:t>
            </a:r>
          </a:p>
          <a:p>
            <a:r>
              <a:rPr sz="2000" b="1">
                <a:solidFill>
                  <a:srgbClr val="004357"/>
                </a:solidFill>
              </a:rPr>
              <a:t>The sketch of the profile:</a:t>
            </a:r>
            <a:r>
              <a:rPr sz="2000">
                <a:solidFill>
                  <a:srgbClr val="004357"/>
                </a:solidFill>
              </a:rPr>
              <a:t> with a clear indication of which surfaces were counted as the exchange area in Task 2.</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35}" type="slidenum">
              <a:rPr sz="1200">
                <a:solidFill>
                  <a:srgbClr val="8A9397"/>
                </a:solidFill>
              </a:rPr>
              <a:t>35</a:t>
            </a:fld>
            <a:endParaRPr sz="1200">
              <a:solidFill>
                <a:srgbClr val="8A9397"/>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7 – Comparison, identification and verification</a:t>
            </a:r>
          </a:p>
        </p:txBody>
      </p:sp>
      <p:sp>
        <p:nvSpPr>
          <p:cNvPr id="3" name="Content Placeholder 2"/>
          <p:cNvSpPr>
            <a:spLocks noGrp="1"/>
          </p:cNvSpPr>
          <p:nvPr>
            <p:ph idx="1"/>
          </p:nvPr>
        </p:nvSpPr>
        <p:spPr>
          <a:xfrm>
            <a:off x="809427" y="3783224"/>
            <a:ext cx="10926000" cy="2635856"/>
          </a:xfrm>
        </p:spPr>
        <p:txBody>
          <a:bodyPr wrap="square">
            <a:noAutofit/>
          </a:bodyPr>
          <a:lstStyle/>
          <a:p>
            <a:r>
              <a:rPr sz="2000">
                <a:solidFill>
                  <a:srgbClr val="004357"/>
                </a:solidFill>
              </a:rPr>
              <a:t>In Task 7 the theoretical model is compared with the measurements, the coefficients h and P are identified, and the model is verified.</a:t>
            </a:r>
          </a:p>
        </p:txBody>
      </p:sp>
      <p:graphicFrame>
        <p:nvGraphicFramePr>
          <p:cNvPr id="4" name="Table 3"/>
          <p:cNvGraphicFramePr>
            <a:graphicFrameLocks noGrp="1"/>
          </p:cNvGraphicFramePr>
          <p:nvPr/>
        </p:nvGraphicFramePr>
        <p:xfrm>
          <a:off x="1038027" y="1452520"/>
          <a:ext cx="10468799" cy="2220976"/>
        </p:xfrm>
        <a:graphic>
          <a:graphicData uri="http://schemas.openxmlformats.org/drawingml/2006/table">
            <a:tbl>
              <a:tblPr firstRow="1" bandRow="1">
                <a:tableStyleId>{5C22544A-7EE6-4342-B048-85BDC9FD1C3A}</a:tableStyleId>
              </a:tblPr>
              <a:tblGrid>
                <a:gridCol w="8924222">
                  <a:extLst>
                    <a:ext uri="{9D8B030D-6E8A-4147-A177-3AD203B41FA5}">
                      <a16:colId xmlns:a16="http://schemas.microsoft.com/office/drawing/2014/main" val="20000"/>
                    </a:ext>
                  </a:extLst>
                </a:gridCol>
                <a:gridCol w="1544577">
                  <a:extLst>
                    <a:ext uri="{9D8B030D-6E8A-4147-A177-3AD203B41FA5}">
                      <a16:colId xmlns:a16="http://schemas.microsoft.com/office/drawing/2014/main" val="20001"/>
                    </a:ext>
                  </a:extLst>
                </a:gridCol>
              </a:tblGrid>
              <a:tr h="277622">
                <a:tc>
                  <a:txBody>
                    <a:bodyPr/>
                    <a:lstStyle/>
                    <a:p>
                      <a:pPr algn="ctr"/>
                      <a:r>
                        <a:rPr sz="1300" b="1">
                          <a:solidFill>
                            <a:srgbClr val="FFFFFF"/>
                          </a:solidFill>
                        </a:rPr>
                        <a:t>Item</a:t>
                      </a:r>
                    </a:p>
                  </a:txBody>
                  <a:tcPr marL="45720" marR="45720" marT="18288" marB="18288" anchor="ctr">
                    <a:solidFill>
                      <a:srgbClr val="004357"/>
                    </a:solidFill>
                  </a:tcPr>
                </a:tc>
                <a:tc>
                  <a:txBody>
                    <a:bodyPr/>
                    <a:lstStyle/>
                    <a:p>
                      <a:pPr algn="ctr"/>
                      <a:r>
                        <a:rPr sz="1300" b="1">
                          <a:solidFill>
                            <a:srgbClr val="FFFFFF"/>
                          </a:solidFill>
                        </a:rPr>
                        <a:t>p</a:t>
                      </a:r>
                    </a:p>
                  </a:txBody>
                  <a:tcPr marL="45720" marR="45720" marT="18288" marB="18288" anchor="ctr">
                    <a:solidFill>
                      <a:srgbClr val="004357"/>
                    </a:solidFill>
                  </a:tcPr>
                </a:tc>
                <a:extLst>
                  <a:ext uri="{0D108BD9-81ED-4DB2-BD59-A6C34878D82A}">
                    <a16:rowId xmlns:a16="http://schemas.microsoft.com/office/drawing/2014/main" val="10000"/>
                  </a:ext>
                </a:extLst>
              </a:tr>
              <a:tr h="277622">
                <a:tc>
                  <a:txBody>
                    <a:bodyPr/>
                    <a:lstStyle/>
                    <a:p>
                      <a:pPr algn="ctr"/>
                      <a:r>
                        <a:rPr sz="1300">
                          <a:solidFill>
                            <a:srgbClr val="004357"/>
                          </a:solidFill>
                        </a:rPr>
                        <a:t>a) table of predicted against measured values, with the relative difference of each</a:t>
                      </a:r>
                    </a:p>
                  </a:txBody>
                  <a:tcPr marL="45720" marR="45720" marT="18288" marB="18288" anchor="ctr">
                    <a:solidFill>
                      <a:srgbClr val="FFFFFF"/>
                    </a:solidFill>
                  </a:tcPr>
                </a:tc>
                <a:tc>
                  <a:txBody>
                    <a:bodyPr/>
                    <a:lstStyle/>
                    <a:p>
                      <a:pPr algn="ctr"/>
                      <a:r>
                        <a:rPr sz="1300">
                          <a:solidFill>
                            <a:srgbClr val="004357"/>
                          </a:solidFill>
                        </a:rPr>
                        <a:t>1</a:t>
                      </a:r>
                    </a:p>
                  </a:txBody>
                  <a:tcPr marL="45720" marR="45720" marT="18288" marB="18288" anchor="ctr">
                    <a:solidFill>
                      <a:srgbClr val="FFFFFF"/>
                    </a:solidFill>
                  </a:tcPr>
                </a:tc>
                <a:extLst>
                  <a:ext uri="{0D108BD9-81ED-4DB2-BD59-A6C34878D82A}">
                    <a16:rowId xmlns:a16="http://schemas.microsoft.com/office/drawing/2014/main" val="10001"/>
                  </a:ext>
                </a:extLst>
              </a:tr>
              <a:tr h="277622">
                <a:tc>
                  <a:txBody>
                    <a:bodyPr/>
                    <a:lstStyle/>
                    <a:p>
                      <a:pPr algn="ctr"/>
                      <a:r>
                        <a:rPr sz="1300">
                          <a:solidFill>
                            <a:srgbClr val="004357"/>
                          </a:solidFill>
                        </a:rPr>
                        <a:t>b) which quantities agree and which do not, and the inconsistent coefficient named</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2"/>
                  </a:ext>
                </a:extLst>
              </a:tr>
              <a:tr h="277622">
                <a:tc>
                  <a:txBody>
                    <a:bodyPr/>
                    <a:lstStyle/>
                    <a:p>
                      <a:pPr algn="ctr"/>
                      <a:r>
                        <a:rPr sz="1300">
                          <a:solidFill>
                            <a:srgbClr val="004357"/>
                          </a:solidFill>
                        </a:rPr>
                        <a:t>c) h and the power computed from the measurement</a:t>
                      </a:r>
                    </a:p>
                  </a:txBody>
                  <a:tcPr marL="45720" marR="45720" marT="18288" marB="18288" anchor="ctr">
                    <a:solidFill>
                      <a:srgbClr val="FFFFFF"/>
                    </a:solidFill>
                  </a:tcPr>
                </a:tc>
                <a:tc>
                  <a:txBody>
                    <a:bodyPr/>
                    <a:lstStyle/>
                    <a:p>
                      <a:pPr algn="ctr"/>
                      <a:r>
                        <a:rPr sz="1300">
                          <a:solidFill>
                            <a:srgbClr val="004357"/>
                          </a:solidFill>
                        </a:rPr>
                        <a:t>2</a:t>
                      </a:r>
                    </a:p>
                  </a:txBody>
                  <a:tcPr marL="45720" marR="45720" marT="18288" marB="18288" anchor="ctr">
                    <a:solidFill>
                      <a:srgbClr val="FFFFFF"/>
                    </a:solidFill>
                  </a:tcPr>
                </a:tc>
                <a:extLst>
                  <a:ext uri="{0D108BD9-81ED-4DB2-BD59-A6C34878D82A}">
                    <a16:rowId xmlns:a16="http://schemas.microsoft.com/office/drawing/2014/main" val="10003"/>
                  </a:ext>
                </a:extLst>
              </a:tr>
              <a:tr h="277622">
                <a:tc>
                  <a:txBody>
                    <a:bodyPr/>
                    <a:lstStyle/>
                    <a:p>
                      <a:pPr algn="ctr"/>
                      <a:r>
                        <a:rPr sz="1300">
                          <a:solidFill>
                            <a:srgbClr val="004357"/>
                          </a:solidFill>
                        </a:rPr>
                        <a:t>d) both results checked against ranges established beforehand</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4"/>
                  </a:ext>
                </a:extLst>
              </a:tr>
              <a:tr h="277622">
                <a:tc>
                  <a:txBody>
                    <a:bodyPr/>
                    <a:lstStyle/>
                    <a:p>
                      <a:pPr algn="ctr"/>
                      <a:r>
                        <a:rPr sz="1300">
                          <a:solidFill>
                            <a:srgbClr val="004357"/>
                          </a:solidFill>
                        </a:rPr>
                        <a:t>e) the two determinations of the power compared, with the threshold of Task 2 applied</a:t>
                      </a:r>
                    </a:p>
                  </a:txBody>
                  <a:tcPr marL="45720" marR="45720" marT="18288" marB="18288" anchor="ctr">
                    <a:solidFill>
                      <a:srgbClr val="FFFFFF"/>
                    </a:solidFill>
                  </a:tcPr>
                </a:tc>
                <a:tc>
                  <a:txBody>
                    <a:bodyPr/>
                    <a:lstStyle/>
                    <a:p>
                      <a:pPr algn="ctr"/>
                      <a:r>
                        <a:rPr sz="1300">
                          <a:solidFill>
                            <a:srgbClr val="004357"/>
                          </a:solidFill>
                        </a:rPr>
                        <a:t>2</a:t>
                      </a:r>
                    </a:p>
                  </a:txBody>
                  <a:tcPr marL="45720" marR="45720" marT="18288" marB="18288" anchor="ctr">
                    <a:solidFill>
                      <a:srgbClr val="FFFFFF"/>
                    </a:solidFill>
                  </a:tcPr>
                </a:tc>
                <a:extLst>
                  <a:ext uri="{0D108BD9-81ED-4DB2-BD59-A6C34878D82A}">
                    <a16:rowId xmlns:a16="http://schemas.microsoft.com/office/drawing/2014/main" val="10005"/>
                  </a:ext>
                </a:extLst>
              </a:tr>
              <a:tr h="277622">
                <a:tc>
                  <a:txBody>
                    <a:bodyPr/>
                    <a:lstStyle/>
                    <a:p>
                      <a:pPr algn="ctr"/>
                      <a:r>
                        <a:rPr sz="1300">
                          <a:solidFill>
                            <a:srgbClr val="004357"/>
                          </a:solidFill>
                        </a:rPr>
                        <a:t>f) what remains, and why a change of coefficients cannot remove it</a:t>
                      </a:r>
                    </a:p>
                  </a:txBody>
                  <a:tcPr marL="45720" marR="45720" marT="18288" marB="18288" anchor="ctr">
                    <a:solidFill>
                      <a:srgbClr val="F5F8F9"/>
                    </a:solidFill>
                  </a:tcPr>
                </a:tc>
                <a:tc>
                  <a:txBody>
                    <a:bodyPr/>
                    <a:lstStyle/>
                    <a:p>
                      <a:pPr algn="ctr"/>
                      <a:r>
                        <a:rPr sz="1300">
                          <a:solidFill>
                            <a:srgbClr val="004357"/>
                          </a:solidFill>
                        </a:rPr>
                        <a:t>1</a:t>
                      </a:r>
                    </a:p>
                  </a:txBody>
                  <a:tcPr marL="45720" marR="45720" marT="18288" marB="18288" anchor="ctr">
                    <a:solidFill>
                      <a:srgbClr val="F5F8F9"/>
                    </a:solidFill>
                  </a:tcPr>
                </a:tc>
                <a:extLst>
                  <a:ext uri="{0D108BD9-81ED-4DB2-BD59-A6C34878D82A}">
                    <a16:rowId xmlns:a16="http://schemas.microsoft.com/office/drawing/2014/main" val="10006"/>
                  </a:ext>
                </a:extLst>
              </a:tr>
              <a:tr h="277622">
                <a:tc>
                  <a:txBody>
                    <a:bodyPr/>
                    <a:lstStyle/>
                    <a:p>
                      <a:pPr algn="ctr"/>
                      <a:r>
                        <a:rPr sz="1300">
                          <a:solidFill>
                            <a:srgbClr val="004357"/>
                          </a:solidFill>
                        </a:rPr>
                        <a:t>total</a:t>
                      </a:r>
                    </a:p>
                  </a:txBody>
                  <a:tcPr marL="45720" marR="45720" marT="18288" marB="18288" anchor="ctr">
                    <a:solidFill>
                      <a:srgbClr val="FFFFFF"/>
                    </a:solidFill>
                  </a:tcPr>
                </a:tc>
                <a:tc>
                  <a:txBody>
                    <a:bodyPr/>
                    <a:lstStyle/>
                    <a:p>
                      <a:pPr algn="ctr"/>
                      <a:r>
                        <a:rPr sz="1300">
                          <a:solidFill>
                            <a:srgbClr val="004357"/>
                          </a:solidFill>
                        </a:rPr>
                        <a:t>8</a:t>
                      </a:r>
                    </a:p>
                  </a:txBody>
                  <a:tcPr marL="45720" marR="45720"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36}" type="slidenum">
              <a:rPr sz="1200">
                <a:solidFill>
                  <a:srgbClr val="8A9397"/>
                </a:solidFill>
              </a:rPr>
              <a:t>36</a:t>
            </a:fld>
            <a:endParaRPr sz="1200">
              <a:solidFill>
                <a:srgbClr val="8A9397"/>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7 – Identifying the inconsistent coefficient</a:t>
            </a:r>
          </a:p>
        </p:txBody>
      </p:sp>
      <p:sp>
        <p:nvSpPr>
          <p:cNvPr id="3" name="Content Placeholder 2"/>
          <p:cNvSpPr>
            <a:spLocks noGrp="1"/>
          </p:cNvSpPr>
          <p:nvPr>
            <p:ph idx="1"/>
          </p:nvPr>
        </p:nvSpPr>
        <p:spPr>
          <a:xfrm>
            <a:off x="809427" y="2734712"/>
            <a:ext cx="10926000" cy="3684368"/>
          </a:xfrm>
        </p:spPr>
        <p:txBody>
          <a:bodyPr wrap="square">
            <a:noAutofit/>
          </a:bodyPr>
          <a:lstStyle/>
          <a:p>
            <a:r>
              <a:rPr sz="2000">
                <a:solidFill>
                  <a:srgbClr val="004357"/>
                </a:solidFill>
              </a:rPr>
              <a:t>Both key formulas share the same denominator h·A but have different numerators:  </a:t>
            </a:r>
            <a:r>
              <a:rPr sz="2000" b="1">
                <a:solidFill>
                  <a:srgbClr val="004357"/>
                </a:solidFill>
              </a:rPr>
              <a:t>T</a:t>
            </a:r>
            <a:r>
              <a:rPr sz="2000" b="1" baseline="-25000">
                <a:solidFill>
                  <a:srgbClr val="004357"/>
                </a:solidFill>
              </a:rPr>
              <a:t>P</a:t>
            </a:r>
            <a:r>
              <a:rPr sz="2000" b="1">
                <a:solidFill>
                  <a:srgbClr val="004357"/>
                </a:solidFill>
              </a:rPr>
              <a:t> = C / ( h·A )</a:t>
            </a:r>
            <a:r>
              <a:rPr sz="2000">
                <a:solidFill>
                  <a:srgbClr val="004357"/>
                </a:solidFill>
              </a:rPr>
              <a:t>  and  </a:t>
            </a:r>
            <a:r>
              <a:rPr sz="2000" b="1">
                <a:solidFill>
                  <a:srgbClr val="004357"/>
                </a:solidFill>
              </a:rPr>
              <a:t>ΔT = P / ( h·A )</a:t>
            </a:r>
            <a:r>
              <a:rPr sz="2000">
                <a:solidFill>
                  <a:srgbClr val="004357"/>
                </a:solidFill>
              </a:rPr>
              <a:t>. The power P does not occur in the formula for the time constant.</a:t>
            </a:r>
          </a:p>
          <a:p>
            <a:r>
              <a:rPr sz="2000">
                <a:solidFill>
                  <a:srgbClr val="004357"/>
                </a:solidFill>
              </a:rPr>
              <a:t>From this relation the table of cases above is constructed. The report must state which row applies and on what evidence. The delay L and the three different steady-state rises appear in no row, because they belong to the structure of the model, not to its coefficients.</a:t>
            </a:r>
          </a:p>
        </p:txBody>
      </p:sp>
      <p:graphicFrame>
        <p:nvGraphicFramePr>
          <p:cNvPr id="4" name="Table 3"/>
          <p:cNvGraphicFramePr>
            <a:graphicFrameLocks noGrp="1"/>
          </p:cNvGraphicFramePr>
          <p:nvPr/>
        </p:nvGraphicFramePr>
        <p:xfrm>
          <a:off x="1038027" y="1452520"/>
          <a:ext cx="10468800" cy="1172464"/>
        </p:xfrm>
        <a:graphic>
          <a:graphicData uri="http://schemas.openxmlformats.org/drawingml/2006/table">
            <a:tbl>
              <a:tblPr firstRow="1" bandRow="1">
                <a:tableStyleId>{5C22544A-7EE6-4342-B048-85BDC9FD1C3A}</a:tableStyleId>
              </a:tblPr>
              <a:tblGrid>
                <a:gridCol w="3140640">
                  <a:extLst>
                    <a:ext uri="{9D8B030D-6E8A-4147-A177-3AD203B41FA5}">
                      <a16:colId xmlns:a16="http://schemas.microsoft.com/office/drawing/2014/main" val="20000"/>
                    </a:ext>
                  </a:extLst>
                </a:gridCol>
                <a:gridCol w="3768768">
                  <a:extLst>
                    <a:ext uri="{9D8B030D-6E8A-4147-A177-3AD203B41FA5}">
                      <a16:colId xmlns:a16="http://schemas.microsoft.com/office/drawing/2014/main" val="20001"/>
                    </a:ext>
                  </a:extLst>
                </a:gridCol>
                <a:gridCol w="3559392">
                  <a:extLst>
                    <a:ext uri="{9D8B030D-6E8A-4147-A177-3AD203B41FA5}">
                      <a16:colId xmlns:a16="http://schemas.microsoft.com/office/drawing/2014/main" val="20002"/>
                    </a:ext>
                  </a:extLst>
                </a:gridCol>
              </a:tblGrid>
              <a:tr h="293116">
                <a:tc>
                  <a:txBody>
                    <a:bodyPr/>
                    <a:lstStyle/>
                    <a:p>
                      <a:pPr algn="ctr"/>
                      <a:r>
                        <a:rPr sz="1400" b="1">
                          <a:solidFill>
                            <a:srgbClr val="FFFFFF"/>
                          </a:solidFill>
                        </a:rPr>
                        <a:t>Agrees</a:t>
                      </a:r>
                    </a:p>
                  </a:txBody>
                  <a:tcPr marL="45720" marR="45720" marT="18288" marB="18288" anchor="ctr">
                    <a:solidFill>
                      <a:srgbClr val="004357"/>
                    </a:solidFill>
                  </a:tcPr>
                </a:tc>
                <a:tc>
                  <a:txBody>
                    <a:bodyPr/>
                    <a:lstStyle/>
                    <a:p>
                      <a:pPr algn="ctr"/>
                      <a:r>
                        <a:rPr sz="1400" b="1">
                          <a:solidFill>
                            <a:srgbClr val="FFFFFF"/>
                          </a:solidFill>
                        </a:rPr>
                        <a:t>Disagrees</a:t>
                      </a:r>
                    </a:p>
                  </a:txBody>
                  <a:tcPr marL="45720" marR="45720" marT="18288" marB="18288" anchor="ctr">
                    <a:solidFill>
                      <a:srgbClr val="004357"/>
                    </a:solidFill>
                  </a:tcPr>
                </a:tc>
                <a:tc>
                  <a:txBody>
                    <a:bodyPr/>
                    <a:lstStyle/>
                    <a:p>
                      <a:pPr algn="ctr"/>
                      <a:r>
                        <a:rPr sz="1400" b="1">
                          <a:solidFill>
                            <a:srgbClr val="FFFFFF"/>
                          </a:solidFill>
                        </a:rPr>
                        <a:t>Inconsistent coefficient</a:t>
                      </a:r>
                    </a:p>
                  </a:txBody>
                  <a:tcPr marL="45720" marR="45720" marT="18288" marB="18288" anchor="ctr">
                    <a:solidFill>
                      <a:srgbClr val="004357"/>
                    </a:solidFill>
                  </a:tcPr>
                </a:tc>
                <a:extLst>
                  <a:ext uri="{0D108BD9-81ED-4DB2-BD59-A6C34878D82A}">
                    <a16:rowId xmlns:a16="http://schemas.microsoft.com/office/drawing/2014/main" val="10000"/>
                  </a:ext>
                </a:extLst>
              </a:tr>
              <a:tr h="293116">
                <a:tc>
                  <a:txBody>
                    <a:bodyPr/>
                    <a:lstStyle/>
                    <a:p>
                      <a:pPr algn="ctr"/>
                      <a:r>
                        <a:rPr sz="1400">
                          <a:solidFill>
                            <a:srgbClr val="004357"/>
                          </a:solidFill>
                        </a:rPr>
                        <a:t>time constant</a:t>
                      </a:r>
                    </a:p>
                  </a:txBody>
                  <a:tcPr marL="45720" marR="45720" marT="18288" marB="18288" anchor="ctr">
                    <a:solidFill>
                      <a:srgbClr val="FFFFFF"/>
                    </a:solidFill>
                  </a:tcPr>
                </a:tc>
                <a:tc>
                  <a:txBody>
                    <a:bodyPr/>
                    <a:lstStyle/>
                    <a:p>
                      <a:pPr algn="ctr"/>
                      <a:r>
                        <a:rPr sz="1400">
                          <a:solidFill>
                            <a:srgbClr val="004357"/>
                          </a:solidFill>
                        </a:rPr>
                        <a:t>rise and gain</a:t>
                      </a:r>
                    </a:p>
                  </a:txBody>
                  <a:tcPr marL="45720" marR="45720" marT="18288" marB="18288" anchor="ctr">
                    <a:solidFill>
                      <a:srgbClr val="FFFFFF"/>
                    </a:solidFill>
                  </a:tcPr>
                </a:tc>
                <a:tc>
                  <a:txBody>
                    <a:bodyPr/>
                    <a:lstStyle/>
                    <a:p>
                      <a:pPr algn="ctr"/>
                      <a:r>
                        <a:rPr sz="1400">
                          <a:solidFill>
                            <a:srgbClr val="004357"/>
                          </a:solidFill>
                        </a:rPr>
                        <a:t>power</a:t>
                      </a:r>
                    </a:p>
                  </a:txBody>
                  <a:tcPr marL="45720" marR="45720" marT="18288" marB="18288" anchor="ctr">
                    <a:solidFill>
                      <a:srgbClr val="FFFFFF"/>
                    </a:solidFill>
                  </a:tcPr>
                </a:tc>
                <a:extLst>
                  <a:ext uri="{0D108BD9-81ED-4DB2-BD59-A6C34878D82A}">
                    <a16:rowId xmlns:a16="http://schemas.microsoft.com/office/drawing/2014/main" val="10001"/>
                  </a:ext>
                </a:extLst>
              </a:tr>
              <a:tr h="293116">
                <a:tc>
                  <a:txBody>
                    <a:bodyPr/>
                    <a:lstStyle/>
                    <a:p>
                      <a:pPr algn="ctr"/>
                      <a:r>
                        <a:rPr sz="1400">
                          <a:solidFill>
                            <a:srgbClr val="004357"/>
                          </a:solidFill>
                        </a:rPr>
                        <a:t>rise and gain</a:t>
                      </a:r>
                    </a:p>
                  </a:txBody>
                  <a:tcPr marL="45720" marR="45720" marT="18288" marB="18288" anchor="ctr">
                    <a:solidFill>
                      <a:srgbClr val="F5F8F9"/>
                    </a:solidFill>
                  </a:tcPr>
                </a:tc>
                <a:tc>
                  <a:txBody>
                    <a:bodyPr/>
                    <a:lstStyle/>
                    <a:p>
                      <a:pPr algn="ctr"/>
                      <a:r>
                        <a:rPr sz="1400">
                          <a:solidFill>
                            <a:srgbClr val="004357"/>
                          </a:solidFill>
                        </a:rPr>
                        <a:t>time constant</a:t>
                      </a:r>
                    </a:p>
                  </a:txBody>
                  <a:tcPr marL="45720" marR="45720" marT="18288" marB="18288" anchor="ctr">
                    <a:solidFill>
                      <a:srgbClr val="F5F8F9"/>
                    </a:solidFill>
                  </a:tcPr>
                </a:tc>
                <a:tc>
                  <a:txBody>
                    <a:bodyPr/>
                    <a:lstStyle/>
                    <a:p>
                      <a:pPr algn="ctr"/>
                      <a:r>
                        <a:rPr sz="1400">
                          <a:solidFill>
                            <a:srgbClr val="004357"/>
                          </a:solidFill>
                        </a:rPr>
                        <a:t>heat capacity</a:t>
                      </a:r>
                    </a:p>
                  </a:txBody>
                  <a:tcPr marL="45720" marR="45720" marT="18288" marB="18288" anchor="ctr">
                    <a:solidFill>
                      <a:srgbClr val="F5F8F9"/>
                    </a:solidFill>
                  </a:tcPr>
                </a:tc>
                <a:extLst>
                  <a:ext uri="{0D108BD9-81ED-4DB2-BD59-A6C34878D82A}">
                    <a16:rowId xmlns:a16="http://schemas.microsoft.com/office/drawing/2014/main" val="10002"/>
                  </a:ext>
                </a:extLst>
              </a:tr>
              <a:tr h="293116">
                <a:tc>
                  <a:txBody>
                    <a:bodyPr/>
                    <a:lstStyle/>
                    <a:p>
                      <a:pPr algn="ctr"/>
                      <a:r>
                        <a:rPr sz="1400">
                          <a:solidFill>
                            <a:srgbClr val="004357"/>
                          </a:solidFill>
                        </a:rPr>
                        <a:t>neither</a:t>
                      </a:r>
                    </a:p>
                  </a:txBody>
                  <a:tcPr marL="45720" marR="45720" marT="18288" marB="18288" anchor="ctr">
                    <a:solidFill>
                      <a:srgbClr val="FFFFFF"/>
                    </a:solidFill>
                  </a:tcPr>
                </a:tc>
                <a:tc>
                  <a:txBody>
                    <a:bodyPr/>
                    <a:lstStyle/>
                    <a:p>
                      <a:pPr algn="ctr"/>
                      <a:r>
                        <a:rPr sz="1400">
                          <a:solidFill>
                            <a:srgbClr val="004357"/>
                          </a:solidFill>
                        </a:rPr>
                        <a:t>both, in the same direction</a:t>
                      </a:r>
                    </a:p>
                  </a:txBody>
                  <a:tcPr marL="45720" marR="45720" marT="18288" marB="18288" anchor="ctr">
                    <a:solidFill>
                      <a:srgbClr val="FFFFFF"/>
                    </a:solidFill>
                  </a:tcPr>
                </a:tc>
                <a:tc>
                  <a:txBody>
                    <a:bodyPr/>
                    <a:lstStyle/>
                    <a:p>
                      <a:pPr algn="ctr"/>
                      <a:r>
                        <a:rPr sz="1400">
                          <a:solidFill>
                            <a:srgbClr val="004357"/>
                          </a:solidFill>
                        </a:rPr>
                        <a:t>area or h</a:t>
                      </a:r>
                    </a:p>
                  </a:txBody>
                  <a:tcPr marL="45720" marR="45720"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37}" type="slidenum">
              <a:rPr sz="1200">
                <a:solidFill>
                  <a:srgbClr val="8A9397"/>
                </a:solidFill>
              </a:rPr>
              <a:t>37</a:t>
            </a:fld>
            <a:endParaRPr sz="1200">
              <a:solidFill>
                <a:srgbClr val="8A9397"/>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7 – Computing h and the power</a:t>
            </a:r>
          </a:p>
        </p:txBody>
      </p:sp>
      <p:sp>
        <p:nvSpPr>
          <p:cNvPr id="3" name="Content Placeholder 2"/>
          <p:cNvSpPr>
            <a:spLocks noGrp="1"/>
          </p:cNvSpPr>
          <p:nvPr>
            <p:ph idx="1"/>
          </p:nvPr>
        </p:nvSpPr>
        <p:spPr>
          <a:xfrm>
            <a:off x="809427" y="1452520"/>
            <a:ext cx="10926000" cy="1625600"/>
          </a:xfrm>
        </p:spPr>
        <p:txBody>
          <a:bodyPr wrap="square">
            <a:noAutofit/>
          </a:bodyPr>
          <a:lstStyle/>
          <a:p>
            <a:r>
              <a:rPr sz="2000">
                <a:solidFill>
                  <a:srgbClr val="004357"/>
                </a:solidFill>
              </a:rPr>
              <a:t>The identification proceeds as follows:  </a:t>
            </a:r>
            <a:r>
              <a:rPr sz="2000" b="1">
                <a:solidFill>
                  <a:srgbClr val="004357"/>
                </a:solidFill>
              </a:rPr>
              <a:t>h = C / ( T</a:t>
            </a:r>
            <a:r>
              <a:rPr sz="2000" b="1" baseline="-25000">
                <a:solidFill>
                  <a:srgbClr val="004357"/>
                </a:solidFill>
              </a:rPr>
              <a:t>P</a:t>
            </a:r>
            <a:r>
              <a:rPr sz="2000" b="1">
                <a:solidFill>
                  <a:srgbClr val="004357"/>
                </a:solidFill>
              </a:rPr>
              <a:t> · A )</a:t>
            </a:r>
            <a:r>
              <a:rPr sz="2000">
                <a:solidFill>
                  <a:srgbClr val="004357"/>
                </a:solidFill>
              </a:rPr>
              <a:t>, then </a:t>
            </a:r>
            <a:r>
              <a:rPr sz="2000" b="1">
                <a:solidFill>
                  <a:srgbClr val="004357"/>
                </a:solidFill>
              </a:rPr>
              <a:t>P = ΔT · h · A</a:t>
            </a:r>
            <a:r>
              <a:rPr sz="2000">
                <a:solidFill>
                  <a:srgbClr val="004357"/>
                </a:solidFill>
              </a:rPr>
              <a:t>.</a:t>
            </a:r>
          </a:p>
          <a:p>
            <a:r>
              <a:rPr sz="2000">
                <a:solidFill>
                  <a:srgbClr val="004357"/>
                </a:solidFill>
              </a:rPr>
              <a:t>Only the coefficients that were assumed, here h and P, may be computed from the data; those that were measured, C and A, remain unchanged.</a:t>
            </a:r>
          </a:p>
        </p:txBody>
      </p:sp>
      <p:pic>
        <p:nvPicPr>
          <p:cNvPr id="4" name="Picture 3" descr="lab1-identyfikacja.png"/>
          <p:cNvPicPr>
            <a:picLocks noChangeAspect="1"/>
          </p:cNvPicPr>
          <p:nvPr/>
        </p:nvPicPr>
        <p:blipFill>
          <a:blip r:embed="rId2"/>
          <a:stretch>
            <a:fillRect/>
          </a:stretch>
        </p:blipFill>
        <p:spPr>
          <a:xfrm>
            <a:off x="936427" y="3205120"/>
            <a:ext cx="7112000" cy="2443892"/>
          </a:xfrm>
          <a:prstGeom prst="rect">
            <a:avLst/>
          </a:prstGeom>
        </p:spPr>
      </p:pic>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38}" type="slidenum">
              <a:rPr sz="1200">
                <a:solidFill>
                  <a:srgbClr val="8A9397"/>
                </a:solidFill>
              </a:rPr>
              <a:t>38</a:t>
            </a:fld>
            <a:endParaRPr sz="1200">
              <a:solidFill>
                <a:srgbClr val="8A9397"/>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7 – Why only two coefficients</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Two independent measured quantities allow exactly two coefficients to be determined.</a:t>
            </a:r>
          </a:p>
          <a:p>
            <a:r>
              <a:rPr sz="2000">
                <a:solidFill>
                  <a:srgbClr val="004357"/>
                </a:solidFill>
              </a:rPr>
              <a:t>If the heat capacity C were also allowed to change, then for every value of h there would exist a heat capacity and a power that reproduce the data exactly. Among those solutions is one in which the heater loses no power at all and the mass of the profile is one third larger than the weighed value. Only the weighing rules such solutions out.</a:t>
            </a:r>
          </a:p>
          <a:p>
            <a:r>
              <a:rPr sz="2000">
                <a:solidFill>
                  <a:srgbClr val="004357"/>
                </a:solidFill>
              </a:rPr>
              <a:t>Changing numbers until a curve fits is </a:t>
            </a:r>
            <a:r>
              <a:rPr sz="2000" b="1">
                <a:solidFill>
                  <a:srgbClr val="004357"/>
                </a:solidFill>
              </a:rPr>
              <a:t>curve fitting</a:t>
            </a:r>
            <a:r>
              <a:rPr sz="2000">
                <a:solidFill>
                  <a:srgbClr val="004357"/>
                </a:solidFill>
              </a:rPr>
              <a:t>. Computing coefficients that were declared unknown beforehand, and then checking them against independent limits, is </a:t>
            </a:r>
            <a:r>
              <a:rPr sz="2000" b="1">
                <a:solidFill>
                  <a:srgbClr val="004357"/>
                </a:solidFill>
              </a:rPr>
              <a:t>identification</a:t>
            </a:r>
            <a:r>
              <a:rPr sz="2000">
                <a:solidFill>
                  <a:srgbClr val="004357"/>
                </a:solidFill>
              </a:rPr>
              <a: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39}" type="slidenum">
              <a:rPr sz="1200">
                <a:solidFill>
                  <a:srgbClr val="8A9397"/>
                </a:solidFill>
              </a:rPr>
              <a:t>39</a:t>
            </a:fld>
            <a:endParaRPr sz="1200">
              <a:solidFill>
                <a:srgbClr val="8A9397"/>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7 – Verification</a:t>
            </a:r>
          </a:p>
        </p:txBody>
      </p:sp>
      <p:sp>
        <p:nvSpPr>
          <p:cNvPr id="3" name="Content Placeholder 2"/>
          <p:cNvSpPr>
            <a:spLocks noGrp="1"/>
          </p:cNvSpPr>
          <p:nvPr>
            <p:ph idx="1"/>
          </p:nvPr>
        </p:nvSpPr>
        <p:spPr>
          <a:xfrm>
            <a:off x="809427" y="1452520"/>
            <a:ext cx="10926000" cy="4966560"/>
          </a:xfrm>
        </p:spPr>
        <p:txBody>
          <a:bodyPr wrap="square">
            <a:noAutofit/>
          </a:bodyPr>
          <a:lstStyle/>
          <a:p>
            <a:r>
              <a:rPr sz="2000" b="1">
                <a:solidFill>
                  <a:srgbClr val="004357"/>
                </a:solidFill>
              </a:rPr>
              <a:t>(d) Admissible ranges.</a:t>
            </a:r>
            <a:r>
              <a:rPr sz="2000">
                <a:solidFill>
                  <a:srgbClr val="004357"/>
                </a:solidFill>
              </a:rPr>
              <a:t> Each computed coefficient must fall inside a range established before the calculation and taken from a source other than the measurement itself: h inside the range for free convection together with radiation, and P no greater than the electrical power, since energy is not created. A coefficient outside its range means that the fault lies in the structure of the model, and no change of numbers will remove it.</a:t>
            </a:r>
          </a:p>
          <a:p>
            <a:r>
              <a:rPr sz="2000" b="1">
                <a:solidFill>
                  <a:srgbClr val="004357"/>
                </a:solidFill>
              </a:rPr>
              <a:t>(e) The two determinations of the power.</a:t>
            </a:r>
            <a:r>
              <a:rPr sz="2000">
                <a:solidFill>
                  <a:srgbClr val="004357"/>
                </a:solidFill>
              </a:rPr>
              <a:t> The preliminary run gives the power from the very beginning of the record. Task 7 gives it from the steady-state rise and the time constant, that is from the whole record. For a first-order object the two agree, because for an exponential rise the initial slope equals the rise divided by the time constant.</a:t>
            </a:r>
          </a:p>
          <a:p>
            <a:r>
              <a:rPr sz="2000">
                <a:solidFill>
                  <a:srgbClr val="004357"/>
                </a:solidFill>
              </a:rPr>
              <a:t>The agreement threshold declared in Task 2 applies here, after allowing for the few percent by which the slope method underestimates the power. A larger difference means that the record is not a single exponential, and therefore that the object is not of first order.</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40}" type="slidenum">
              <a:rPr sz="1200">
                <a:solidFill>
                  <a:srgbClr val="8A9397"/>
                </a:solidFill>
              </a:rPr>
              <a:t>40</a:t>
            </a:fld>
            <a:endParaRPr sz="1200">
              <a:solidFill>
                <a:srgbClr val="8A9397"/>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Task 7 – What remains after identification</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Once h and P have been computed, the steady-state rise ΔT and the time constant T</a:t>
            </a:r>
            <a:r>
              <a:rPr sz="2000" baseline="-25000">
                <a:solidFill>
                  <a:srgbClr val="004357"/>
                </a:solidFill>
              </a:rPr>
              <a:t>P</a:t>
            </a:r>
            <a:r>
              <a:rPr sz="2000">
                <a:solidFill>
                  <a:srgbClr val="004357"/>
                </a:solidFill>
              </a:rPr>
              <a:t> agree between model and measurement. Two discrepancies remain:</a:t>
            </a:r>
          </a:p>
          <a:p>
            <a:pPr lvl="1"/>
            <a:r>
              <a:rPr sz="1800">
                <a:solidFill>
                  <a:srgbClr val="004357"/>
                </a:solidFill>
              </a:rPr>
              <a:t>the model gives a delay of zero, while the measurement shows a delay that grows with distance from the heater,</a:t>
            </a:r>
          </a:p>
          <a:p>
            <a:pPr lvl="1"/>
            <a:r>
              <a:rPr sz="1800">
                <a:solidFill>
                  <a:srgbClr val="004357"/>
                </a:solidFill>
              </a:rPr>
              <a:t>the model gives one steady-state temperature, while the measurement shows three different ones.</a:t>
            </a:r>
          </a:p>
          <a:p>
            <a:r>
              <a:rPr sz="2000">
                <a:solidFill>
                  <a:srgbClr val="004357"/>
                </a:solidFill>
              </a:rPr>
              <a:t>Both follow from the assumption that the whole profile has one uniform temperature. That assumption belongs to the structure of the model, not to its coefficients, and no change of numbers removes it. Removing it requires a model with distributed parameters.</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41}" type="slidenum">
              <a:rPr sz="1200">
                <a:solidFill>
                  <a:srgbClr val="8A9397"/>
                </a:solidFill>
              </a:rPr>
              <a:t>41</a:t>
            </a:fld>
            <a:endParaRPr sz="1200">
              <a:solidFill>
                <a:srgbClr val="8A9397"/>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The report</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There is one report per group. The document must allow the work to be repeated and the same results to be obtained without reference to any other source.</a:t>
            </a:r>
          </a:p>
          <a:p>
            <a:r>
              <a:rPr sz="2000" b="1">
                <a:solidFill>
                  <a:srgbClr val="004357"/>
                </a:solidFill>
              </a:rPr>
              <a:t>Order of contents:</a:t>
            </a:r>
          </a:p>
          <a:p>
            <a:pPr lvl="1"/>
            <a:r>
              <a:rPr sz="1800">
                <a:solidFill>
                  <a:srgbClr val="004357"/>
                </a:solidFill>
              </a:rPr>
              <a:t>1. group number and all members,</a:t>
            </a:r>
          </a:p>
          <a:p>
            <a:pPr lvl="1"/>
            <a:r>
              <a:rPr sz="1800">
                <a:solidFill>
                  <a:srgbClr val="004357"/>
                </a:solidFill>
              </a:rPr>
              <a:t>2. the calculations of Task 2, the declared agreement threshold and the list of assumed coefficients,</a:t>
            </a:r>
          </a:p>
          <a:p>
            <a:pPr lvl="1"/>
            <a:r>
              <a:rPr sz="1800">
                <a:solidFill>
                  <a:srgbClr val="004357"/>
                </a:solidFill>
              </a:rPr>
              <a:t>3. design decisions with their justifications,</a:t>
            </a:r>
          </a:p>
          <a:p>
            <a:pPr lvl="1"/>
            <a:r>
              <a:rPr sz="1800">
                <a:solidFill>
                  <a:srgbClr val="004357"/>
                </a:solidFill>
              </a:rPr>
              <a:t>4. course of the experiment, with the preliminary run presented first,</a:t>
            </a:r>
          </a:p>
          <a:p>
            <a:pPr lvl="1"/>
            <a:r>
              <a:rPr sz="1800">
                <a:solidFill>
                  <a:srgbClr val="004357"/>
                </a:solidFill>
              </a:rPr>
              <a:t>5. results: tables and plots with units,</a:t>
            </a:r>
          </a:p>
          <a:p>
            <a:pPr lvl="1"/>
            <a:r>
              <a:rPr sz="1800">
                <a:solidFill>
                  <a:srgbClr val="004357"/>
                </a:solidFill>
              </a:rPr>
              <a:t>6. comparison, identification, verification and range of validity of the model,</a:t>
            </a:r>
          </a:p>
          <a:p>
            <a:pPr lvl="1"/>
            <a:r>
              <a:rPr sz="1800">
                <a:solidFill>
                  <a:srgbClr val="004357"/>
                </a:solidFill>
              </a:rPr>
              <a:t>7. attachments: data files and source code.</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42}" type="slidenum">
              <a:rPr sz="1200">
                <a:solidFill>
                  <a:srgbClr val="8A9397"/>
                </a:solidFill>
              </a:rPr>
              <a:t>42</a:t>
            </a:fld>
            <a:endParaRPr sz="1200">
              <a:solidFill>
                <a:srgbClr val="8A9397"/>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Assessment</a:t>
            </a:r>
          </a:p>
        </p:txBody>
      </p:sp>
      <p:sp>
        <p:nvSpPr>
          <p:cNvPr id="3" name="Content Placeholder 2"/>
          <p:cNvSpPr>
            <a:spLocks noGrp="1"/>
          </p:cNvSpPr>
          <p:nvPr>
            <p:ph idx="1"/>
          </p:nvPr>
        </p:nvSpPr>
        <p:spPr>
          <a:xfrm>
            <a:off x="809427" y="4648348"/>
            <a:ext cx="10926000" cy="1770732"/>
          </a:xfrm>
        </p:spPr>
        <p:txBody>
          <a:bodyPr wrap="square">
            <a:noAutofit/>
          </a:bodyPr>
          <a:lstStyle/>
          <a:p>
            <a:r>
              <a:rPr sz="2000">
                <a:solidFill>
                  <a:srgbClr val="004357"/>
                </a:solidFill>
              </a:rPr>
              <a:t>The item tables under each task show where the points come from. A point covering several numbers refers to the correctness of the calculation as a whole, not to each individual number separately.</a:t>
            </a:r>
          </a:p>
        </p:txBody>
      </p:sp>
      <p:graphicFrame>
        <p:nvGraphicFramePr>
          <p:cNvPr id="4" name="Table 3"/>
          <p:cNvGraphicFramePr>
            <a:graphicFrameLocks noGrp="1"/>
          </p:cNvGraphicFramePr>
          <p:nvPr/>
        </p:nvGraphicFramePr>
        <p:xfrm>
          <a:off x="1038027" y="1452520"/>
          <a:ext cx="7620000" cy="3086100"/>
        </p:xfrm>
        <a:graphic>
          <a:graphicData uri="http://schemas.openxmlformats.org/drawingml/2006/table">
            <a:tbl>
              <a:tblPr firstRow="1" bandRow="1">
                <a:tableStyleId>{5C22544A-7EE6-4342-B048-85BDC9FD1C3A}</a:tableStyleId>
              </a:tblPr>
              <a:tblGrid>
                <a:gridCol w="5588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tblGrid>
              <a:tr h="308610">
                <a:tc>
                  <a:txBody>
                    <a:bodyPr/>
                    <a:lstStyle/>
                    <a:p>
                      <a:pPr algn="ctr"/>
                      <a:r>
                        <a:rPr sz="1500" b="1">
                          <a:solidFill>
                            <a:srgbClr val="FFFFFF"/>
                          </a:solidFill>
                        </a:rPr>
                        <a:t>Task</a:t>
                      </a:r>
                    </a:p>
                  </a:txBody>
                  <a:tcPr marL="45720" marR="45720" marT="18288" marB="18288" anchor="ctr">
                    <a:solidFill>
                      <a:srgbClr val="004357"/>
                    </a:solidFill>
                  </a:tcPr>
                </a:tc>
                <a:tc>
                  <a:txBody>
                    <a:bodyPr/>
                    <a:lstStyle/>
                    <a:p>
                      <a:pPr algn="ctr"/>
                      <a:r>
                        <a:rPr sz="1500" b="1">
                          <a:solidFill>
                            <a:srgbClr val="FFFFFF"/>
                          </a:solidFill>
                        </a:rPr>
                        <a:t>p</a:t>
                      </a:r>
                    </a:p>
                  </a:txBody>
                  <a:tcPr marL="45720" marR="45720" marT="18288" marB="18288" anchor="ctr">
                    <a:solidFill>
                      <a:srgbClr val="004357"/>
                    </a:solidFill>
                  </a:tcPr>
                </a:tc>
                <a:extLst>
                  <a:ext uri="{0D108BD9-81ED-4DB2-BD59-A6C34878D82A}">
                    <a16:rowId xmlns:a16="http://schemas.microsoft.com/office/drawing/2014/main" val="10000"/>
                  </a:ext>
                </a:extLst>
              </a:tr>
              <a:tr h="308610">
                <a:tc>
                  <a:txBody>
                    <a:bodyPr/>
                    <a:lstStyle/>
                    <a:p>
                      <a:pPr algn="ctr"/>
                      <a:r>
                        <a:rPr sz="1500">
                          <a:solidFill>
                            <a:srgbClr val="004357"/>
                          </a:solidFill>
                        </a:rPr>
                        <a:t>1 – commissioning</a:t>
                      </a:r>
                    </a:p>
                  </a:txBody>
                  <a:tcPr marL="45720" marR="45720" marT="18288" marB="18288" anchor="ctr">
                    <a:solidFill>
                      <a:srgbClr val="FFFFFF"/>
                    </a:solidFill>
                  </a:tcPr>
                </a:tc>
                <a:tc>
                  <a:txBody>
                    <a:bodyPr/>
                    <a:lstStyle/>
                    <a:p>
                      <a:pPr algn="ctr"/>
                      <a:r>
                        <a:rPr sz="1500">
                          <a:solidFill>
                            <a:srgbClr val="004357"/>
                          </a:solidFill>
                        </a:rPr>
                        <a:t>2</a:t>
                      </a:r>
                    </a:p>
                  </a:txBody>
                  <a:tcPr marL="45720" marR="45720" marT="18288" marB="18288" anchor="ctr">
                    <a:solidFill>
                      <a:srgbClr val="FFFFFF"/>
                    </a:solidFill>
                  </a:tcPr>
                </a:tc>
                <a:extLst>
                  <a:ext uri="{0D108BD9-81ED-4DB2-BD59-A6C34878D82A}">
                    <a16:rowId xmlns:a16="http://schemas.microsoft.com/office/drawing/2014/main" val="10001"/>
                  </a:ext>
                </a:extLst>
              </a:tr>
              <a:tr h="308610">
                <a:tc>
                  <a:txBody>
                    <a:bodyPr/>
                    <a:lstStyle/>
                    <a:p>
                      <a:pPr algn="ctr"/>
                      <a:r>
                        <a:rPr sz="1500">
                          <a:solidFill>
                            <a:srgbClr val="004357"/>
                          </a:solidFill>
                        </a:rPr>
                        <a:t>2 – parameters derived from theory</a:t>
                      </a:r>
                    </a:p>
                  </a:txBody>
                  <a:tcPr marL="45720" marR="45720" marT="18288" marB="18288" anchor="ctr">
                    <a:solidFill>
                      <a:srgbClr val="F5F8F9"/>
                    </a:solidFill>
                  </a:tcPr>
                </a:tc>
                <a:tc>
                  <a:txBody>
                    <a:bodyPr/>
                    <a:lstStyle/>
                    <a:p>
                      <a:pPr algn="ctr"/>
                      <a:r>
                        <a:rPr sz="1500">
                          <a:solidFill>
                            <a:srgbClr val="004357"/>
                          </a:solidFill>
                        </a:rPr>
                        <a:t>8</a:t>
                      </a:r>
                    </a:p>
                  </a:txBody>
                  <a:tcPr marL="45720" marR="45720" marT="18288" marB="18288" anchor="ctr">
                    <a:solidFill>
                      <a:srgbClr val="F5F8F9"/>
                    </a:solidFill>
                  </a:tcPr>
                </a:tc>
                <a:extLst>
                  <a:ext uri="{0D108BD9-81ED-4DB2-BD59-A6C34878D82A}">
                    <a16:rowId xmlns:a16="http://schemas.microsoft.com/office/drawing/2014/main" val="10002"/>
                  </a:ext>
                </a:extLst>
              </a:tr>
              <a:tr h="308610">
                <a:tc>
                  <a:txBody>
                    <a:bodyPr/>
                    <a:lstStyle/>
                    <a:p>
                      <a:pPr algn="ctr"/>
                      <a:r>
                        <a:rPr sz="1500">
                          <a:solidFill>
                            <a:srgbClr val="004357"/>
                          </a:solidFill>
                        </a:rPr>
                        <a:t>3 – acquisition and calibration</a:t>
                      </a:r>
                    </a:p>
                  </a:txBody>
                  <a:tcPr marL="45720" marR="45720" marT="18288" marB="18288" anchor="ctr">
                    <a:solidFill>
                      <a:srgbClr val="FFFFFF"/>
                    </a:solidFill>
                  </a:tcPr>
                </a:tc>
                <a:tc>
                  <a:txBody>
                    <a:bodyPr/>
                    <a:lstStyle/>
                    <a:p>
                      <a:pPr algn="ctr"/>
                      <a:r>
                        <a:rPr sz="1500">
                          <a:solidFill>
                            <a:srgbClr val="004357"/>
                          </a:solidFill>
                        </a:rPr>
                        <a:t>8</a:t>
                      </a:r>
                    </a:p>
                  </a:txBody>
                  <a:tcPr marL="45720" marR="45720" marT="18288" marB="18288" anchor="ctr">
                    <a:solidFill>
                      <a:srgbClr val="FFFFFF"/>
                    </a:solidFill>
                  </a:tcPr>
                </a:tc>
                <a:extLst>
                  <a:ext uri="{0D108BD9-81ED-4DB2-BD59-A6C34878D82A}">
                    <a16:rowId xmlns:a16="http://schemas.microsoft.com/office/drawing/2014/main" val="10003"/>
                  </a:ext>
                </a:extLst>
              </a:tr>
              <a:tr h="308610">
                <a:tc>
                  <a:txBody>
                    <a:bodyPr/>
                    <a:lstStyle/>
                    <a:p>
                      <a:pPr algn="ctr"/>
                      <a:r>
                        <a:rPr sz="1500">
                          <a:solidFill>
                            <a:srgbClr val="004357"/>
                          </a:solidFill>
                        </a:rPr>
                        <a:t>4 – temperature and logging</a:t>
                      </a:r>
                    </a:p>
                  </a:txBody>
                  <a:tcPr marL="45720" marR="45720" marT="18288" marB="18288" anchor="ctr">
                    <a:solidFill>
                      <a:srgbClr val="F5F8F9"/>
                    </a:solidFill>
                  </a:tcPr>
                </a:tc>
                <a:tc>
                  <a:txBody>
                    <a:bodyPr/>
                    <a:lstStyle/>
                    <a:p>
                      <a:pPr algn="ctr"/>
                      <a:r>
                        <a:rPr sz="1500">
                          <a:solidFill>
                            <a:srgbClr val="004357"/>
                          </a:solidFill>
                        </a:rPr>
                        <a:t>3</a:t>
                      </a:r>
                    </a:p>
                  </a:txBody>
                  <a:tcPr marL="45720" marR="45720" marT="18288" marB="18288" anchor="ctr">
                    <a:solidFill>
                      <a:srgbClr val="F5F8F9"/>
                    </a:solidFill>
                  </a:tcPr>
                </a:tc>
                <a:extLst>
                  <a:ext uri="{0D108BD9-81ED-4DB2-BD59-A6C34878D82A}">
                    <a16:rowId xmlns:a16="http://schemas.microsoft.com/office/drawing/2014/main" val="10004"/>
                  </a:ext>
                </a:extLst>
              </a:tr>
              <a:tr h="308610">
                <a:tc>
                  <a:txBody>
                    <a:bodyPr/>
                    <a:lstStyle/>
                    <a:p>
                      <a:pPr algn="ctr"/>
                      <a:r>
                        <a:rPr sz="1500">
                          <a:solidFill>
                            <a:srgbClr val="004357"/>
                          </a:solidFill>
                        </a:rPr>
                        <a:t>5 – preliminary run and step response</a:t>
                      </a:r>
                    </a:p>
                  </a:txBody>
                  <a:tcPr marL="45720" marR="45720" marT="18288" marB="18288" anchor="ctr">
                    <a:solidFill>
                      <a:srgbClr val="FFFFFF"/>
                    </a:solidFill>
                  </a:tcPr>
                </a:tc>
                <a:tc>
                  <a:txBody>
                    <a:bodyPr/>
                    <a:lstStyle/>
                    <a:p>
                      <a:pPr algn="ctr"/>
                      <a:r>
                        <a:rPr sz="1500">
                          <a:solidFill>
                            <a:srgbClr val="004357"/>
                          </a:solidFill>
                        </a:rPr>
                        <a:t>6</a:t>
                      </a:r>
                    </a:p>
                  </a:txBody>
                  <a:tcPr marL="45720" marR="45720" marT="18288" marB="18288" anchor="ctr">
                    <a:solidFill>
                      <a:srgbClr val="FFFFFF"/>
                    </a:solidFill>
                  </a:tcPr>
                </a:tc>
                <a:extLst>
                  <a:ext uri="{0D108BD9-81ED-4DB2-BD59-A6C34878D82A}">
                    <a16:rowId xmlns:a16="http://schemas.microsoft.com/office/drawing/2014/main" val="10005"/>
                  </a:ext>
                </a:extLst>
              </a:tr>
              <a:tr h="308610">
                <a:tc>
                  <a:txBody>
                    <a:bodyPr/>
                    <a:lstStyle/>
                    <a:p>
                      <a:pPr algn="ctr"/>
                      <a:r>
                        <a:rPr sz="1500">
                          <a:solidFill>
                            <a:srgbClr val="004357"/>
                          </a:solidFill>
                        </a:rPr>
                        <a:t>6 – data processing</a:t>
                      </a:r>
                    </a:p>
                  </a:txBody>
                  <a:tcPr marL="45720" marR="45720" marT="18288" marB="18288" anchor="ctr">
                    <a:solidFill>
                      <a:srgbClr val="F5F8F9"/>
                    </a:solidFill>
                  </a:tcPr>
                </a:tc>
                <a:tc>
                  <a:txBody>
                    <a:bodyPr/>
                    <a:lstStyle/>
                    <a:p>
                      <a:pPr algn="ctr"/>
                      <a:r>
                        <a:rPr sz="1500">
                          <a:solidFill>
                            <a:srgbClr val="004357"/>
                          </a:solidFill>
                        </a:rPr>
                        <a:t>5</a:t>
                      </a:r>
                    </a:p>
                  </a:txBody>
                  <a:tcPr marL="45720" marR="45720" marT="18288" marB="18288" anchor="ctr">
                    <a:solidFill>
                      <a:srgbClr val="F5F8F9"/>
                    </a:solidFill>
                  </a:tcPr>
                </a:tc>
                <a:extLst>
                  <a:ext uri="{0D108BD9-81ED-4DB2-BD59-A6C34878D82A}">
                    <a16:rowId xmlns:a16="http://schemas.microsoft.com/office/drawing/2014/main" val="10006"/>
                  </a:ext>
                </a:extLst>
              </a:tr>
              <a:tr h="308610">
                <a:tc>
                  <a:txBody>
                    <a:bodyPr/>
                    <a:lstStyle/>
                    <a:p>
                      <a:pPr algn="ctr"/>
                      <a:r>
                        <a:rPr sz="1500">
                          <a:solidFill>
                            <a:srgbClr val="004357"/>
                          </a:solidFill>
                        </a:rPr>
                        <a:t>7 – comparison, identification and verification</a:t>
                      </a:r>
                    </a:p>
                  </a:txBody>
                  <a:tcPr marL="45720" marR="45720" marT="18288" marB="18288" anchor="ctr">
                    <a:solidFill>
                      <a:srgbClr val="FFFFFF"/>
                    </a:solidFill>
                  </a:tcPr>
                </a:tc>
                <a:tc>
                  <a:txBody>
                    <a:bodyPr/>
                    <a:lstStyle/>
                    <a:p>
                      <a:pPr algn="ctr"/>
                      <a:r>
                        <a:rPr sz="1500">
                          <a:solidFill>
                            <a:srgbClr val="004357"/>
                          </a:solidFill>
                        </a:rPr>
                        <a:t>8</a:t>
                      </a:r>
                    </a:p>
                  </a:txBody>
                  <a:tcPr marL="45720" marR="45720" marT="18288" marB="18288" anchor="ctr">
                    <a:solidFill>
                      <a:srgbClr val="FFFFFF"/>
                    </a:solidFill>
                  </a:tcPr>
                </a:tc>
                <a:extLst>
                  <a:ext uri="{0D108BD9-81ED-4DB2-BD59-A6C34878D82A}">
                    <a16:rowId xmlns:a16="http://schemas.microsoft.com/office/drawing/2014/main" val="10007"/>
                  </a:ext>
                </a:extLst>
              </a:tr>
              <a:tr h="308610">
                <a:tc>
                  <a:txBody>
                    <a:bodyPr/>
                    <a:lstStyle/>
                    <a:p>
                      <a:pPr algn="ctr"/>
                      <a:r>
                        <a:rPr sz="1500">
                          <a:solidFill>
                            <a:srgbClr val="004357"/>
                          </a:solidFill>
                        </a:rPr>
                        <a:t>total</a:t>
                      </a:r>
                    </a:p>
                  </a:txBody>
                  <a:tcPr marL="45720" marR="45720" marT="18288" marB="18288" anchor="ctr">
                    <a:solidFill>
                      <a:srgbClr val="F5F8F9"/>
                    </a:solidFill>
                  </a:tcPr>
                </a:tc>
                <a:tc>
                  <a:txBody>
                    <a:bodyPr/>
                    <a:lstStyle/>
                    <a:p>
                      <a:pPr algn="ctr"/>
                      <a:r>
                        <a:rPr sz="1500">
                          <a:solidFill>
                            <a:srgbClr val="004357"/>
                          </a:solidFill>
                        </a:rPr>
                        <a:t>40</a:t>
                      </a:r>
                    </a:p>
                  </a:txBody>
                  <a:tcPr marL="45720" marR="45720" marT="18288" marB="18288" anchor="ctr">
                    <a:solidFill>
                      <a:srgbClr val="F5F8F9"/>
                    </a:solidFill>
                  </a:tcPr>
                </a:tc>
                <a:extLst>
                  <a:ext uri="{0D108BD9-81ED-4DB2-BD59-A6C34878D82A}">
                    <a16:rowId xmlns:a16="http://schemas.microsoft.com/office/drawing/2014/main" val="10008"/>
                  </a:ext>
                </a:extLst>
              </a:tr>
              <a:tr h="308610">
                <a:tc>
                  <a:txBody>
                    <a:bodyPr/>
                    <a:lstStyle/>
                    <a:p>
                      <a:pPr algn="ctr"/>
                      <a:r>
                        <a:rPr sz="1500">
                          <a:solidFill>
                            <a:srgbClr val="004357"/>
                          </a:solidFill>
                        </a:rPr>
                        <a:t>pass mark</a:t>
                      </a:r>
                    </a:p>
                  </a:txBody>
                  <a:tcPr marL="45720" marR="45720" marT="18288" marB="18288" anchor="ctr">
                    <a:solidFill>
                      <a:srgbClr val="FFFFFF"/>
                    </a:solidFill>
                  </a:tcPr>
                </a:tc>
                <a:tc>
                  <a:txBody>
                    <a:bodyPr/>
                    <a:lstStyle/>
                    <a:p>
                      <a:pPr algn="ctr"/>
                      <a:r>
                        <a:rPr sz="1500">
                          <a:solidFill>
                            <a:srgbClr val="004357"/>
                          </a:solidFill>
                        </a:rPr>
                        <a:t>30</a:t>
                      </a:r>
                    </a:p>
                  </a:txBody>
                  <a:tcPr marL="45720" marR="45720" marT="18288" marB="18288" anchor="ctr">
                    <a:solidFill>
                      <a:srgbClr val="FFFFFF"/>
                    </a:solidFill>
                  </a:tcPr>
                </a:tc>
                <a:extLst>
                  <a:ext uri="{0D108BD9-81ED-4DB2-BD59-A6C34878D82A}">
                    <a16:rowId xmlns:a16="http://schemas.microsoft.com/office/drawing/2014/main" val="10009"/>
                  </a:ext>
                </a:extLst>
              </a:tr>
            </a:tbl>
          </a:graphicData>
        </a:graphic>
      </p:graphicFrame>
      <p:sp>
        <p:nvSpPr>
          <p:cNvPr id="5"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6" name="stopkaNumer"/>
          <p:cNvSpPr txBox="1"/>
          <p:nvPr/>
        </p:nvSpPr>
        <p:spPr>
          <a:xfrm>
            <a:off x="10464800" y="6451600"/>
            <a:ext cx="1270000" cy="254000"/>
          </a:xfrm>
          <a:prstGeom prst="rect">
            <a:avLst/>
          </a:prstGeom>
          <a:noFill/>
        </p:spPr>
        <p:txBody>
          <a:bodyPr wrap="none">
            <a:noAutofit/>
          </a:bodyPr>
          <a:lstStyle/>
          <a:p>
            <a:pPr algn="r"/>
            <a:fld id="{B4D2C1A0-1111-4A2B-9C3D-000000000043}" type="slidenum">
              <a:rPr sz="1200">
                <a:solidFill>
                  <a:srgbClr val="8A9397"/>
                </a:solidFill>
              </a:rPr>
              <a:t>43</a:t>
            </a:fld>
            <a:endParaRPr sz="1200">
              <a:solidFill>
                <a:srgbClr val="8A9397"/>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Requirements on the answers</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Every item must be completed, every result must carry a unit, every design decision must be justified.</a:t>
            </a:r>
          </a:p>
          <a:p>
            <a:r>
              <a:rPr sz="2000">
                <a:solidFill>
                  <a:srgbClr val="004357"/>
                </a:solidFill>
              </a:rPr>
              <a:t>A statement that a result was not obtained, together with the reason, is considered a correct answer. An item left blank is not.</a:t>
            </a:r>
          </a:p>
          <a:p>
            <a:r>
              <a:rPr sz="2000">
                <a:solidFill>
                  <a:srgbClr val="004357"/>
                </a:solidFill>
              </a:rPr>
              <a:t>A large difference between prediction and measurement is not an error and does not lower the mark, provided it is explained. An unexplained difference does reduce the mark.</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44}" type="slidenum">
              <a:rPr sz="1200">
                <a:solidFill>
                  <a:srgbClr val="8A9397"/>
                </a:solidFill>
              </a:rPr>
              <a:t>44</a:t>
            </a:fld>
            <a:endParaRPr sz="1200">
              <a:solidFill>
                <a:srgbClr val="8A9397"/>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Notes that may save time</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Calibration requires a cold station. Carrying it out before the first heating saves about half an hour of waiting.</a:t>
            </a:r>
          </a:p>
          <a:p>
            <a:r>
              <a:rPr sz="2000">
                <a:solidFill>
                  <a:srgbClr val="004357"/>
                </a:solidFill>
              </a:rPr>
              <a:t>One reading takes about 2 µs, so a hundred samples per channel take less than a millisecond. Time is not what limits averaging.</a:t>
            </a:r>
          </a:p>
          <a:p>
            <a:r>
              <a:rPr sz="2000">
                <a:solidFill>
                  <a:srgbClr val="004357"/>
                </a:solidFill>
              </a:rPr>
              <a:t>Filtering carried out inside the program cannot be undone. Filtering carried out during analysis remains reversible, because the raw data are kept.</a:t>
            </a:r>
          </a:p>
          <a:p>
            <a:r>
              <a:rPr sz="2000">
                <a:solidFill>
                  <a:srgbClr val="004357"/>
                </a:solidFill>
              </a:rPr>
              <a:t>Recording resistances alongside temperatures allows the conversion to be repeated with different coefficients without repeating the experiment.</a:t>
            </a:r>
          </a:p>
          <a:p>
            <a:r>
              <a:rPr sz="2000">
                <a:solidFill>
                  <a:srgbClr val="004357"/>
                </a:solidFill>
              </a:rPr>
              <a:t>A pin not configured as an output enables only a weak pull-up. The power stage is then intact but the heater does not heat.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45}" type="slidenum">
              <a:rPr sz="1200">
                <a:solidFill>
                  <a:srgbClr val="8A9397"/>
                </a:solidFill>
              </a:rPr>
              <a:t>45</a:t>
            </a:fld>
            <a:endParaRPr sz="1200">
              <a:solidFill>
                <a:srgbClr val="8A9397"/>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Summary – the thermal model</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profile is treated as a first-order thermal object with delay. The energy balance of the lumped model reads  </a:t>
            </a:r>
            <a:r>
              <a:rPr sz="2000" b="1">
                <a:solidFill>
                  <a:srgbClr val="004357"/>
                </a:solidFill>
              </a:rPr>
              <a:t>C · dT/dt = P − h·A·( T − T</a:t>
            </a:r>
            <a:r>
              <a:rPr sz="2000" b="1" baseline="-25000">
                <a:solidFill>
                  <a:srgbClr val="004357"/>
                </a:solidFill>
              </a:rPr>
              <a:t>amb</a:t>
            </a:r>
            <a:r>
              <a:rPr sz="2000" b="1">
                <a:solidFill>
                  <a:srgbClr val="004357"/>
                </a:solidFill>
              </a:rPr>
              <a:t> )</a:t>
            </a:r>
            <a:r>
              <a:rPr sz="2000">
                <a:solidFill>
                  <a:srgbClr val="004357"/>
                </a:solidFill>
              </a:rPr>
              <a:t>,  where T</a:t>
            </a:r>
            <a:r>
              <a:rPr sz="2000" baseline="-25000">
                <a:solidFill>
                  <a:srgbClr val="004357"/>
                </a:solidFill>
              </a:rPr>
              <a:t>amb</a:t>
            </a:r>
            <a:r>
              <a:rPr sz="2000">
                <a:solidFill>
                  <a:srgbClr val="004357"/>
                </a:solidFill>
              </a:rPr>
              <a:t> is the ambient temperature.</a:t>
            </a:r>
          </a:p>
          <a:p>
            <a:r>
              <a:rPr sz="2000">
                <a:solidFill>
                  <a:srgbClr val="004357"/>
                </a:solidFill>
              </a:rPr>
              <a:t>Long after the step the derivative vanishes, which leaves the steady-state rise  </a:t>
            </a:r>
            <a:r>
              <a:rPr sz="2000" b="1">
                <a:solidFill>
                  <a:srgbClr val="004357"/>
                </a:solidFill>
              </a:rPr>
              <a:t>ΔT = P / ( h·A )</a:t>
            </a:r>
            <a:r>
              <a:rPr sz="2000">
                <a:solidFill>
                  <a:srgbClr val="004357"/>
                </a:solidFill>
              </a:rPr>
              <a:t>,  that is the difference between the steady-state temperature and the ambient temperature.</a:t>
            </a:r>
          </a:p>
          <a:p>
            <a:r>
              <a:rPr sz="2000">
                <a:solidFill>
                  <a:srgbClr val="004357"/>
                </a:solidFill>
              </a:rPr>
              <a:t>From the same balance follow the time constant  </a:t>
            </a:r>
            <a:r>
              <a:rPr sz="2000" b="1">
                <a:solidFill>
                  <a:srgbClr val="004357"/>
                </a:solidFill>
              </a:rPr>
              <a:t>T</a:t>
            </a:r>
            <a:r>
              <a:rPr sz="2000" b="1" baseline="-25000">
                <a:solidFill>
                  <a:srgbClr val="004357"/>
                </a:solidFill>
              </a:rPr>
              <a:t>P</a:t>
            </a:r>
            <a:r>
              <a:rPr sz="2000" b="1">
                <a:solidFill>
                  <a:srgbClr val="004357"/>
                </a:solidFill>
              </a:rPr>
              <a:t> = C / ( h·A )</a:t>
            </a:r>
            <a:r>
              <a:rPr sz="2000">
                <a:solidFill>
                  <a:srgbClr val="004357"/>
                </a:solidFill>
              </a:rPr>
              <a:t>,  the static gain  </a:t>
            </a:r>
            <a:r>
              <a:rPr sz="2000" b="1">
                <a:solidFill>
                  <a:srgbClr val="004357"/>
                </a:solidFill>
              </a:rPr>
              <a:t>K</a:t>
            </a:r>
            <a:r>
              <a:rPr sz="2000" b="1" baseline="-25000">
                <a:solidFill>
                  <a:srgbClr val="004357"/>
                </a:solidFill>
              </a:rPr>
              <a:t>P</a:t>
            </a:r>
            <a:r>
              <a:rPr sz="2000" b="1">
                <a:solidFill>
                  <a:srgbClr val="004357"/>
                </a:solidFill>
              </a:rPr>
              <a:t> = ΔT / P = 1 / ( h·A )</a:t>
            </a:r>
            <a:r>
              <a:rPr sz="2000">
                <a:solidFill>
                  <a:srgbClr val="004357"/>
                </a:solidFill>
              </a:rPr>
              <a:t>  and the loss coefficient of lecture 3,  </a:t>
            </a:r>
            <a:r>
              <a:rPr sz="2000" b="1">
                <a:solidFill>
                  <a:srgbClr val="004357"/>
                </a:solidFill>
              </a:rPr>
              <a:t>UA = h·A</a:t>
            </a:r>
            <a:r>
              <a:rPr sz="2000">
                <a:solidFill>
                  <a:srgbClr val="004357"/>
                </a:solidFill>
              </a:rPr>
              <a: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46}" type="slidenum">
              <a:rPr sz="1200">
                <a:solidFill>
                  <a:srgbClr val="8A9397"/>
                </a:solidFill>
              </a:rPr>
              <a:t>46</a:t>
            </a:fld>
            <a:endParaRPr sz="1200">
              <a:solidFill>
                <a:srgbClr val="8A9397"/>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Summary – measured and assumed coefficients</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Two coefficients are measured and stay fixed throughout the identification:</a:t>
            </a:r>
          </a:p>
          <a:p>
            <a:pPr lvl="1"/>
            <a:r>
              <a:rPr sz="1800">
                <a:solidFill>
                  <a:srgbClr val="004357"/>
                </a:solidFill>
              </a:rPr>
              <a:t>C, the heat capacity, obtained from the masses and the specific heats, </a:t>
            </a:r>
            <a:r>
              <a:rPr sz="1800" b="1">
                <a:solidFill>
                  <a:srgbClr val="004357"/>
                </a:solidFill>
              </a:rPr>
              <a:t>C = Σ m</a:t>
            </a:r>
            <a:r>
              <a:rPr sz="1800" b="1" baseline="-25000">
                <a:solidFill>
                  <a:srgbClr val="004357"/>
                </a:solidFill>
              </a:rPr>
              <a:t>i</a:t>
            </a:r>
            <a:r>
              <a:rPr sz="1800" b="1">
                <a:solidFill>
                  <a:srgbClr val="004357"/>
                </a:solidFill>
              </a:rPr>
              <a:t>·c</a:t>
            </a:r>
            <a:r>
              <a:rPr sz="1800" b="1" baseline="-25000">
                <a:solidFill>
                  <a:srgbClr val="004357"/>
                </a:solidFill>
              </a:rPr>
              <a:t>i</a:t>
            </a:r>
            <a:r>
              <a:rPr sz="1800">
                <a:solidFill>
                  <a:srgbClr val="004357"/>
                </a:solidFill>
              </a:rPr>
              <a:t>,</a:t>
            </a:r>
          </a:p>
          <a:p>
            <a:pPr lvl="1"/>
            <a:r>
              <a:rPr sz="1800">
                <a:solidFill>
                  <a:srgbClr val="004357"/>
                </a:solidFill>
              </a:rPr>
              <a:t>A, the heat exchange area, obtained from the geometry; the decision about the inner surface must be documented.</a:t>
            </a:r>
          </a:p>
          <a:p>
            <a:r>
              <a:rPr sz="2000">
                <a:solidFill>
                  <a:srgbClr val="004357"/>
                </a:solidFill>
              </a:rPr>
              <a:t>Two coefficients are assumed at the outset and identified later from the data:</a:t>
            </a:r>
          </a:p>
          <a:p>
            <a:pPr lvl="1"/>
            <a:r>
              <a:rPr sz="1800">
                <a:solidFill>
                  <a:srgbClr val="004357"/>
                </a:solidFill>
              </a:rPr>
              <a:t>h, taken from the literature range for free convection together with radiation,</a:t>
            </a:r>
          </a:p>
          <a:p>
            <a:pPr lvl="1"/>
            <a:r>
              <a:rPr sz="1800">
                <a:solidFill>
                  <a:srgbClr val="004357"/>
                </a:solidFill>
              </a:rPr>
              <a:t>P, bounded above by the electrical power and estimated from the preliminary run.</a:t>
            </a:r>
          </a:p>
          <a:p>
            <a:r>
              <a:rPr sz="2000">
                <a:solidFill>
                  <a:srgbClr val="004357"/>
                </a:solidFill>
              </a:rPr>
              <a:t>In Task 7 only h and P may be changed. C and A keep the values computed in Task 2.</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47}" type="slidenum">
              <a:rPr sz="1200">
                <a:solidFill>
                  <a:srgbClr val="8A9397"/>
                </a:solidFill>
              </a:rPr>
              <a:t>47</a:t>
            </a:fld>
            <a:endParaRPr sz="1200">
              <a:solidFill>
                <a:srgbClr val="8A9397"/>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Summary – the preliminary run</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Immediately after the heater is switched on the profile is still at ambient temperature, the losses are therefore negligible and the balance reduces to  </a:t>
            </a:r>
            <a:r>
              <a:rPr sz="2000" b="1">
                <a:solidFill>
                  <a:srgbClr val="004357"/>
                </a:solidFill>
              </a:rPr>
              <a:t>C · dT/dt ≈ P</a:t>
            </a:r>
            <a:r>
              <a:rPr sz="2000">
                <a:solidFill>
                  <a:srgbClr val="004357"/>
                </a:solidFill>
              </a:rPr>
              <a:t>.</a:t>
            </a:r>
          </a:p>
          <a:p>
            <a:r>
              <a:rPr sz="2000">
                <a:solidFill>
                  <a:srgbClr val="004357"/>
                </a:solidFill>
              </a:rPr>
              <a:t>The procedure is:</a:t>
            </a:r>
          </a:p>
          <a:p>
            <a:pPr lvl="1"/>
            <a:r>
              <a:rPr sz="1800">
                <a:solidFill>
                  <a:srgbClr val="004357"/>
                </a:solidFill>
              </a:rPr>
              <a:t>apply full power for about five minutes,</a:t>
            </a:r>
          </a:p>
          <a:p>
            <a:pPr lvl="1"/>
            <a:r>
              <a:rPr sz="1800">
                <a:solidFill>
                  <a:srgbClr val="004357"/>
                </a:solidFill>
              </a:rPr>
              <a:t>for each channel read the slope over the first 30 seconds, counted from the instant that channel begins to respond,</a:t>
            </a:r>
          </a:p>
          <a:p>
            <a:pPr lvl="1"/>
            <a:r>
              <a:rPr sz="1800">
                <a:solidFill>
                  <a:srgbClr val="004357"/>
                </a:solidFill>
              </a:rPr>
              <a:t>average the three slopes,</a:t>
            </a:r>
          </a:p>
          <a:p>
            <a:pPr lvl="1"/>
            <a:r>
              <a:rPr sz="1800">
                <a:solidFill>
                  <a:srgbClr val="004357"/>
                </a:solidFill>
              </a:rPr>
              <a:t>obtain the power as  </a:t>
            </a:r>
            <a:r>
              <a:rPr sz="1800" b="1">
                <a:solidFill>
                  <a:srgbClr val="004357"/>
                </a:solidFill>
              </a:rPr>
              <a:t>P ≈ C · mean initial slope</a:t>
            </a:r>
            <a:r>
              <a:rPr sz="1800">
                <a:solidFill>
                  <a:srgbClr val="004357"/>
                </a:solidFill>
              </a:rPr>
              <a:t>.</a:t>
            </a:r>
          </a:p>
          <a:p>
            <a:r>
              <a:rPr sz="2000">
                <a:solidFill>
                  <a:srgbClr val="004357"/>
                </a:solidFill>
              </a:rPr>
              <a:t>The losses have already begun, so this estimate is slightly low. The agreement threshold declared in Task 2 must allow for a difference of a few percent.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48}" type="slidenum">
              <a:rPr sz="1200">
                <a:solidFill>
                  <a:srgbClr val="8A9397"/>
                </a:solidFill>
              </a:rPr>
              <a:t>48</a:t>
            </a:fld>
            <a:endParaRPr sz="1200">
              <a:solidFill>
                <a:srgbClr val="8A9397"/>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Summary – reading K</a:t>
            </a:r>
            <a:r>
              <a:rPr sz="3200" baseline="-25000">
                <a:solidFill>
                  <a:srgbClr val="004357"/>
                </a:solidFill>
              </a:rPr>
              <a:t>P</a:t>
            </a:r>
            <a:r>
              <a:rPr sz="3200">
                <a:solidFill>
                  <a:srgbClr val="004357"/>
                </a:solidFill>
              </a:rPr>
              <a:t>, T</a:t>
            </a:r>
            <a:r>
              <a:rPr sz="3200" baseline="-25000">
                <a:solidFill>
                  <a:srgbClr val="004357"/>
                </a:solidFill>
              </a:rPr>
              <a:t>P</a:t>
            </a:r>
            <a:r>
              <a:rPr sz="3200">
                <a:solidFill>
                  <a:srgbClr val="004357"/>
                </a:solidFill>
              </a:rPr>
              <a:t> and L</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delay L is the time between the switching on of the heater and the instant at which the sensor concerned begins to respond. In the literature the same quantity is also called dead time.</a:t>
            </a:r>
          </a:p>
          <a:p>
            <a:r>
              <a:rPr sz="2000">
                <a:solidFill>
                  <a:srgbClr val="004357"/>
                </a:solidFill>
              </a:rPr>
              <a:t>The time constant T</a:t>
            </a:r>
            <a:r>
              <a:rPr sz="2000" baseline="-25000">
                <a:solidFill>
                  <a:srgbClr val="004357"/>
                </a:solidFill>
              </a:rPr>
              <a:t>P</a:t>
            </a:r>
            <a:r>
              <a:rPr sz="2000">
                <a:solidFill>
                  <a:srgbClr val="004357"/>
                </a:solidFill>
              </a:rPr>
              <a:t> is measured from that instant and not from the switching on. A reading taken from the switching on carries L in it as well, and yields three different time constants for a profile that has only one.</a:t>
            </a:r>
          </a:p>
          <a:p>
            <a:r>
              <a:rPr sz="2000">
                <a:solidFill>
                  <a:srgbClr val="004357"/>
                </a:solidFill>
              </a:rPr>
              <a:t>Each channel therefore supplies from the record the instant t</a:t>
            </a:r>
            <a:r>
              <a:rPr sz="2000" baseline="-25000">
                <a:solidFill>
                  <a:srgbClr val="004357"/>
                </a:solidFill>
              </a:rPr>
              <a:t>0</a:t>
            </a:r>
            <a:r>
              <a:rPr sz="2000">
                <a:solidFill>
                  <a:srgbClr val="004357"/>
                </a:solidFill>
              </a:rPr>
              <a:t> at which the curve begins to rise, the initial level T</a:t>
            </a:r>
            <a:r>
              <a:rPr sz="2000" baseline="-25000">
                <a:solidFill>
                  <a:srgbClr val="004357"/>
                </a:solidFill>
              </a:rPr>
              <a:t>0</a:t>
            </a:r>
            <a:r>
              <a:rPr sz="2000">
                <a:solidFill>
                  <a:srgbClr val="004357"/>
                </a:solidFill>
              </a:rPr>
              <a:t>, the steady-state level T</a:t>
            </a:r>
            <a:r>
              <a:rPr sz="2000" baseline="-25000">
                <a:solidFill>
                  <a:srgbClr val="004357"/>
                </a:solidFill>
              </a:rPr>
              <a:t>ss</a:t>
            </a:r>
            <a:r>
              <a:rPr sz="2000">
                <a:solidFill>
                  <a:srgbClr val="004357"/>
                </a:solidFill>
              </a:rPr>
              <a:t> and the rise ΔT = T</a:t>
            </a:r>
            <a:r>
              <a:rPr sz="2000" baseline="-25000">
                <a:solidFill>
                  <a:srgbClr val="004357"/>
                </a:solidFill>
              </a:rPr>
              <a:t>ss</a:t>
            </a:r>
            <a:r>
              <a:rPr sz="2000">
                <a:solidFill>
                  <a:srgbClr val="004357"/>
                </a:solidFill>
              </a:rPr>
              <a:t> − T</a:t>
            </a:r>
            <a:r>
              <a:rPr sz="2000" baseline="-25000">
                <a:solidFill>
                  <a:srgbClr val="004357"/>
                </a:solidFill>
              </a:rPr>
              <a:t>0</a:t>
            </a:r>
            <a:r>
              <a:rPr sz="2000">
                <a:solidFill>
                  <a:srgbClr val="004357"/>
                </a:solidFill>
              </a:rPr>
              <a:t>.</a:t>
            </a:r>
          </a:p>
          <a:p>
            <a:r>
              <a:rPr sz="2000">
                <a:solidFill>
                  <a:srgbClr val="004357"/>
                </a:solidFill>
              </a:rPr>
              <a:t>The time constant is the interval, counted from t</a:t>
            </a:r>
            <a:r>
              <a:rPr sz="2000" baseline="-25000">
                <a:solidFill>
                  <a:srgbClr val="004357"/>
                </a:solidFill>
              </a:rPr>
              <a:t>0</a:t>
            </a:r>
            <a:r>
              <a:rPr sz="2000">
                <a:solidFill>
                  <a:srgbClr val="004357"/>
                </a:solidFill>
              </a:rPr>
              <a:t>, in which the curve covers the fraction 1 − 1/e ≈ 0.632 of that rise:  </a:t>
            </a:r>
            <a:r>
              <a:rPr sz="2000" b="1">
                <a:solidFill>
                  <a:srgbClr val="004357"/>
                </a:solidFill>
              </a:rPr>
              <a:t>T( t</a:t>
            </a:r>
            <a:r>
              <a:rPr sz="2000" b="1" baseline="-25000">
                <a:solidFill>
                  <a:srgbClr val="004357"/>
                </a:solidFill>
              </a:rPr>
              <a:t>0</a:t>
            </a:r>
            <a:r>
              <a:rPr sz="2000" b="1">
                <a:solidFill>
                  <a:srgbClr val="004357"/>
                </a:solidFill>
              </a:rPr>
              <a:t> + T</a:t>
            </a:r>
            <a:r>
              <a:rPr sz="2000" b="1" baseline="-25000">
                <a:solidFill>
                  <a:srgbClr val="004357"/>
                </a:solidFill>
              </a:rPr>
              <a:t>P</a:t>
            </a:r>
            <a:r>
              <a:rPr sz="2000" b="1">
                <a:solidFill>
                  <a:srgbClr val="004357"/>
                </a:solidFill>
              </a:rPr>
              <a:t> ) = T</a:t>
            </a:r>
            <a:r>
              <a:rPr sz="2000" b="1" baseline="-25000">
                <a:solidFill>
                  <a:srgbClr val="004357"/>
                </a:solidFill>
              </a:rPr>
              <a:t>0</a:t>
            </a:r>
            <a:r>
              <a:rPr sz="2000" b="1">
                <a:solidFill>
                  <a:srgbClr val="004357"/>
                </a:solidFill>
              </a:rPr>
              <a:t> + 0.632·ΔT</a:t>
            </a:r>
            <a:r>
              <a:rPr sz="2000">
                <a:solidFill>
                  <a:srgbClr val="004357"/>
                </a:solidFill>
              </a:rPr>
              <a:t>,  the construction used in lecture 2.</a:t>
            </a:r>
          </a:p>
          <a:p>
            <a:r>
              <a:rPr sz="2000">
                <a:solidFill>
                  <a:srgbClr val="004357"/>
                </a:solidFill>
              </a:rPr>
              <a:t>Only one time constant enters the model.</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49}" type="slidenum">
              <a:rPr sz="1200">
                <a:solidFill>
                  <a:srgbClr val="8A9397"/>
                </a:solidFill>
              </a:rPr>
              <a:t>49</a:t>
            </a:fld>
            <a:endParaRPr sz="1200">
              <a:solidFill>
                <a:srgbClr val="8A9397"/>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Summary – identification of h and the power</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identification uses C and A from Task 2 together with T</a:t>
            </a:r>
            <a:r>
              <a:rPr sz="2000" baseline="-25000">
                <a:solidFill>
                  <a:srgbClr val="004357"/>
                </a:solidFill>
              </a:rPr>
              <a:t>P</a:t>
            </a:r>
            <a:r>
              <a:rPr sz="2000">
                <a:solidFill>
                  <a:srgbClr val="004357"/>
                </a:solidFill>
              </a:rPr>
              <a:t> and ΔT read from the long run:  </a:t>
            </a:r>
            <a:r>
              <a:rPr sz="2000" b="1">
                <a:solidFill>
                  <a:srgbClr val="004357"/>
                </a:solidFill>
              </a:rPr>
              <a:t>h = C / ( T</a:t>
            </a:r>
            <a:r>
              <a:rPr sz="2000" b="1" baseline="-25000">
                <a:solidFill>
                  <a:srgbClr val="004357"/>
                </a:solidFill>
              </a:rPr>
              <a:t>P</a:t>
            </a:r>
            <a:r>
              <a:rPr sz="2000" b="1">
                <a:solidFill>
                  <a:srgbClr val="004357"/>
                </a:solidFill>
              </a:rPr>
              <a:t> · A )</a:t>
            </a:r>
            <a:r>
              <a:rPr sz="2000">
                <a:solidFill>
                  <a:srgbClr val="004357"/>
                </a:solidFill>
              </a:rPr>
              <a:t>,  and then  </a:t>
            </a:r>
            <a:r>
              <a:rPr sz="2000" b="1">
                <a:solidFill>
                  <a:srgbClr val="004357"/>
                </a:solidFill>
              </a:rPr>
              <a:t>P = ΔT · h·A</a:t>
            </a:r>
            <a:r>
              <a:rPr sz="2000">
                <a:solidFill>
                  <a:srgbClr val="004357"/>
                </a:solidFill>
              </a:rPr>
              <a:t>.</a:t>
            </a:r>
          </a:p>
          <a:p>
            <a:r>
              <a:rPr sz="2000">
                <a:solidFill>
                  <a:srgbClr val="004357"/>
                </a:solidFill>
              </a:rPr>
              <a:t>Three checks follow. The value of h must lie inside the range declared for free convection together with radiation. The power P must not exceed the electrical power. The power from the preliminary run and the power obtained here must agree within the threshold of Task 2.</a:t>
            </a:r>
          </a:p>
          <a:p>
            <a:r>
              <a:rPr sz="2000">
                <a:solidFill>
                  <a:srgbClr val="004357"/>
                </a:solidFill>
              </a:rPr>
              <a:t>A coefficient lying outside its admissible range means that the fault is in the structure of the model, and no change of numbers will remove it.</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50}" type="slidenum">
              <a:rPr sz="1200">
                <a:solidFill>
                  <a:srgbClr val="8A9397"/>
                </a:solidFill>
              </a:rPr>
              <a:t>50</a:t>
            </a:fld>
            <a:endParaRPr sz="1200">
              <a:solidFill>
                <a:srgbClr val="8A9397"/>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Summary – the measuring chain</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The chain runs from the NTC thermistor through the voltage divider and the analogue-to-digital converter to the conversion carried out in the program.</a:t>
            </a:r>
          </a:p>
          <a:p>
            <a:r>
              <a:rPr sz="2000">
                <a:solidFill>
                  <a:srgbClr val="004357"/>
                </a:solidFill>
              </a:rPr>
              <a:t>Three properties are separate, and each is established by its own procedure:</a:t>
            </a:r>
          </a:p>
          <a:p>
            <a:pPr lvl="1"/>
            <a:r>
              <a:rPr sz="1800" b="1">
                <a:solidFill>
                  <a:srgbClr val="004357"/>
                </a:solidFill>
              </a:rPr>
              <a:t>resolution</a:t>
            </a:r>
            <a:r>
              <a:rPr sz="1800">
                <a:solidFill>
                  <a:srgbClr val="004357"/>
                </a:solidFill>
              </a:rPr>
              <a:t> – the smallest change of temperature that changes the recorded number,</a:t>
            </a:r>
          </a:p>
          <a:p>
            <a:pPr lvl="1"/>
            <a:r>
              <a:rPr sz="1800" b="1">
                <a:solidFill>
                  <a:srgbClr val="004357"/>
                </a:solidFill>
              </a:rPr>
              <a:t>accuracy</a:t>
            </a:r>
            <a:r>
              <a:rPr sz="1800">
                <a:solidFill>
                  <a:srgbClr val="004357"/>
                </a:solidFill>
              </a:rPr>
              <a:t> – how far a reading may lie from the true temperature,</a:t>
            </a:r>
          </a:p>
          <a:p>
            <a:pPr lvl="1"/>
            <a:r>
              <a:rPr sz="1800" b="1">
                <a:solidFill>
                  <a:srgbClr val="004357"/>
                </a:solidFill>
              </a:rPr>
              <a:t>noise</a:t>
            </a:r>
            <a:r>
              <a:rPr sz="1800">
                <a:solidFill>
                  <a:srgbClr val="004357"/>
                </a:solidFill>
              </a:rPr>
              <a:t> – the spread of the readings while the temperature does not change.</a:t>
            </a:r>
          </a:p>
          <a:p>
            <a:r>
              <a:rPr sz="2000">
                <a:solidFill>
                  <a:srgbClr val="004357"/>
                </a:solidFill>
              </a:rPr>
              <a:t>None of the three implies another. Relative calibration brings the channels into agreement with one another but not with an absolute standard. It therefore supports statements about the gradient along the profile, about the rise above ambient and about the time constant, but not about the absolute value of the temperature.</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51}" type="slidenum">
              <a:rPr sz="1200">
                <a:solidFill>
                  <a:srgbClr val="8A9397"/>
                </a:solidFill>
              </a:rPr>
              <a:t>51</a:t>
            </a:fld>
            <a:endParaRPr sz="1200">
              <a:solidFill>
                <a:srgbClr val="8A9397"/>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Summary – the acquisition loop</a:t>
            </a:r>
          </a:p>
        </p:txBody>
      </p:sp>
      <p:sp>
        <p:nvSpPr>
          <p:cNvPr id="3" name="Content Placeholder 2"/>
          <p:cNvSpPr>
            <a:spLocks noGrp="1"/>
          </p:cNvSpPr>
          <p:nvPr>
            <p:ph idx="1"/>
          </p:nvPr>
        </p:nvSpPr>
        <p:spPr>
          <a:xfrm>
            <a:off x="809427" y="1452520"/>
            <a:ext cx="10926000" cy="4966560"/>
          </a:xfrm>
        </p:spPr>
        <p:txBody>
          <a:bodyPr wrap="square">
            <a:noAutofit/>
          </a:bodyPr>
          <a:lstStyle/>
          <a:p>
            <a:r>
              <a:rPr sz="2000">
                <a:solidFill>
                  <a:srgbClr val="004357"/>
                </a:solidFill>
              </a:rPr>
              <a:t>T</a:t>
            </a:r>
            <a:r>
              <a:rPr sz="2000" baseline="-25000">
                <a:solidFill>
                  <a:srgbClr val="004357"/>
                </a:solidFill>
              </a:rPr>
              <a:t>s</a:t>
            </a:r>
            <a:r>
              <a:rPr sz="2000">
                <a:solidFill>
                  <a:srgbClr val="004357"/>
                </a:solidFill>
              </a:rPr>
              <a:t> denotes the nominal sampling period and t</a:t>
            </a:r>
            <a:r>
              <a:rPr sz="2000" baseline="-25000">
                <a:solidFill>
                  <a:srgbClr val="004357"/>
                </a:solidFill>
              </a:rPr>
              <a:t>k</a:t>
            </a:r>
            <a:r>
              <a:rPr sz="2000">
                <a:solidFill>
                  <a:srgbClr val="004357"/>
                </a:solidFill>
              </a:rPr>
              <a:t> the time stamp taken at the start of cycle k, read with millis() or micros(). The period error of that cycle is  </a:t>
            </a:r>
            <a:r>
              <a:rPr sz="2000" b="1">
                <a:solidFill>
                  <a:srgbClr val="004357"/>
                </a:solidFill>
              </a:rPr>
              <a:t>Δ</a:t>
            </a:r>
            <a:r>
              <a:rPr sz="2000" b="1" baseline="-25000">
                <a:solidFill>
                  <a:srgbClr val="004357"/>
                </a:solidFill>
              </a:rPr>
              <a:t>k</a:t>
            </a:r>
            <a:r>
              <a:rPr sz="2000" b="1">
                <a:solidFill>
                  <a:srgbClr val="004357"/>
                </a:solidFill>
              </a:rPr>
              <a:t> = ( t</a:t>
            </a:r>
            <a:r>
              <a:rPr sz="2000" b="1" baseline="-25000">
                <a:solidFill>
                  <a:srgbClr val="004357"/>
                </a:solidFill>
              </a:rPr>
              <a:t>k</a:t>
            </a:r>
            <a:r>
              <a:rPr sz="2000" b="1">
                <a:solidFill>
                  <a:srgbClr val="004357"/>
                </a:solidFill>
              </a:rPr>
              <a:t> − t</a:t>
            </a:r>
            <a:r>
              <a:rPr sz="2000" b="1" baseline="-25000">
                <a:solidFill>
                  <a:srgbClr val="004357"/>
                </a:solidFill>
              </a:rPr>
              <a:t>k−1</a:t>
            </a:r>
            <a:r>
              <a:rPr sz="2000" b="1">
                <a:solidFill>
                  <a:srgbClr val="004357"/>
                </a:solidFill>
              </a:rPr>
              <a:t> ) − T</a:t>
            </a:r>
            <a:r>
              <a:rPr sz="2000" b="1" baseline="-25000">
                <a:solidFill>
                  <a:srgbClr val="004357"/>
                </a:solidFill>
              </a:rPr>
              <a:t>s</a:t>
            </a:r>
            <a:r>
              <a:rPr sz="2000">
                <a:solidFill>
                  <a:srgbClr val="004357"/>
                </a:solidFill>
              </a:rPr>
              <a:t>.</a:t>
            </a:r>
          </a:p>
          <a:p>
            <a:r>
              <a:rPr sz="2000">
                <a:solidFill>
                  <a:srgbClr val="004357"/>
                </a:solidFill>
              </a:rPr>
              <a:t>The choice of T</a:t>
            </a:r>
            <a:r>
              <a:rPr sz="2000" baseline="-25000">
                <a:solidFill>
                  <a:srgbClr val="004357"/>
                </a:solidFill>
              </a:rPr>
              <a:t>s</a:t>
            </a:r>
            <a:r>
              <a:rPr sz="2000">
                <a:solidFill>
                  <a:srgbClr val="004357"/>
                </a:solidFill>
              </a:rPr>
              <a:t> is bounded from both sides. From above it must be small compared with the shortest dynamic present in the record, which is the delay L of the sensor nearest the heater and not the time constant. From below, a period so short that consecutive samples differ by less than the noise adds data without adding information, and makes the processing heavier.</a:t>
            </a:r>
          </a:p>
          <a:p>
            <a:r>
              <a:rPr sz="2000">
                <a:solidFill>
                  <a:srgbClr val="004357"/>
                </a:solidFill>
              </a:rPr>
              <a:t>The report states the value of T</a:t>
            </a:r>
            <a:r>
              <a:rPr sz="2000" baseline="-25000">
                <a:solidFill>
                  <a:srgbClr val="004357"/>
                </a:solidFill>
              </a:rPr>
              <a:t>s</a:t>
            </a:r>
            <a:r>
              <a:rPr sz="2000">
                <a:solidFill>
                  <a:srgbClr val="004357"/>
                </a:solidFill>
              </a:rPr>
              <a:t>, which of the two bounds was the tighter one, and how many samples were collected.</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52}" type="slidenum">
              <a:rPr sz="1200">
                <a:solidFill>
                  <a:srgbClr val="8A9397"/>
                </a:solidFill>
              </a:rPr>
              <a:t>52</a:t>
            </a:fld>
            <a:endParaRPr sz="1200">
              <a:solidFill>
                <a:srgbClr val="8A9397"/>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Legend – the object</a:t>
            </a:r>
          </a:p>
        </p:txBody>
      </p:sp>
      <p:sp>
        <p:nvSpPr>
          <p:cNvPr id="3" name="Content Placeholder 2"/>
          <p:cNvSpPr>
            <a:spLocks noGrp="1"/>
          </p:cNvSpPr>
          <p:nvPr>
            <p:ph idx="1"/>
          </p:nvPr>
        </p:nvSpPr>
        <p:spPr>
          <a:xfrm>
            <a:off x="809427" y="1452520"/>
            <a:ext cx="10926000" cy="4966560"/>
          </a:xfrm>
        </p:spPr>
        <p:txBody>
          <a:bodyPr wrap="square">
            <a:noAutofit/>
          </a:bodyPr>
          <a:lstStyle/>
          <a:p>
            <a:pPr lvl="1"/>
            <a:r>
              <a:rPr sz="1800" b="1">
                <a:solidFill>
                  <a:srgbClr val="004357"/>
                </a:solidFill>
              </a:rPr>
              <a:t>C</a:t>
            </a:r>
            <a:r>
              <a:rPr sz="1800">
                <a:solidFill>
                  <a:srgbClr val="004357"/>
                </a:solidFill>
              </a:rPr>
              <a:t> – heat capacity of the profile, J/K. The heat required to raise its temperature by one kelvin.</a:t>
            </a:r>
          </a:p>
          <a:p>
            <a:pPr lvl="1"/>
            <a:r>
              <a:rPr sz="1800" b="1">
                <a:solidFill>
                  <a:srgbClr val="004357"/>
                </a:solidFill>
              </a:rPr>
              <a:t>A</a:t>
            </a:r>
            <a:r>
              <a:rPr sz="1800">
                <a:solidFill>
                  <a:srgbClr val="004357"/>
                </a:solidFill>
              </a:rPr>
              <a:t> – heat exchange area, m². The surface over which the profile exchanges heat with its surroundings.</a:t>
            </a:r>
          </a:p>
          <a:p>
            <a:pPr lvl="1"/>
            <a:r>
              <a:rPr sz="1800" b="1">
                <a:solidFill>
                  <a:srgbClr val="004357"/>
                </a:solidFill>
              </a:rPr>
              <a:t>h</a:t>
            </a:r>
            <a:r>
              <a:rPr sz="1800">
                <a:solidFill>
                  <a:srgbClr val="004357"/>
                </a:solidFill>
              </a:rPr>
              <a:t> – heat transfer coefficient, W/(m²K). How strongly the profile exchanges heat with the air and by radiation; it depends on the mounting, on the movement of the air and on the surroundings.</a:t>
            </a:r>
          </a:p>
          <a:p>
            <a:pPr lvl="1"/>
            <a:r>
              <a:rPr sz="1800" b="1">
                <a:solidFill>
                  <a:srgbClr val="004357"/>
                </a:solidFill>
              </a:rPr>
              <a:t>UA</a:t>
            </a:r>
            <a:r>
              <a:rPr sz="1800">
                <a:solidFill>
                  <a:srgbClr val="004357"/>
                </a:solidFill>
              </a:rPr>
              <a:t> – loss coefficient of lecture 3, W/K, equal to h·A.</a:t>
            </a:r>
          </a:p>
          <a:p>
            <a:pPr lvl="1"/>
            <a:r>
              <a:rPr sz="1800" b="1">
                <a:solidFill>
                  <a:srgbClr val="004357"/>
                </a:solidFill>
              </a:rPr>
              <a:t>P</a:t>
            </a:r>
            <a:r>
              <a:rPr sz="1800">
                <a:solidFill>
                  <a:srgbClr val="004357"/>
                </a:solidFill>
              </a:rPr>
              <a:t> – power entering the profile, W. Not necessarily equal to the electrical power supplied to the heater.</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53}" type="slidenum">
              <a:rPr sz="1200">
                <a:solidFill>
                  <a:srgbClr val="8A9397"/>
                </a:solidFill>
              </a:rPr>
              <a:t>53</a:t>
            </a:fld>
            <a:endParaRPr sz="1200">
              <a:solidFill>
                <a:srgbClr val="8A9397"/>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Legend – the model</a:t>
            </a:r>
          </a:p>
        </p:txBody>
      </p:sp>
      <p:sp>
        <p:nvSpPr>
          <p:cNvPr id="3" name="Content Placeholder 2"/>
          <p:cNvSpPr>
            <a:spLocks noGrp="1"/>
          </p:cNvSpPr>
          <p:nvPr>
            <p:ph idx="1"/>
          </p:nvPr>
        </p:nvSpPr>
        <p:spPr>
          <a:xfrm>
            <a:off x="809427" y="1452520"/>
            <a:ext cx="10926000" cy="4966560"/>
          </a:xfrm>
        </p:spPr>
        <p:txBody>
          <a:bodyPr wrap="square">
            <a:noAutofit/>
          </a:bodyPr>
          <a:lstStyle/>
          <a:p>
            <a:pPr lvl="1"/>
            <a:r>
              <a:rPr sz="1800" b="1">
                <a:solidFill>
                  <a:srgbClr val="004357"/>
                </a:solidFill>
              </a:rPr>
              <a:t>ΔT</a:t>
            </a:r>
            <a:r>
              <a:rPr sz="1800">
                <a:solidFill>
                  <a:srgbClr val="004357"/>
                </a:solidFill>
              </a:rPr>
              <a:t> – steady-state rise, K. The difference between the steady-state temperature and the ambient temperature.</a:t>
            </a:r>
          </a:p>
          <a:p>
            <a:pPr lvl="1"/>
            <a:r>
              <a:rPr sz="1800" b="1">
                <a:solidFill>
                  <a:srgbClr val="004357"/>
                </a:solidFill>
              </a:rPr>
              <a:t>K</a:t>
            </a:r>
            <a:r>
              <a:rPr sz="1800" b="1" baseline="-25000">
                <a:solidFill>
                  <a:srgbClr val="004357"/>
                </a:solidFill>
              </a:rPr>
              <a:t>P</a:t>
            </a:r>
            <a:r>
              <a:rPr sz="1800">
                <a:solidFill>
                  <a:srgbClr val="004357"/>
                </a:solidFill>
              </a:rPr>
              <a:t> – static gain of the thermal object, K/W, equal to ΔT / P.</a:t>
            </a:r>
          </a:p>
          <a:p>
            <a:pPr lvl="1"/>
            <a:r>
              <a:rPr sz="1800" b="1">
                <a:solidFill>
                  <a:srgbClr val="004357"/>
                </a:solidFill>
              </a:rPr>
              <a:t>T</a:t>
            </a:r>
            <a:r>
              <a:rPr sz="1800" b="1" baseline="-25000">
                <a:solidFill>
                  <a:srgbClr val="004357"/>
                </a:solidFill>
              </a:rPr>
              <a:t>P</a:t>
            </a:r>
            <a:r>
              <a:rPr sz="1800">
                <a:solidFill>
                  <a:srgbClr val="004357"/>
                </a:solidFill>
              </a:rPr>
              <a:t> – time constant, s. It states how quickly the temperature approaches its steady-state value.</a:t>
            </a:r>
          </a:p>
          <a:p>
            <a:pPr lvl="1"/>
            <a:r>
              <a:rPr sz="1800" b="1">
                <a:solidFill>
                  <a:srgbClr val="004357"/>
                </a:solidFill>
              </a:rPr>
              <a:t>L</a:t>
            </a:r>
            <a:r>
              <a:rPr sz="1800">
                <a:solidFill>
                  <a:srgbClr val="004357"/>
                </a:solidFill>
              </a:rPr>
              <a:t> – delay, s. The time between the step applied to the heater and the first response of the sensor.</a:t>
            </a:r>
          </a:p>
          <a:p>
            <a:pPr lvl="1"/>
            <a:r>
              <a:rPr sz="1800" b="1">
                <a:solidFill>
                  <a:srgbClr val="004357"/>
                </a:solidFill>
              </a:rPr>
              <a:t>FOPDT</a:t>
            </a:r>
            <a:r>
              <a:rPr sz="1800">
                <a:solidFill>
                  <a:srgbClr val="004357"/>
                </a:solidFill>
              </a:rPr>
              <a:t> – first-order model with delay: a first-order system described by the gain K</a:t>
            </a:r>
            <a:r>
              <a:rPr sz="1800" baseline="-25000">
                <a:solidFill>
                  <a:srgbClr val="004357"/>
                </a:solidFill>
              </a:rPr>
              <a:t>P</a:t>
            </a:r>
            <a:r>
              <a:rPr sz="1800">
                <a:solidFill>
                  <a:srgbClr val="004357"/>
                </a:solidFill>
              </a:rPr>
              <a:t>, the time constant T</a:t>
            </a:r>
            <a:r>
              <a:rPr sz="1800" baseline="-25000">
                <a:solidFill>
                  <a:srgbClr val="004357"/>
                </a:solidFill>
              </a:rPr>
              <a:t>P</a:t>
            </a:r>
            <a:r>
              <a:rPr sz="1800">
                <a:solidFill>
                  <a:srgbClr val="004357"/>
                </a:solidFill>
              </a:rPr>
              <a:t> and the delay L.</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54}" type="slidenum">
              <a:rPr sz="1200">
                <a:solidFill>
                  <a:srgbClr val="8A9397"/>
                </a:solidFill>
              </a:rPr>
              <a:t>54</a:t>
            </a:fld>
            <a:endParaRPr sz="1200">
              <a:solidFill>
                <a:srgbClr val="8A9397"/>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a:solidFill>
                  <a:srgbClr val="004357"/>
                </a:solidFill>
              </a:rPr>
              <a:t>Legend – measurement and software</a:t>
            </a:r>
          </a:p>
        </p:txBody>
      </p:sp>
      <p:sp>
        <p:nvSpPr>
          <p:cNvPr id="3" name="Content Placeholder 2"/>
          <p:cNvSpPr>
            <a:spLocks noGrp="1"/>
          </p:cNvSpPr>
          <p:nvPr>
            <p:ph idx="1"/>
          </p:nvPr>
        </p:nvSpPr>
        <p:spPr>
          <a:xfrm>
            <a:off x="809427" y="1452520"/>
            <a:ext cx="10926000" cy="4966560"/>
          </a:xfrm>
        </p:spPr>
        <p:txBody>
          <a:bodyPr wrap="square">
            <a:noAutofit/>
          </a:bodyPr>
          <a:lstStyle/>
          <a:p>
            <a:pPr lvl="1"/>
            <a:r>
              <a:rPr sz="1800" b="1">
                <a:solidFill>
                  <a:srgbClr val="004357"/>
                </a:solidFill>
              </a:rPr>
              <a:t>NTC</a:t>
            </a:r>
            <a:r>
              <a:rPr sz="1800">
                <a:solidFill>
                  <a:srgbClr val="004357"/>
                </a:solidFill>
              </a:rPr>
              <a:t> – thermistor with a negative temperature coefficient: its resistance falls as the temperature rises.</a:t>
            </a:r>
          </a:p>
          <a:p>
            <a:pPr lvl="1"/>
            <a:r>
              <a:rPr sz="1800" b="1">
                <a:solidFill>
                  <a:srgbClr val="004357"/>
                </a:solidFill>
              </a:rPr>
              <a:t>resolution</a:t>
            </a:r>
            <a:r>
              <a:rPr sz="1800">
                <a:solidFill>
                  <a:srgbClr val="004357"/>
                </a:solidFill>
              </a:rPr>
              <a:t> – the smallest change of temperature that changes the recorded number.</a:t>
            </a:r>
          </a:p>
          <a:p>
            <a:pPr lvl="1"/>
            <a:r>
              <a:rPr sz="1800" b="1">
                <a:solidFill>
                  <a:srgbClr val="004357"/>
                </a:solidFill>
              </a:rPr>
              <a:t>accuracy</a:t>
            </a:r>
            <a:r>
              <a:rPr sz="1800">
                <a:solidFill>
                  <a:srgbClr val="004357"/>
                </a:solidFill>
              </a:rPr>
              <a:t> – how far a reading may lie from the true temperature.</a:t>
            </a:r>
          </a:p>
          <a:p>
            <a:pPr lvl="1"/>
            <a:r>
              <a:rPr sz="1800" b="1">
                <a:solidFill>
                  <a:srgbClr val="004357"/>
                </a:solidFill>
              </a:rPr>
              <a:t>noise</a:t>
            </a:r>
            <a:r>
              <a:rPr sz="1800">
                <a:solidFill>
                  <a:srgbClr val="004357"/>
                </a:solidFill>
              </a:rPr>
              <a:t> – the spread of the readings while the conditions do not change.</a:t>
            </a:r>
          </a:p>
          <a:p>
            <a:pPr lvl="1"/>
            <a:r>
              <a:rPr sz="1800" b="1">
                <a:solidFill>
                  <a:srgbClr val="004357"/>
                </a:solidFill>
              </a:rPr>
              <a:t>relative calibration</a:t>
            </a:r>
            <a:r>
              <a:rPr sz="1800">
                <a:solidFill>
                  <a:srgbClr val="004357"/>
                </a:solidFill>
              </a:rPr>
              <a:t> – calibration that brings the channels into agreement with one another, not with an absolute standard.</a:t>
            </a:r>
          </a:p>
          <a:p>
            <a:pPr lvl="1"/>
            <a:r>
              <a:rPr sz="1800" b="1">
                <a:solidFill>
                  <a:srgbClr val="004357"/>
                </a:solidFill>
              </a:rPr>
              <a:t>T</a:t>
            </a:r>
            <a:r>
              <a:rPr sz="1800" b="1" baseline="-25000">
                <a:solidFill>
                  <a:srgbClr val="004357"/>
                </a:solidFill>
              </a:rPr>
              <a:t>s</a:t>
            </a:r>
            <a:r>
              <a:rPr sz="1800">
                <a:solidFill>
                  <a:srgbClr val="004357"/>
                </a:solidFill>
              </a:rPr>
              <a:t> – sampling period, the nominal interval between two samples.</a:t>
            </a:r>
          </a:p>
          <a:p>
            <a:pPr lvl="1"/>
            <a:r>
              <a:rPr sz="1800" b="1">
                <a:solidFill>
                  <a:srgbClr val="004357"/>
                </a:solidFill>
              </a:rPr>
              <a:t>Δ</a:t>
            </a:r>
            <a:r>
              <a:rPr sz="1800" b="1" baseline="-25000">
                <a:solidFill>
                  <a:srgbClr val="004357"/>
                </a:solidFill>
              </a:rPr>
              <a:t>k</a:t>
            </a:r>
            <a:r>
              <a:rPr sz="1800">
                <a:solidFill>
                  <a:srgbClr val="004357"/>
                </a:solidFill>
              </a:rPr>
              <a:t> – period error of cycle k, that is the departure of the realised interval from T</a:t>
            </a:r>
            <a:r>
              <a:rPr sz="1800" baseline="-25000">
                <a:solidFill>
                  <a:srgbClr val="004357"/>
                </a:solidFill>
              </a:rPr>
              <a:t>s</a:t>
            </a:r>
            <a:r>
              <a:rPr sz="1800">
                <a:solidFill>
                  <a:srgbClr val="004357"/>
                </a:solidFill>
              </a:rPr>
              <a:t>.</a:t>
            </a:r>
          </a:p>
          <a:p>
            <a:pPr lvl="1"/>
            <a:r>
              <a:rPr sz="1800" b="1">
                <a:solidFill>
                  <a:srgbClr val="004357"/>
                </a:solidFill>
              </a:rPr>
              <a:t>averaging</a:t>
            </a:r>
            <a:r>
              <a:rPr sz="1800">
                <a:solidFill>
                  <a:srgbClr val="004357"/>
                </a:solidFill>
              </a:rPr>
              <a:t> – reduction of the noise within a single sample, by taking several raw readings.</a:t>
            </a:r>
          </a:p>
          <a:p>
            <a:pPr lvl="1"/>
            <a:r>
              <a:rPr sz="1800" b="1">
                <a:solidFill>
                  <a:srgbClr val="004357"/>
                </a:solidFill>
              </a:rPr>
              <a:t>filtering</a:t>
            </a:r>
            <a:r>
              <a:rPr sz="1800">
                <a:solidFill>
                  <a:srgbClr val="004357"/>
                </a:solidFill>
              </a:rPr>
              <a:t> – a change of the shape of the record; carried out inside the program it cannot be undone.</a:t>
            </a:r>
          </a:p>
        </p:txBody>
      </p:sp>
      <p:sp>
        <p:nvSpPr>
          <p:cNvPr id="4" name="stopkaTekst"/>
          <p:cNvSpPr txBox="1"/>
          <p:nvPr/>
        </p:nvSpPr>
        <p:spPr>
          <a:xfrm>
            <a:off x="812800" y="6451600"/>
            <a:ext cx="5080000" cy="254000"/>
          </a:xfrm>
          <a:prstGeom prst="rect">
            <a:avLst/>
          </a:prstGeom>
          <a:noFill/>
        </p:spPr>
        <p:txBody>
          <a:bodyPr wrap="none">
            <a:noAutofit/>
          </a:bodyPr>
          <a:lstStyle/>
          <a:p>
            <a:r>
              <a:rPr sz="1200">
                <a:solidFill>
                  <a:srgbClr val="8A9397"/>
                </a:solidFill>
              </a:rPr>
              <a:t>ADA512, Autumn 2026</a:t>
            </a:r>
          </a:p>
        </p:txBody>
      </p:sp>
      <p:sp>
        <p:nvSpPr>
          <p:cNvPr id="5" name="stopkaNumer"/>
          <p:cNvSpPr txBox="1"/>
          <p:nvPr/>
        </p:nvSpPr>
        <p:spPr>
          <a:xfrm>
            <a:off x="10464800" y="6451600"/>
            <a:ext cx="1270000" cy="254000"/>
          </a:xfrm>
          <a:prstGeom prst="rect">
            <a:avLst/>
          </a:prstGeom>
          <a:noFill/>
        </p:spPr>
        <p:txBody>
          <a:bodyPr wrap="none">
            <a:noAutofit/>
          </a:bodyPr>
          <a:lstStyle/>
          <a:p>
            <a:pPr algn="r"/>
            <a:fld id="{B4D2C1A0-1111-4A2B-9C3D-000000000055}" type="slidenum">
              <a:rPr sz="1200">
                <a:solidFill>
                  <a:srgbClr val="8A9397"/>
                </a:solidFill>
              </a:rPr>
              <a:t>55</a:t>
            </a:fld>
            <a:endParaRPr sz="1200">
              <a:solidFill>
                <a:srgbClr val="8A9397"/>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1800">
                <a:solidFill>
                  <a:srgbClr val="FFFFFF"/>
                </a:solidFill>
              </a:rPr>
              <a:t>ADA512, Autumn 2026, marcin.fojcik@hvl.no</a:t>
            </a:r>
          </a:p>
        </p:txBody>
      </p:sp>
    </p:spTree>
  </p:cSld>
  <p:clrMapOvr>
    <a:masterClrMapping/>
  </p:clrMapOvr>
</p:sld>
</file>

<file path=ppt/theme/theme1.xml><?xml version="1.0" encoding="utf-8"?>
<a:theme xmlns:a="http://schemas.openxmlformats.org/drawingml/2006/main" name="HVL">
  <a:themeElements>
    <a:clrScheme name="HVL">
      <a:dk1>
        <a:srgbClr val="515151"/>
      </a:dk1>
      <a:lt1>
        <a:srgbClr val="FFFFFF"/>
      </a:lt1>
      <a:dk2>
        <a:srgbClr val="004357"/>
      </a:dk2>
      <a:lt2>
        <a:srgbClr val="C9D5DA"/>
      </a:lt2>
      <a:accent1>
        <a:srgbClr val="00AFBA"/>
      </a:accent1>
      <a:accent2>
        <a:srgbClr val="97DF9A"/>
      </a:accent2>
      <a:accent3>
        <a:srgbClr val="EB6852"/>
      </a:accent3>
      <a:accent4>
        <a:srgbClr val="F9DE45"/>
      </a:accent4>
      <a:accent5>
        <a:srgbClr val="64D0DF"/>
      </a:accent5>
      <a:accent6>
        <a:srgbClr val="6D2439"/>
      </a:accent6>
      <a:hlink>
        <a:srgbClr val="008AAF"/>
      </a:hlink>
      <a:folHlink>
        <a:srgbClr val="00948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VL_ppt_mal_oppdatert" id="{34A3C5B7-7DCF-A541-AE3D-AB30F07D0F84}" vid="{252C16CA-3E9D-B540-84BD-D5E99CBB698B}"/>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2F875B98D31D904D9B0C1B5D8C6AF82F" ma:contentTypeVersion="7" ma:contentTypeDescription="Opprett et nytt dokument." ma:contentTypeScope="" ma:versionID="fadcaf5ed3cf4a9b20741d6d52f68870">
  <xsd:schema xmlns:xsd="http://www.w3.org/2001/XMLSchema" xmlns:xs="http://www.w3.org/2001/XMLSchema" xmlns:p="http://schemas.microsoft.com/office/2006/metadata/properties" xmlns:ns2="31991a1b-970b-4a82-a9b7-9caa2340e2f9" xmlns:ns3="779b8866-93c4-443d-a609-7aa75be47aa3" targetNamespace="http://schemas.microsoft.com/office/2006/metadata/properties" ma:root="true" ma:fieldsID="28287ac02b74c778c6ea93b21b0ba334" ns2:_="" ns3:_="">
    <xsd:import namespace="31991a1b-970b-4a82-a9b7-9caa2340e2f9"/>
    <xsd:import namespace="779b8866-93c4-443d-a609-7aa75be47aa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991a1b-970b-4a82-a9b7-9caa2340e2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79b8866-93c4-443d-a609-7aa75be47aa3" elementFormDefault="qualified">
    <xsd:import namespace="http://schemas.microsoft.com/office/2006/documentManagement/types"/>
    <xsd:import namespace="http://schemas.microsoft.com/office/infopath/2007/PartnerControls"/>
    <xsd:element name="SharedWithUsers" ma:index="13"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Delingsdetaljer"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356149F-0FB4-4F5D-AFBA-3110766157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991a1b-970b-4a82-a9b7-9caa2340e2f9"/>
    <ds:schemaRef ds:uri="779b8866-93c4-443d-a609-7aa75be47aa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E36DA8-F4FF-4973-A6D5-7D8D4C4C38EA}">
  <ds:schemaRefs>
    <ds:schemaRef ds:uri="http://schemas.microsoft.com/sharepoint/v3/contenttype/forms"/>
  </ds:schemaRefs>
</ds:datastoreItem>
</file>

<file path=customXml/itemProps3.xml><?xml version="1.0" encoding="utf-8"?>
<ds:datastoreItem xmlns:ds="http://schemas.openxmlformats.org/officeDocument/2006/customXml" ds:itemID="{EC9D856A-556C-49F6-BF01-59A2B4FA7FA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51853</TotalTime>
  <Words>7003</Words>
  <Application>Microsoft Office PowerPoint</Application>
  <PresentationFormat>Widescreen</PresentationFormat>
  <Paragraphs>558</Paragraphs>
  <Slides>56</Slides>
  <Notes>0</Notes>
  <HiddenSlides>0</HiddenSlides>
  <MMClips>0</MMClips>
  <ScaleCrop>false</ScaleCrop>
  <HeadingPairs>
    <vt:vector size="6" baseType="variant">
      <vt:variant>
        <vt:lpstr>Brukte skrifter</vt:lpstr>
      </vt:variant>
      <vt:variant>
        <vt:i4>4</vt:i4>
      </vt:variant>
      <vt:variant>
        <vt:lpstr>Tema</vt:lpstr>
      </vt:variant>
      <vt:variant>
        <vt:i4>1</vt:i4>
      </vt:variant>
      <vt:variant>
        <vt:lpstr>Lysbildetitler</vt:lpstr>
      </vt:variant>
      <vt:variant>
        <vt:i4>56</vt:i4>
      </vt:variant>
    </vt:vector>
  </HeadingPairs>
  <TitlesOfParts>
    <vt:vector size="61" baseType="lpstr">
      <vt:lpstr>.AppleSystemUIFont</vt:lpstr>
      <vt:lpstr>Arial</vt:lpstr>
      <vt:lpstr>Calibri</vt:lpstr>
      <vt:lpstr>Georgia</vt:lpstr>
      <vt:lpstr>HVL</vt:lpstr>
      <vt:lpstr>ADA512 Cyber-physical systems &amp; IoT</vt:lpstr>
      <vt:lpstr>Learning outcome</vt:lpstr>
      <vt:lpstr>Aim</vt:lpstr>
      <vt:lpstr>Equipment</vt:lpstr>
      <vt:lpstr>Safety</vt:lpstr>
      <vt:lpstr>The station – data given</vt:lpstr>
      <vt:lpstr>The station – construction</vt:lpstr>
      <vt:lpstr>The control board – terminals</vt:lpstr>
      <vt:lpstr>Documentation</vt:lpstr>
      <vt:lpstr>Documentation – lectures</vt:lpstr>
      <vt:lpstr>Two kinds of number in the model – measured and assumed</vt:lpstr>
      <vt:lpstr>Which coefficients may be computed from data</vt:lpstr>
      <vt:lpstr>A model that omitted friction</vt:lpstr>
      <vt:lpstr>How far a first model can miss</vt:lpstr>
      <vt:lpstr>How far a first model can miss – the loss coefficient</vt:lpstr>
      <vt:lpstr>What this model leaves out</vt:lpstr>
      <vt:lpstr>The work is a loop, not a line</vt:lpstr>
      <vt:lpstr>Order of work</vt:lpstr>
      <vt:lpstr>Task 1 – Commissioning</vt:lpstr>
      <vt:lpstr>Task 2 – Parameters derived from theory</vt:lpstr>
      <vt:lpstr>Task 2 – Heat capacity, the two decisions and the threshold</vt:lpstr>
      <vt:lpstr>Task 2 – The mass, the threshold and the outcome</vt:lpstr>
      <vt:lpstr>Task 3 – Program: acquisition and calibration</vt:lpstr>
      <vt:lpstr>Task 3 – The fixed-period loop and the clock</vt:lpstr>
      <vt:lpstr>Task 3 – Averaging and calibration conditions</vt:lpstr>
      <vt:lpstr>Task 3 – Questions and the calibration check</vt:lpstr>
      <vt:lpstr>Task 4 – Program: temperature and logging</vt:lpstr>
      <vt:lpstr>Task 4 – The log record</vt:lpstr>
      <vt:lpstr>Task 5 – Preliminary run and step response</vt:lpstr>
      <vt:lpstr>Task 5 – Steady state criterion</vt:lpstr>
      <vt:lpstr>Task 5 – The preliminary run</vt:lpstr>
      <vt:lpstr>Task 5 – What the preliminary run establishes</vt:lpstr>
      <vt:lpstr>Task 5 – The sampling period</vt:lpstr>
      <vt:lpstr>Task 6 – Data processing</vt:lpstr>
      <vt:lpstr>Task 6 – What the drawings must show</vt:lpstr>
      <vt:lpstr>Task 7 – Comparison, identification and verification</vt:lpstr>
      <vt:lpstr>Task 7 – Identifying the inconsistent coefficient</vt:lpstr>
      <vt:lpstr>Task 7 – Computing h and the power</vt:lpstr>
      <vt:lpstr>Task 7 – Why only two coefficients</vt:lpstr>
      <vt:lpstr>Task 7 – Verification</vt:lpstr>
      <vt:lpstr>Task 7 – What remains after identification</vt:lpstr>
      <vt:lpstr>The report</vt:lpstr>
      <vt:lpstr>Assessment</vt:lpstr>
      <vt:lpstr>Requirements on the answers</vt:lpstr>
      <vt:lpstr>Notes that may save time</vt:lpstr>
      <vt:lpstr>Summary – the thermal model</vt:lpstr>
      <vt:lpstr>Summary – measured and assumed coefficients</vt:lpstr>
      <vt:lpstr>Summary – the preliminary run</vt:lpstr>
      <vt:lpstr>Summary – reading KP, TP and L</vt:lpstr>
      <vt:lpstr>Summary – identification of h and the power</vt:lpstr>
      <vt:lpstr>Summary – the measuring chain</vt:lpstr>
      <vt:lpstr>Summary – the acquisition loop</vt:lpstr>
      <vt:lpstr>Legend – the object</vt:lpstr>
      <vt:lpstr>Legend – the model</vt:lpstr>
      <vt:lpstr>Legend – measurement and software</vt:lpstr>
      <vt:lpstr>ADA512, Autumn 2026, marcin.fojcik@hvl.no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Høgskulen på Vestlandet</dc:title>
  <dc:creator>Ingrid Hope Leirvåg</dc:creator>
  <cp:lastModifiedBy>Marcin Andrzej Fojcik</cp:lastModifiedBy>
  <cp:revision>491</cp:revision>
  <cp:lastPrinted>2019-01-07T14:12:39Z</cp:lastPrinted>
  <dcterms:modified xsi:type="dcterms:W3CDTF">2026-09-01T15:51:06Z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0x0101002F875B98D31D904D9B0C1B5D8C6AF82F</vt:lpwstr>
  </property>
</Properties>
</file>